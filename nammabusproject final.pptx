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327" r:id="rId3"/>
    <p:sldId id="258" r:id="rId4"/>
    <p:sldId id="257" r:id="rId5"/>
    <p:sldId id="291" r:id="rId6"/>
    <p:sldId id="259" r:id="rId7"/>
    <p:sldId id="262" r:id="rId8"/>
    <p:sldId id="263" r:id="rId9"/>
    <p:sldId id="276" r:id="rId10"/>
    <p:sldId id="261" r:id="rId11"/>
    <p:sldId id="260" r:id="rId12"/>
    <p:sldId id="317" r:id="rId13"/>
    <p:sldId id="278" r:id="rId14"/>
    <p:sldId id="279" r:id="rId15"/>
    <p:sldId id="280" r:id="rId16"/>
    <p:sldId id="311" r:id="rId17"/>
    <p:sldId id="316" r:id="rId18"/>
    <p:sldId id="281" r:id="rId19"/>
    <p:sldId id="293" r:id="rId20"/>
    <p:sldId id="312" r:id="rId21"/>
    <p:sldId id="264" r:id="rId22"/>
    <p:sldId id="328" r:id="rId23"/>
    <p:sldId id="275" r:id="rId24"/>
    <p:sldId id="295" r:id="rId25"/>
    <p:sldId id="313" r:id="rId26"/>
    <p:sldId id="314" r:id="rId27"/>
    <p:sldId id="288" r:id="rId28"/>
    <p:sldId id="289" r:id="rId29"/>
    <p:sldId id="300" r:id="rId30"/>
    <p:sldId id="301" r:id="rId31"/>
    <p:sldId id="303" r:id="rId32"/>
    <p:sldId id="319" r:id="rId33"/>
    <p:sldId id="320" r:id="rId34"/>
    <p:sldId id="325" r:id="rId35"/>
    <p:sldId id="285" r:id="rId36"/>
    <p:sldId id="323" r:id="rId37"/>
    <p:sldId id="324" r:id="rId38"/>
    <p:sldId id="283" r:id="rId39"/>
    <p:sldId id="284" r:id="rId40"/>
    <p:sldId id="286" r:id="rId41"/>
    <p:sldId id="273" r:id="rId42"/>
    <p:sldId id="315" r:id="rId43"/>
    <p:sldId id="274" r:id="rId4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5349" autoAdjust="0"/>
  </p:normalViewPr>
  <p:slideViewPr>
    <p:cSldViewPr showGuides="1">
      <p:cViewPr varScale="1">
        <p:scale>
          <a:sx n="74" d="100"/>
          <a:sy n="74" d="100"/>
        </p:scale>
        <p:origin x="72" y="163"/>
      </p:cViewPr>
      <p:guideLst>
        <p:guide orient="horz" pos="2880"/>
        <p:guide pos="21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198BD68-504C-4790-855C-E12325219ED0}" type="datetimeFigureOut">
              <a:rPr lang="en-IN" smtClean="0"/>
              <a:t>12-01-2026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217D58F-7940-436A-AE01-DDBA187A7767}" type="slidenum">
              <a:rPr lang="en-IN" smtClean="0"/>
              <a:t>‹#›</a:t>
            </a:fld>
            <a:endParaRPr lang="en-IN"/>
          </a:p>
        </p:txBody>
      </p:sp>
    </p:spTree>
    <p:extLst>
      <p:ext uri="{BB962C8B-B14F-4D97-AF65-F5344CB8AC3E}">
        <p14:creationId xmlns:p14="http://schemas.microsoft.com/office/powerpoint/2010/main" val="2697697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17D58F-7940-436A-AE01-DDBA187A7767}" type="slidenum">
              <a:rPr lang="en-IN" smtClean="0"/>
              <a:t>1</a:t>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54AA178-B9C6-4EAC-9A85-5D0BF7045E08}" type="slidenum">
              <a:rPr lang="en-IN" smtClean="0"/>
              <a:t>2</a:t>
            </a:fld>
            <a:endParaRPr lang="en-IN"/>
          </a:p>
        </p:txBody>
      </p:sp>
    </p:spTree>
    <p:extLst>
      <p:ext uri="{BB962C8B-B14F-4D97-AF65-F5344CB8AC3E}">
        <p14:creationId xmlns:p14="http://schemas.microsoft.com/office/powerpoint/2010/main" val="2418296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014854" y="1691462"/>
            <a:ext cx="7157084" cy="1534795"/>
          </a:xfrm>
          <a:prstGeom prst="rect">
            <a:avLst/>
          </a:prstGeom>
        </p:spPr>
        <p:txBody>
          <a:bodyPr wrap="square" lIns="0" tIns="0" rIns="0" bIns="0">
            <a:spAutoFit/>
          </a:bodyPr>
          <a:lstStyle>
            <a:lvl1pPr>
              <a:defRPr sz="4400" b="1" i="0">
                <a:solidFill>
                  <a:srgbClr val="00AFEF"/>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2080386" y="3772280"/>
            <a:ext cx="7217409" cy="848360"/>
          </a:xfrm>
          <a:prstGeom prst="rect">
            <a:avLst/>
          </a:prstGeom>
        </p:spPr>
        <p:txBody>
          <a:bodyPr wrap="square" lIns="0" tIns="0" rIns="0" bIns="0">
            <a:spAutoFit/>
          </a:bodyPr>
          <a:lstStyle>
            <a:lvl1pPr>
              <a:defRPr sz="2500" b="1"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410"/>
              </a:lnSpc>
            </a:pPr>
            <a:r>
              <a:rPr lang="en-US" spc="-10">
                <a:latin typeface="Times New Roman" panose="02020603050405020304"/>
                <a:cs typeface="Times New Roman" panose="02020603050405020304"/>
              </a:rPr>
              <a:t>AI-Powered Residual Food Distribution System </a:t>
            </a:r>
            <a:endParaRPr spc="-10" dirty="0">
              <a:latin typeface="Times New Roman" panose="02020603050405020304"/>
              <a:cs typeface="Times New Roman" panose="02020603050405020304"/>
            </a:endParaRP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2CC64F81-3CE5-4C91-A2DA-9A1688D1D33A}" type="datetime1">
              <a:rPr lang="en-US" spc="-10" smtClean="0"/>
              <a:t>1/12/2026</a:t>
            </a:fld>
            <a:endParaRPr spc="-1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EF"/>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sz="2500" b="1"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410"/>
              </a:lnSpc>
            </a:pPr>
            <a:r>
              <a:rPr lang="en-US" spc="-10">
                <a:latin typeface="Times New Roman" panose="02020603050405020304"/>
                <a:cs typeface="Times New Roman" panose="02020603050405020304"/>
              </a:rPr>
              <a:t>AI-Powered Residual Food Distribution System </a:t>
            </a:r>
            <a:endParaRPr spc="-10" dirty="0">
              <a:latin typeface="Times New Roman" panose="02020603050405020304"/>
              <a:cs typeface="Times New Roman" panose="02020603050405020304"/>
            </a:endParaRP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871C3125-E857-48EB-AEFF-5100B67AC72F}" type="datetime1">
              <a:rPr lang="en-US" spc="-10" smtClean="0"/>
              <a:t>1/12/2026</a:t>
            </a:fld>
            <a:endParaRPr spc="-1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EF"/>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410"/>
              </a:lnSpc>
            </a:pPr>
            <a:r>
              <a:rPr lang="en-US" spc="-10">
                <a:latin typeface="Times New Roman" panose="02020603050405020304"/>
                <a:cs typeface="Times New Roman" panose="02020603050405020304"/>
              </a:rPr>
              <a:t>AI-Powered Residual Food Distribution System </a:t>
            </a:r>
            <a:endParaRPr spc="-10" dirty="0">
              <a:latin typeface="Times New Roman" panose="02020603050405020304"/>
              <a:cs typeface="Times New Roman" panose="02020603050405020304"/>
            </a:endParaRPr>
          </a:p>
        </p:txBody>
      </p:sp>
      <p:sp>
        <p:nvSpPr>
          <p:cNvPr id="6" name="Holder 6"/>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2DE49529-4CCE-4728-83F4-355CC3826927}" type="datetime1">
              <a:rPr lang="en-US" spc="-10" smtClean="0"/>
              <a:t>1/12/2026</a:t>
            </a:fld>
            <a:endParaRPr spc="-10"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EF"/>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410"/>
              </a:lnSpc>
            </a:pPr>
            <a:r>
              <a:rPr lang="en-US" spc="-10">
                <a:latin typeface="Times New Roman" panose="02020603050405020304"/>
                <a:cs typeface="Times New Roman" panose="02020603050405020304"/>
              </a:rPr>
              <a:t>AI-Powered Residual Food Distribution System </a:t>
            </a:r>
            <a:endParaRPr spc="-10" dirty="0">
              <a:latin typeface="Times New Roman" panose="02020603050405020304"/>
              <a:cs typeface="Times New Roman" panose="02020603050405020304"/>
            </a:endParaRPr>
          </a:p>
        </p:txBody>
      </p:sp>
      <p:sp>
        <p:nvSpPr>
          <p:cNvPr id="4" name="Holder 4"/>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A0574E92-E118-4ED7-9E33-2F5744F20F8D}" type="datetime1">
              <a:rPr lang="en-US" spc="-10" smtClean="0"/>
              <a:t>1/12/2026</a:t>
            </a:fld>
            <a:endParaRPr spc="-10"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410"/>
              </a:lnSpc>
            </a:pPr>
            <a:r>
              <a:rPr lang="en-US" spc="-10">
                <a:latin typeface="Times New Roman" panose="02020603050405020304"/>
                <a:cs typeface="Times New Roman" panose="02020603050405020304"/>
              </a:rPr>
              <a:t>AI-Powered Residual Food Distribution System </a:t>
            </a:r>
            <a:endParaRPr spc="-10" dirty="0">
              <a:latin typeface="Times New Roman" panose="02020603050405020304"/>
              <a:cs typeface="Times New Roman" panose="02020603050405020304"/>
            </a:endParaRPr>
          </a:p>
        </p:txBody>
      </p:sp>
      <p:sp>
        <p:nvSpPr>
          <p:cNvPr id="3" name="Holder 3"/>
          <p:cNvSpPr>
            <a:spLocks noGrp="1"/>
          </p:cNvSpPr>
          <p:nvPr>
            <p:ph type="dt" sz="half" idx="6"/>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7F7ED9CA-4FD1-4730-AE5D-F2034D04E850}" type="datetime1">
              <a:rPr lang="en-US" spc="-10" smtClean="0"/>
              <a:t>1/12/2026</a:t>
            </a:fld>
            <a:endParaRPr spc="-10"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33190" y="-42926"/>
            <a:ext cx="3919220" cy="1067562"/>
          </a:xfrm>
          <a:prstGeom prst="rect">
            <a:avLst/>
          </a:prstGeom>
        </p:spPr>
        <p:txBody>
          <a:bodyPr wrap="square" lIns="0" tIns="0" rIns="0" bIns="0">
            <a:spAutoFit/>
          </a:bodyPr>
          <a:lstStyle>
            <a:lvl1pPr>
              <a:defRPr sz="4400" b="1" i="0">
                <a:solidFill>
                  <a:srgbClr val="00AFEF"/>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916939" y="1596643"/>
            <a:ext cx="9055100" cy="1548130"/>
          </a:xfrm>
          <a:prstGeom prst="rect">
            <a:avLst/>
          </a:prstGeom>
        </p:spPr>
        <p:txBody>
          <a:bodyPr wrap="square" lIns="0" tIns="0" rIns="0" bIns="0">
            <a:spAutoFit/>
          </a:bodyPr>
          <a:lstStyle>
            <a:lvl1pPr>
              <a:defRPr sz="2500" b="1"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5097271" y="6447704"/>
            <a:ext cx="2016759" cy="194945"/>
          </a:xfrm>
          <a:prstGeom prst="rect">
            <a:avLst/>
          </a:prstGeom>
        </p:spPr>
        <p:txBody>
          <a:bodyPr wrap="square" lIns="0" tIns="0" rIns="0" bIns="0">
            <a:spAutoFit/>
          </a:bodyPr>
          <a:lstStyle>
            <a:lvl1pPr>
              <a:defRPr sz="1200" b="0" i="0">
                <a:solidFill>
                  <a:srgbClr val="888888"/>
                </a:solidFill>
                <a:latin typeface="Calibri" panose="020F0502020204030204"/>
                <a:cs typeface="Calibri" panose="020F0502020204030204"/>
              </a:defRPr>
            </a:lvl1pPr>
          </a:lstStyle>
          <a:p>
            <a:pPr marL="12700">
              <a:lnSpc>
                <a:spcPts val="1410"/>
              </a:lnSpc>
            </a:pPr>
            <a:r>
              <a:rPr lang="en-US" spc="-10">
                <a:latin typeface="Times New Roman" panose="02020603050405020304"/>
                <a:cs typeface="Times New Roman" panose="02020603050405020304"/>
              </a:rPr>
              <a:t>AI-Powered Residual Food Distribution System </a:t>
            </a:r>
            <a:endParaRPr spc="-10" dirty="0">
              <a:latin typeface="Times New Roman" panose="02020603050405020304"/>
              <a:cs typeface="Times New Roman" panose="02020603050405020304"/>
            </a:endParaRPr>
          </a:p>
        </p:txBody>
      </p:sp>
      <p:sp>
        <p:nvSpPr>
          <p:cNvPr id="5" name="Holder 5"/>
          <p:cNvSpPr>
            <a:spLocks noGrp="1"/>
          </p:cNvSpPr>
          <p:nvPr>
            <p:ph type="dt" sz="half" idx="6"/>
          </p:nvPr>
        </p:nvSpPr>
        <p:spPr>
          <a:xfrm>
            <a:off x="916939" y="6464680"/>
            <a:ext cx="765175" cy="178434"/>
          </a:xfrm>
          <a:prstGeom prst="rect">
            <a:avLst/>
          </a:prstGeom>
        </p:spPr>
        <p:txBody>
          <a:bodyPr wrap="square" lIns="0" tIns="0" rIns="0" bIns="0">
            <a:spAutoFit/>
          </a:bodyPr>
          <a:lstStyle>
            <a:lvl1pPr>
              <a:defRPr sz="1200" b="0" i="0">
                <a:solidFill>
                  <a:srgbClr val="888888"/>
                </a:solidFill>
                <a:latin typeface="Calibri" panose="020F0502020204030204"/>
                <a:cs typeface="Calibri" panose="020F0502020204030204"/>
              </a:defRPr>
            </a:lvl1pPr>
          </a:lstStyle>
          <a:p>
            <a:pPr marL="12700">
              <a:lnSpc>
                <a:spcPts val="1240"/>
              </a:lnSpc>
            </a:pPr>
            <a:fld id="{97634EB2-16AE-42D9-A23E-5293535BF11C}" type="datetime1">
              <a:rPr lang="en-US" spc="-10" smtClean="0"/>
              <a:t>1/12/2026</a:t>
            </a:fld>
            <a:endParaRPr spc="-10" dirty="0"/>
          </a:p>
        </p:txBody>
      </p:sp>
      <p:sp>
        <p:nvSpPr>
          <p:cNvPr id="6" name="Holder 6"/>
          <p:cNvSpPr>
            <a:spLocks noGrp="1"/>
          </p:cNvSpPr>
          <p:nvPr>
            <p:ph type="sldNum" sz="quarter" idx="7"/>
          </p:nvPr>
        </p:nvSpPr>
        <p:spPr>
          <a:xfrm>
            <a:off x="11068811" y="6464680"/>
            <a:ext cx="244475" cy="178434"/>
          </a:xfrm>
          <a:prstGeom prst="rect">
            <a:avLst/>
          </a:prstGeom>
        </p:spPr>
        <p:txBody>
          <a:bodyPr wrap="square" lIns="0" tIns="0" rIns="0" bIns="0">
            <a:spAutoFit/>
          </a:bodyPr>
          <a:lstStyle>
            <a:lvl1pPr>
              <a:defRPr sz="1200" b="0" i="0">
                <a:solidFill>
                  <a:srgbClr val="888888"/>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6.xml.rels><?xml version="1.0" encoding="UTF-8" standalone="yes"?>
<Relationships xmlns="http://schemas.openxmlformats.org/package/2006/relationships"><Relationship Id="rId3" Type="http://schemas.openxmlformats.org/officeDocument/2006/relationships/hyperlink" Target="mailto:driver01@nammabus.com" TargetMode="Externa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doi.org/10.14445/22315381/IJETT-V70I9P219"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arxiv.org/abs/2501.10514"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namma_bus.pptx" TargetMode="External"/><Relationship Id="rId2" Type="http://schemas.openxmlformats.org/officeDocument/2006/relationships/hyperlink" Target="http://www.ijcms2015.co/vol-viii-issue-iv.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3" cstate="print"/>
          <a:stretch>
            <a:fillRect/>
          </a:stretch>
        </p:blipFill>
        <p:spPr>
          <a:xfrm>
            <a:off x="235216" y="372081"/>
            <a:ext cx="1866361" cy="989772"/>
          </a:xfrm>
          <a:prstGeom prst="rect">
            <a:avLst/>
          </a:prstGeom>
        </p:spPr>
      </p:pic>
      <p:sp>
        <p:nvSpPr>
          <p:cNvPr id="5" name="object 5"/>
          <p:cNvSpPr txBox="1"/>
          <p:nvPr/>
        </p:nvSpPr>
        <p:spPr>
          <a:xfrm>
            <a:off x="1981200" y="191135"/>
            <a:ext cx="8552815" cy="2682240"/>
          </a:xfrm>
          <a:prstGeom prst="rect">
            <a:avLst/>
          </a:prstGeom>
        </p:spPr>
        <p:txBody>
          <a:bodyPr vert="horz" wrap="square" lIns="0" tIns="12700" rIns="0" bIns="0" rtlCol="0">
            <a:noAutofit/>
          </a:bodyPr>
          <a:lstStyle/>
          <a:p>
            <a:pPr marL="361950" marR="976630" algn="ctr">
              <a:lnSpc>
                <a:spcPct val="100000"/>
              </a:lnSpc>
              <a:spcBef>
                <a:spcPts val="100"/>
              </a:spcBef>
            </a:pPr>
            <a:r>
              <a:rPr sz="2400" b="1" dirty="0">
                <a:solidFill>
                  <a:srgbClr val="6F2F9F"/>
                </a:solidFill>
                <a:latin typeface="Times New Roman" panose="02020603050405020304"/>
                <a:cs typeface="Times New Roman" panose="02020603050405020304"/>
              </a:rPr>
              <a:t>BALLARI</a:t>
            </a:r>
            <a:r>
              <a:rPr sz="2400" b="1" spc="-85" dirty="0">
                <a:solidFill>
                  <a:srgbClr val="6F2F9F"/>
                </a:solidFill>
                <a:latin typeface="Times New Roman" panose="02020603050405020304"/>
                <a:cs typeface="Times New Roman" panose="02020603050405020304"/>
              </a:rPr>
              <a:t> </a:t>
            </a:r>
            <a:r>
              <a:rPr sz="2400" b="1" dirty="0">
                <a:solidFill>
                  <a:srgbClr val="6F2F9F"/>
                </a:solidFill>
                <a:latin typeface="Times New Roman" panose="02020603050405020304"/>
                <a:cs typeface="Times New Roman" panose="02020603050405020304"/>
              </a:rPr>
              <a:t>INSTITUTE</a:t>
            </a:r>
            <a:r>
              <a:rPr sz="2400" b="1" spc="-35" dirty="0">
                <a:solidFill>
                  <a:srgbClr val="6F2F9F"/>
                </a:solidFill>
                <a:latin typeface="Times New Roman" panose="02020603050405020304"/>
                <a:cs typeface="Times New Roman" panose="02020603050405020304"/>
              </a:rPr>
              <a:t> </a:t>
            </a:r>
            <a:r>
              <a:rPr sz="2400" b="1" dirty="0">
                <a:solidFill>
                  <a:srgbClr val="6F2F9F"/>
                </a:solidFill>
                <a:latin typeface="Times New Roman" panose="02020603050405020304"/>
                <a:cs typeface="Times New Roman" panose="02020603050405020304"/>
              </a:rPr>
              <a:t>OF</a:t>
            </a:r>
            <a:r>
              <a:rPr sz="2400" b="1" spc="-150" dirty="0">
                <a:solidFill>
                  <a:srgbClr val="6F2F9F"/>
                </a:solidFill>
                <a:latin typeface="Times New Roman" panose="02020603050405020304"/>
                <a:cs typeface="Times New Roman" panose="02020603050405020304"/>
              </a:rPr>
              <a:t> </a:t>
            </a:r>
            <a:r>
              <a:rPr sz="2400" b="1" dirty="0">
                <a:solidFill>
                  <a:srgbClr val="6F2F9F"/>
                </a:solidFill>
                <a:latin typeface="Times New Roman" panose="02020603050405020304"/>
                <a:cs typeface="Times New Roman" panose="02020603050405020304"/>
              </a:rPr>
              <a:t>TECHNOLOGY</a:t>
            </a:r>
            <a:r>
              <a:rPr sz="2400" b="1" spc="-150" dirty="0">
                <a:solidFill>
                  <a:srgbClr val="6F2F9F"/>
                </a:solidFill>
                <a:latin typeface="Times New Roman" panose="02020603050405020304"/>
                <a:cs typeface="Times New Roman" panose="02020603050405020304"/>
              </a:rPr>
              <a:t> </a:t>
            </a:r>
            <a:r>
              <a:rPr sz="2400" b="1" spc="-50" dirty="0">
                <a:solidFill>
                  <a:srgbClr val="6F2F9F"/>
                </a:solidFill>
                <a:latin typeface="Times New Roman" panose="02020603050405020304"/>
                <a:cs typeface="Times New Roman" panose="02020603050405020304"/>
              </a:rPr>
              <a:t>&amp; </a:t>
            </a:r>
            <a:r>
              <a:rPr sz="2400" b="1" spc="-10" dirty="0">
                <a:solidFill>
                  <a:srgbClr val="6F2F9F"/>
                </a:solidFill>
                <a:latin typeface="Times New Roman" panose="02020603050405020304"/>
                <a:cs typeface="Times New Roman" panose="02020603050405020304"/>
              </a:rPr>
              <a:t>MANAGEMENT</a:t>
            </a:r>
            <a:endParaRPr lang="en-US" sz="2400" spc="-10" dirty="0">
              <a:latin typeface="Times New Roman" panose="02020603050405020304"/>
              <a:cs typeface="Times New Roman" panose="02020603050405020304"/>
            </a:endParaRPr>
          </a:p>
          <a:p>
            <a:pPr marL="361950" marR="976630" algn="ctr">
              <a:lnSpc>
                <a:spcPct val="100000"/>
              </a:lnSpc>
              <a:spcBef>
                <a:spcPts val="100"/>
              </a:spcBef>
            </a:pPr>
            <a:r>
              <a:rPr sz="1600" b="1" dirty="0">
                <a:solidFill>
                  <a:srgbClr val="6F2F9F"/>
                </a:solidFill>
                <a:latin typeface="Times New Roman" panose="02020603050405020304"/>
                <a:cs typeface="Times New Roman" panose="02020603050405020304"/>
              </a:rPr>
              <a:t>Autonomous</a:t>
            </a:r>
            <a:r>
              <a:rPr sz="1600" b="1" spc="-30" dirty="0">
                <a:solidFill>
                  <a:srgbClr val="6F2F9F"/>
                </a:solidFill>
                <a:latin typeface="Times New Roman" panose="02020603050405020304"/>
                <a:cs typeface="Times New Roman" panose="02020603050405020304"/>
              </a:rPr>
              <a:t> </a:t>
            </a:r>
            <a:r>
              <a:rPr sz="1600" b="1" dirty="0">
                <a:solidFill>
                  <a:srgbClr val="6F2F9F"/>
                </a:solidFill>
                <a:latin typeface="Times New Roman" panose="02020603050405020304"/>
                <a:cs typeface="Times New Roman" panose="02020603050405020304"/>
              </a:rPr>
              <a:t>Institute</a:t>
            </a:r>
            <a:r>
              <a:rPr sz="1600" b="1" spc="15" dirty="0">
                <a:solidFill>
                  <a:srgbClr val="6F2F9F"/>
                </a:solidFill>
                <a:latin typeface="Times New Roman" panose="02020603050405020304"/>
                <a:cs typeface="Times New Roman" panose="02020603050405020304"/>
              </a:rPr>
              <a:t> </a:t>
            </a:r>
            <a:r>
              <a:rPr sz="1600" b="1" spc="-10" dirty="0">
                <a:solidFill>
                  <a:srgbClr val="6F2F9F"/>
                </a:solidFill>
                <a:latin typeface="Times New Roman" panose="02020603050405020304"/>
                <a:cs typeface="Times New Roman" panose="02020603050405020304"/>
              </a:rPr>
              <a:t>under</a:t>
            </a:r>
            <a:r>
              <a:rPr sz="1600" b="1" spc="-80" dirty="0">
                <a:solidFill>
                  <a:srgbClr val="6F2F9F"/>
                </a:solidFill>
                <a:latin typeface="Times New Roman" panose="02020603050405020304"/>
                <a:cs typeface="Times New Roman" panose="02020603050405020304"/>
              </a:rPr>
              <a:t> </a:t>
            </a:r>
            <a:r>
              <a:rPr sz="1600" b="1" dirty="0">
                <a:solidFill>
                  <a:srgbClr val="6F2F9F"/>
                </a:solidFill>
                <a:latin typeface="Times New Roman" panose="02020603050405020304"/>
                <a:cs typeface="Times New Roman" panose="02020603050405020304"/>
              </a:rPr>
              <a:t>VTU,</a:t>
            </a:r>
            <a:r>
              <a:rPr sz="1600" b="1" spc="-35" dirty="0">
                <a:solidFill>
                  <a:srgbClr val="6F2F9F"/>
                </a:solidFill>
                <a:latin typeface="Times New Roman" panose="02020603050405020304"/>
                <a:cs typeface="Times New Roman" panose="02020603050405020304"/>
              </a:rPr>
              <a:t> </a:t>
            </a:r>
            <a:r>
              <a:rPr sz="1600" b="1" spc="-10" dirty="0">
                <a:solidFill>
                  <a:srgbClr val="6F2F9F"/>
                </a:solidFill>
                <a:latin typeface="Times New Roman" panose="02020603050405020304"/>
                <a:cs typeface="Times New Roman" panose="02020603050405020304"/>
              </a:rPr>
              <a:t>Ballari-</a:t>
            </a:r>
            <a:r>
              <a:rPr sz="1600" b="1" dirty="0">
                <a:solidFill>
                  <a:srgbClr val="6F2F9F"/>
                </a:solidFill>
                <a:latin typeface="Times New Roman" panose="02020603050405020304"/>
                <a:cs typeface="Times New Roman" panose="02020603050405020304"/>
              </a:rPr>
              <a:t>Hosapete</a:t>
            </a:r>
            <a:r>
              <a:rPr sz="1600" b="1" spc="10" dirty="0">
                <a:solidFill>
                  <a:srgbClr val="6F2F9F"/>
                </a:solidFill>
                <a:latin typeface="Times New Roman" panose="02020603050405020304"/>
                <a:cs typeface="Times New Roman" panose="02020603050405020304"/>
              </a:rPr>
              <a:t> </a:t>
            </a:r>
            <a:r>
              <a:rPr sz="1600" b="1" dirty="0">
                <a:solidFill>
                  <a:srgbClr val="6F2F9F"/>
                </a:solidFill>
                <a:latin typeface="Times New Roman" panose="02020603050405020304"/>
                <a:cs typeface="Times New Roman" panose="02020603050405020304"/>
              </a:rPr>
              <a:t>Road,</a:t>
            </a:r>
            <a:r>
              <a:rPr sz="1600" b="1" spc="-105" dirty="0">
                <a:solidFill>
                  <a:srgbClr val="6F2F9F"/>
                </a:solidFill>
                <a:latin typeface="Times New Roman" panose="02020603050405020304"/>
                <a:cs typeface="Times New Roman" panose="02020603050405020304"/>
              </a:rPr>
              <a:t> </a:t>
            </a:r>
            <a:r>
              <a:rPr sz="1600" b="1" spc="-20" dirty="0">
                <a:solidFill>
                  <a:srgbClr val="6F2F9F"/>
                </a:solidFill>
                <a:latin typeface="Times New Roman" panose="02020603050405020304"/>
                <a:cs typeface="Times New Roman" panose="02020603050405020304"/>
              </a:rPr>
              <a:t>Allipur,</a:t>
            </a:r>
            <a:r>
              <a:rPr sz="1600" b="1" spc="-5" dirty="0">
                <a:solidFill>
                  <a:srgbClr val="6F2F9F"/>
                </a:solidFill>
                <a:latin typeface="Times New Roman" panose="02020603050405020304"/>
                <a:cs typeface="Times New Roman" panose="02020603050405020304"/>
              </a:rPr>
              <a:t> </a:t>
            </a:r>
            <a:r>
              <a:rPr sz="1600" b="1" spc="-10" dirty="0">
                <a:solidFill>
                  <a:srgbClr val="6F2F9F"/>
                </a:solidFill>
                <a:latin typeface="Times New Roman" panose="02020603050405020304"/>
                <a:cs typeface="Times New Roman" panose="02020603050405020304"/>
              </a:rPr>
              <a:t>Ballari</a:t>
            </a:r>
            <a:r>
              <a:rPr sz="1600" b="1" dirty="0">
                <a:solidFill>
                  <a:srgbClr val="6F2F9F"/>
                </a:solidFill>
                <a:latin typeface="Times New Roman" panose="02020603050405020304"/>
                <a:cs typeface="Times New Roman" panose="02020603050405020304"/>
              </a:rPr>
              <a:t>583</a:t>
            </a:r>
            <a:r>
              <a:rPr sz="1600" b="1" spc="-25" dirty="0">
                <a:solidFill>
                  <a:srgbClr val="6F2F9F"/>
                </a:solidFill>
                <a:latin typeface="Times New Roman" panose="02020603050405020304"/>
                <a:cs typeface="Times New Roman" panose="02020603050405020304"/>
              </a:rPr>
              <a:t>104</a:t>
            </a:r>
            <a:endParaRPr sz="1600" dirty="0">
              <a:latin typeface="Times New Roman" panose="02020603050405020304"/>
              <a:cs typeface="Times New Roman" panose="02020603050405020304"/>
            </a:endParaRPr>
          </a:p>
          <a:p>
            <a:pPr algn="ctr">
              <a:lnSpc>
                <a:spcPct val="100000"/>
              </a:lnSpc>
              <a:spcBef>
                <a:spcPts val="50"/>
              </a:spcBef>
            </a:pPr>
            <a:r>
              <a:rPr sz="1600" b="1" dirty="0">
                <a:solidFill>
                  <a:srgbClr val="6F2F9F"/>
                </a:solidFill>
                <a:latin typeface="Times New Roman" panose="02020603050405020304"/>
                <a:cs typeface="Times New Roman" panose="02020603050405020304"/>
              </a:rPr>
              <a:t>Karnataka</a:t>
            </a:r>
            <a:r>
              <a:rPr sz="1600" b="1" spc="-75" dirty="0">
                <a:solidFill>
                  <a:srgbClr val="6F2F9F"/>
                </a:solidFill>
                <a:latin typeface="Times New Roman" panose="02020603050405020304"/>
                <a:cs typeface="Times New Roman" panose="02020603050405020304"/>
              </a:rPr>
              <a:t> </a:t>
            </a:r>
            <a:r>
              <a:rPr sz="1600" b="1" spc="-10" dirty="0">
                <a:solidFill>
                  <a:srgbClr val="6F2F9F"/>
                </a:solidFill>
                <a:latin typeface="Times New Roman" panose="02020603050405020304"/>
                <a:cs typeface="Times New Roman" panose="02020603050405020304"/>
              </a:rPr>
              <a:t>,India</a:t>
            </a:r>
            <a:endParaRPr sz="1600" dirty="0">
              <a:latin typeface="Times New Roman" panose="02020603050405020304"/>
              <a:cs typeface="Times New Roman" panose="02020603050405020304"/>
            </a:endParaRPr>
          </a:p>
          <a:p>
            <a:pPr algn="ctr">
              <a:lnSpc>
                <a:spcPct val="100000"/>
              </a:lnSpc>
              <a:spcBef>
                <a:spcPts val="1745"/>
              </a:spcBef>
            </a:pPr>
            <a:r>
              <a:rPr sz="2400" b="1" dirty="0">
                <a:solidFill>
                  <a:srgbClr val="6F2F9F"/>
                </a:solidFill>
                <a:latin typeface="Times New Roman" panose="02020603050405020304"/>
                <a:cs typeface="Times New Roman" panose="02020603050405020304"/>
              </a:rPr>
              <a:t>Department</a:t>
            </a:r>
            <a:r>
              <a:rPr sz="2400" b="1" spc="-30" dirty="0">
                <a:solidFill>
                  <a:srgbClr val="6F2F9F"/>
                </a:solidFill>
                <a:latin typeface="Times New Roman" panose="02020603050405020304"/>
                <a:cs typeface="Times New Roman" panose="02020603050405020304"/>
              </a:rPr>
              <a:t> </a:t>
            </a:r>
            <a:r>
              <a:rPr sz="2400" b="1" dirty="0">
                <a:solidFill>
                  <a:srgbClr val="6F2F9F"/>
                </a:solidFill>
                <a:latin typeface="Times New Roman" panose="02020603050405020304"/>
                <a:cs typeface="Times New Roman" panose="02020603050405020304"/>
              </a:rPr>
              <a:t>of</a:t>
            </a:r>
            <a:r>
              <a:rPr sz="2400" b="1" spc="-145" dirty="0">
                <a:solidFill>
                  <a:srgbClr val="6F2F9F"/>
                </a:solidFill>
                <a:latin typeface="Times New Roman" panose="02020603050405020304"/>
                <a:cs typeface="Times New Roman" panose="02020603050405020304"/>
              </a:rPr>
              <a:t> </a:t>
            </a:r>
            <a:r>
              <a:rPr sz="2400" b="1" dirty="0">
                <a:solidFill>
                  <a:srgbClr val="6F2F9F"/>
                </a:solidFill>
                <a:latin typeface="Times New Roman" panose="02020603050405020304"/>
                <a:cs typeface="Times New Roman" panose="02020603050405020304"/>
              </a:rPr>
              <a:t>Artificial</a:t>
            </a:r>
            <a:r>
              <a:rPr sz="2400" b="1" spc="-70" dirty="0">
                <a:solidFill>
                  <a:srgbClr val="6F2F9F"/>
                </a:solidFill>
                <a:latin typeface="Times New Roman" panose="02020603050405020304"/>
                <a:cs typeface="Times New Roman" panose="02020603050405020304"/>
              </a:rPr>
              <a:t> </a:t>
            </a:r>
            <a:r>
              <a:rPr sz="2400" b="1" dirty="0">
                <a:solidFill>
                  <a:srgbClr val="6F2F9F"/>
                </a:solidFill>
                <a:latin typeface="Times New Roman" panose="02020603050405020304"/>
                <a:cs typeface="Times New Roman" panose="02020603050405020304"/>
              </a:rPr>
              <a:t>Intelligence</a:t>
            </a:r>
            <a:r>
              <a:rPr sz="2400" b="1" spc="-60" dirty="0">
                <a:solidFill>
                  <a:srgbClr val="6F2F9F"/>
                </a:solidFill>
                <a:latin typeface="Times New Roman" panose="02020603050405020304"/>
                <a:cs typeface="Times New Roman" panose="02020603050405020304"/>
              </a:rPr>
              <a:t> </a:t>
            </a:r>
            <a:r>
              <a:rPr sz="2400" b="1" dirty="0">
                <a:solidFill>
                  <a:srgbClr val="6F2F9F"/>
                </a:solidFill>
                <a:latin typeface="Times New Roman" panose="02020603050405020304"/>
                <a:cs typeface="Times New Roman" panose="02020603050405020304"/>
              </a:rPr>
              <a:t>&amp;</a:t>
            </a:r>
            <a:r>
              <a:rPr sz="2400" b="1" spc="-25" dirty="0">
                <a:solidFill>
                  <a:srgbClr val="6F2F9F"/>
                </a:solidFill>
                <a:latin typeface="Times New Roman" panose="02020603050405020304"/>
                <a:cs typeface="Times New Roman" panose="02020603050405020304"/>
              </a:rPr>
              <a:t> </a:t>
            </a:r>
            <a:r>
              <a:rPr sz="2400" b="1" dirty="0">
                <a:solidFill>
                  <a:srgbClr val="6F2F9F"/>
                </a:solidFill>
                <a:latin typeface="Times New Roman" panose="02020603050405020304"/>
                <a:cs typeface="Times New Roman" panose="02020603050405020304"/>
              </a:rPr>
              <a:t>Machine</a:t>
            </a:r>
            <a:r>
              <a:rPr sz="2400" b="1" spc="-40" dirty="0">
                <a:solidFill>
                  <a:srgbClr val="6F2F9F"/>
                </a:solidFill>
                <a:latin typeface="Times New Roman" panose="02020603050405020304"/>
                <a:cs typeface="Times New Roman" panose="02020603050405020304"/>
              </a:rPr>
              <a:t> </a:t>
            </a:r>
            <a:r>
              <a:rPr sz="2400" b="1" spc="-10" dirty="0">
                <a:solidFill>
                  <a:srgbClr val="6F2F9F"/>
                </a:solidFill>
                <a:latin typeface="Times New Roman" panose="02020603050405020304"/>
                <a:cs typeface="Times New Roman" panose="02020603050405020304"/>
              </a:rPr>
              <a:t>Learning</a:t>
            </a:r>
            <a:endParaRPr sz="2400" dirty="0">
              <a:latin typeface="Times New Roman" panose="02020603050405020304"/>
              <a:cs typeface="Times New Roman" panose="02020603050405020304"/>
            </a:endParaRPr>
          </a:p>
          <a:p>
            <a:pPr marR="603250" algn="ctr">
              <a:lnSpc>
                <a:spcPts val="2860"/>
              </a:lnSpc>
              <a:spcBef>
                <a:spcPts val="615"/>
              </a:spcBef>
            </a:pPr>
            <a:r>
              <a:rPr sz="2400" b="1" dirty="0">
                <a:solidFill>
                  <a:srgbClr val="4471C4"/>
                </a:solidFill>
                <a:latin typeface="Times New Roman" panose="02020603050405020304"/>
                <a:cs typeface="Times New Roman" panose="02020603050405020304"/>
              </a:rPr>
              <a:t>A</a:t>
            </a:r>
            <a:r>
              <a:rPr sz="2400" b="1" spc="-135" dirty="0">
                <a:solidFill>
                  <a:srgbClr val="4471C4"/>
                </a:solidFill>
                <a:latin typeface="Times New Roman" panose="02020603050405020304"/>
                <a:cs typeface="Times New Roman" panose="02020603050405020304"/>
              </a:rPr>
              <a:t> </a:t>
            </a:r>
            <a:r>
              <a:rPr lang="en-US" sz="2400" b="1" spc="-135" dirty="0">
                <a:solidFill>
                  <a:srgbClr val="4471C4"/>
                </a:solidFill>
                <a:latin typeface="Times New Roman" panose="02020603050405020304"/>
                <a:cs typeface="Times New Roman" panose="02020603050405020304"/>
              </a:rPr>
              <a:t>Major</a:t>
            </a:r>
            <a:r>
              <a:rPr sz="2400" b="1" spc="-25" dirty="0">
                <a:solidFill>
                  <a:srgbClr val="4471C4"/>
                </a:solidFill>
                <a:latin typeface="Times New Roman" panose="02020603050405020304"/>
                <a:cs typeface="Times New Roman" panose="02020603050405020304"/>
              </a:rPr>
              <a:t> </a:t>
            </a:r>
            <a:r>
              <a:rPr sz="2400" b="1" dirty="0">
                <a:solidFill>
                  <a:srgbClr val="4471C4"/>
                </a:solidFill>
                <a:latin typeface="Times New Roman" panose="02020603050405020304"/>
                <a:cs typeface="Times New Roman" panose="02020603050405020304"/>
              </a:rPr>
              <a:t>Project</a:t>
            </a:r>
            <a:r>
              <a:rPr lang="en-US" sz="2400" b="1" dirty="0">
                <a:solidFill>
                  <a:srgbClr val="4471C4"/>
                </a:solidFill>
                <a:latin typeface="Times New Roman" panose="02020603050405020304"/>
                <a:cs typeface="Times New Roman" panose="02020603050405020304"/>
              </a:rPr>
              <a:t> </a:t>
            </a:r>
            <a:r>
              <a:rPr lang="en-US" altLang="" sz="2400" b="1" dirty="0">
                <a:solidFill>
                  <a:srgbClr val="4471C4"/>
                </a:solidFill>
                <a:latin typeface="Times New Roman" panose="02020603050405020304"/>
                <a:cs typeface="Times New Roman" panose="02020603050405020304"/>
              </a:rPr>
              <a:t>on</a:t>
            </a:r>
            <a:endParaRPr lang="en-IN" sz="2000" b="1" i="0" u="none" strike="noStrike" baseline="0" dirty="0">
              <a:solidFill>
                <a:srgbClr val="000000"/>
              </a:solidFill>
              <a:latin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           “NAMMA BUS”</a:t>
            </a:r>
            <a:r>
              <a:rPr lang="en-US" sz="1800" dirty="0">
                <a:latin typeface="Arial MT"/>
                <a:cs typeface="Arial MT"/>
              </a:rPr>
              <a:t>		</a:t>
            </a:r>
          </a:p>
        </p:txBody>
      </p:sp>
      <p:pic>
        <p:nvPicPr>
          <p:cNvPr id="6" name="object 6"/>
          <p:cNvPicPr/>
          <p:nvPr/>
        </p:nvPicPr>
        <p:blipFill>
          <a:blip r:embed="rId4" cstate="print"/>
          <a:stretch>
            <a:fillRect/>
          </a:stretch>
        </p:blipFill>
        <p:spPr>
          <a:xfrm>
            <a:off x="10566527" y="186550"/>
            <a:ext cx="1514602" cy="1025283"/>
          </a:xfrm>
          <a:prstGeom prst="rect">
            <a:avLst/>
          </a:prstGeom>
        </p:spPr>
      </p:pic>
      <p:sp>
        <p:nvSpPr>
          <p:cNvPr id="7" name="object 7"/>
          <p:cNvSpPr txBox="1"/>
          <p:nvPr/>
        </p:nvSpPr>
        <p:spPr>
          <a:xfrm>
            <a:off x="3276600" y="3217429"/>
            <a:ext cx="5410200" cy="1534394"/>
          </a:xfrm>
          <a:prstGeom prst="rect">
            <a:avLst/>
          </a:prstGeom>
        </p:spPr>
        <p:txBody>
          <a:bodyPr vert="horz" wrap="square" lIns="0" tIns="56515" rIns="0" bIns="0" rtlCol="0">
            <a:spAutoFit/>
          </a:bodyPr>
          <a:lstStyle/>
          <a:p>
            <a:pPr algn="just"/>
            <a:r>
              <a:rPr lang="en-US" sz="2400" dirty="0">
                <a:latin typeface="Times New Roman" panose="02020603050405020304" pitchFamily="18" charset="0"/>
                <a:cs typeface="Times New Roman" panose="02020603050405020304" pitchFamily="18" charset="0"/>
              </a:rPr>
              <a:t>SUCHITRA			3BR22AI158</a:t>
            </a:r>
          </a:p>
          <a:p>
            <a:pPr algn="just"/>
            <a:r>
              <a:rPr lang="en-US" sz="2400" dirty="0">
                <a:latin typeface="Times New Roman" panose="02020603050405020304" pitchFamily="18" charset="0"/>
                <a:cs typeface="Times New Roman" panose="02020603050405020304" pitchFamily="18" charset="0"/>
              </a:rPr>
              <a:t>V RAKSHITHA		3BR22AI178</a:t>
            </a:r>
            <a:endParaRPr lang="en-US" sz="24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YAMINI V			3BR22AI186</a:t>
            </a:r>
          </a:p>
          <a:p>
            <a:pPr algn="just"/>
            <a:r>
              <a:rPr lang="en-US" sz="2400" dirty="0">
                <a:latin typeface="Times New Roman" panose="02020603050405020304" pitchFamily="18" charset="0"/>
                <a:cs typeface="Times New Roman" panose="02020603050405020304" pitchFamily="18" charset="0"/>
              </a:rPr>
              <a:t>G ESHWAR			3BR23AI405</a:t>
            </a:r>
          </a:p>
        </p:txBody>
      </p:sp>
      <p:sp>
        <p:nvSpPr>
          <p:cNvPr id="9" name="object 9"/>
          <p:cNvSpPr txBox="1"/>
          <p:nvPr/>
        </p:nvSpPr>
        <p:spPr>
          <a:xfrm>
            <a:off x="9067800" y="5410200"/>
            <a:ext cx="1912240" cy="1120820"/>
          </a:xfrm>
          <a:prstGeom prst="rect">
            <a:avLst/>
          </a:prstGeom>
        </p:spPr>
        <p:txBody>
          <a:bodyPr vert="horz" wrap="square" lIns="0" tIns="12700" rIns="0" bIns="0" rtlCol="0">
            <a:spAutoFit/>
          </a:bodyPr>
          <a:lstStyle/>
          <a:p>
            <a:pPr marL="12700" marR="5080" algn="ctr">
              <a:lnSpc>
                <a:spcPct val="100000"/>
              </a:lnSpc>
              <a:spcBef>
                <a:spcPts val="100"/>
              </a:spcBef>
            </a:pPr>
            <a:r>
              <a:rPr lang="en-US" sz="1800" spc="-10" dirty="0">
                <a:latin typeface="Times New Roman" panose="02020603050405020304"/>
                <a:cs typeface="Times New Roman" panose="02020603050405020304"/>
              </a:rPr>
              <a:t>Project Coordinator Mrs. </a:t>
            </a:r>
            <a:r>
              <a:rPr lang="en-US" sz="1800" dirty="0">
                <a:latin typeface="Times New Roman" panose="02020603050405020304"/>
                <a:cs typeface="Times New Roman" panose="02020603050405020304"/>
              </a:rPr>
              <a:t>Asha Jyothi P Assistant</a:t>
            </a:r>
            <a:r>
              <a:rPr lang="en-US"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Professor</a:t>
            </a:r>
            <a:endParaRPr sz="1800" dirty="0">
              <a:latin typeface="Times New Roman" panose="02020603050405020304"/>
              <a:cs typeface="Times New Roman" panose="02020603050405020304"/>
            </a:endParaRPr>
          </a:p>
          <a:p>
            <a:pPr marL="56515" algn="ctr">
              <a:lnSpc>
                <a:spcPct val="100000"/>
              </a:lnSpc>
            </a:pPr>
            <a:r>
              <a:rPr sz="1800" dirty="0">
                <a:latin typeface="Times New Roman" panose="02020603050405020304"/>
                <a:cs typeface="Times New Roman" panose="02020603050405020304"/>
              </a:rPr>
              <a:t>Dept.</a:t>
            </a:r>
            <a:r>
              <a:rPr sz="1800" spc="-3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of</a:t>
            </a:r>
            <a:r>
              <a:rPr sz="1800" spc="-105"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AIML</a:t>
            </a:r>
            <a:endParaRPr sz="1800" dirty="0">
              <a:latin typeface="Times New Roman" panose="02020603050405020304"/>
              <a:cs typeface="Times New Roman" panose="02020603050405020304"/>
            </a:endParaRPr>
          </a:p>
        </p:txBody>
      </p:sp>
      <p:sp>
        <p:nvSpPr>
          <p:cNvPr id="10" name="object 10"/>
          <p:cNvSpPr txBox="1"/>
          <p:nvPr/>
        </p:nvSpPr>
        <p:spPr>
          <a:xfrm>
            <a:off x="4953000" y="5410200"/>
            <a:ext cx="2274570" cy="1133644"/>
          </a:xfrm>
          <a:prstGeom prst="rect">
            <a:avLst/>
          </a:prstGeom>
        </p:spPr>
        <p:txBody>
          <a:bodyPr vert="horz" wrap="square" lIns="0" tIns="12700" rIns="0" bIns="0" rtlCol="0">
            <a:spAutoFit/>
          </a:bodyPr>
          <a:lstStyle/>
          <a:p>
            <a:pPr algn="ctr"/>
            <a:r>
              <a:rPr lang="en-US" dirty="0">
                <a:latin typeface="Times New Roman" panose="02020603050405020304" pitchFamily="18" charset="0"/>
                <a:cs typeface="Times New Roman" panose="02020603050405020304" pitchFamily="18" charset="0"/>
              </a:rPr>
              <a:t>Project Guide</a:t>
            </a:r>
          </a:p>
          <a:p>
            <a:pPr algn="ctr"/>
            <a:r>
              <a:rPr lang="en-US" dirty="0">
                <a:latin typeface="Times New Roman" panose="02020603050405020304" pitchFamily="18" charset="0"/>
                <a:cs typeface="Times New Roman" panose="02020603050405020304" pitchFamily="18" charset="0"/>
              </a:rPr>
              <a:t>Dr. B M Vidyavathi</a:t>
            </a:r>
          </a:p>
          <a:p>
            <a:pPr algn="ctr"/>
            <a:r>
              <a:rPr lang="en-US" dirty="0">
                <a:latin typeface="Times New Roman" panose="02020603050405020304" pitchFamily="18" charset="0"/>
                <a:cs typeface="Times New Roman" panose="02020603050405020304" pitchFamily="18" charset="0"/>
              </a:rPr>
              <a:t>  Professor &amp; HOD</a:t>
            </a:r>
          </a:p>
          <a:p>
            <a:pPr algn="ctr"/>
            <a:r>
              <a:rPr lang="en-US" dirty="0">
                <a:latin typeface="Times New Roman" panose="02020603050405020304" pitchFamily="18" charset="0"/>
                <a:cs typeface="Times New Roman" panose="02020603050405020304" pitchFamily="18" charset="0"/>
              </a:rPr>
              <a:t> </a:t>
            </a:r>
            <a:r>
              <a:rPr lang="en-US" dirty="0">
                <a:solidFill>
                  <a:srgbClr val="000000"/>
                </a:solidFill>
                <a:latin typeface="Times New Roman" panose="02020603050405020304" pitchFamily="18" charset="0"/>
                <a:cs typeface="Times New Roman" panose="02020603050405020304" pitchFamily="18" charset="0"/>
              </a:rPr>
              <a:t>Dept. of AIML</a:t>
            </a:r>
            <a:endParaRPr lang="en-US"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1066800" y="5334000"/>
            <a:ext cx="2634977" cy="1238801"/>
          </a:xfrm>
          <a:prstGeom prst="rect">
            <a:avLst/>
          </a:prstGeom>
          <a:noFill/>
        </p:spPr>
        <p:txBody>
          <a:bodyPr wrap="square">
            <a:spAutoFit/>
          </a:bodyPr>
          <a:lstStyle/>
          <a:p>
            <a:pPr marL="12065" marR="5080" algn="ctr">
              <a:lnSpc>
                <a:spcPct val="100000"/>
              </a:lnSpc>
              <a:spcBef>
                <a:spcPts val="100"/>
              </a:spcBef>
            </a:pPr>
            <a:r>
              <a:rPr lang="en-US" spc="-10" dirty="0">
                <a:latin typeface="Times New Roman" panose="02020603050405020304"/>
                <a:cs typeface="Times New Roman" panose="02020603050405020304"/>
              </a:rPr>
              <a:t>Head of Department</a:t>
            </a:r>
          </a:p>
          <a:p>
            <a:pPr marL="12065" marR="5080" algn="ctr">
              <a:lnSpc>
                <a:spcPct val="100000"/>
              </a:lnSpc>
              <a:spcBef>
                <a:spcPts val="100"/>
              </a:spcBef>
            </a:pPr>
            <a:r>
              <a:rPr lang="en-US" spc="-10" dirty="0">
                <a:latin typeface="Times New Roman" panose="02020603050405020304"/>
                <a:cs typeface="Times New Roman" panose="02020603050405020304"/>
              </a:rPr>
              <a:t>Dr.</a:t>
            </a:r>
            <a:r>
              <a:rPr lang="en-US" dirty="0">
                <a:latin typeface="Times New Roman" panose="02020603050405020304"/>
                <a:cs typeface="Times New Roman" panose="02020603050405020304"/>
              </a:rPr>
              <a:t> B M Vidyavathi</a:t>
            </a:r>
          </a:p>
          <a:p>
            <a:pPr marL="12065" marR="5080" algn="ctr">
              <a:lnSpc>
                <a:spcPct val="100000"/>
              </a:lnSpc>
              <a:spcBef>
                <a:spcPts val="100"/>
              </a:spcBef>
            </a:pPr>
            <a:r>
              <a:rPr lang="en-US" dirty="0">
                <a:latin typeface="Times New Roman" panose="02020603050405020304"/>
                <a:cs typeface="Times New Roman" panose="02020603050405020304"/>
              </a:rPr>
              <a:t>Professor</a:t>
            </a:r>
            <a:r>
              <a:rPr lang="en-US" spc="-1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&amp;</a:t>
            </a:r>
            <a:r>
              <a:rPr lang="en-US" spc="-100" dirty="0">
                <a:latin typeface="Times New Roman" panose="02020603050405020304"/>
                <a:cs typeface="Times New Roman" panose="02020603050405020304"/>
              </a:rPr>
              <a:t> </a:t>
            </a:r>
            <a:r>
              <a:rPr lang="en-US" spc="-25" dirty="0">
                <a:latin typeface="Times New Roman" panose="02020603050405020304"/>
                <a:cs typeface="Times New Roman" panose="02020603050405020304"/>
              </a:rPr>
              <a:t>HOD </a:t>
            </a:r>
          </a:p>
          <a:p>
            <a:pPr marL="12065" marR="5080" algn="ctr">
              <a:lnSpc>
                <a:spcPct val="100000"/>
              </a:lnSpc>
              <a:spcBef>
                <a:spcPts val="100"/>
              </a:spcBef>
            </a:pPr>
            <a:r>
              <a:rPr lang="en-US" dirty="0">
                <a:latin typeface="Times New Roman" panose="02020603050405020304"/>
                <a:cs typeface="Times New Roman" panose="02020603050405020304"/>
              </a:rPr>
              <a:t>Dept.</a:t>
            </a:r>
            <a:r>
              <a:rPr lang="en-US" spc="-2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of</a:t>
            </a:r>
            <a:r>
              <a:rPr lang="en-US" spc="-95" dirty="0">
                <a:latin typeface="Times New Roman" panose="02020603050405020304"/>
                <a:cs typeface="Times New Roman" panose="02020603050405020304"/>
              </a:rPr>
              <a:t> </a:t>
            </a:r>
            <a:r>
              <a:rPr lang="en-US" spc="-20" dirty="0">
                <a:latin typeface="Times New Roman" panose="02020603050405020304"/>
                <a:cs typeface="Times New Roman" panose="02020603050405020304"/>
              </a:rPr>
              <a:t>AIML</a:t>
            </a:r>
            <a:endParaRPr lang="en-US" dirty="0">
              <a:latin typeface="Times New Roman" panose="02020603050405020304"/>
              <a:cs typeface="Times New Roman" panose="02020603050405020304"/>
            </a:endParaRPr>
          </a:p>
        </p:txBody>
      </p:sp>
      <p:sp>
        <p:nvSpPr>
          <p:cNvPr id="12" name="Slide Number Placeholder 11"/>
          <p:cNvSpPr>
            <a:spLocks noGrp="1"/>
          </p:cNvSpPr>
          <p:nvPr>
            <p:ph type="sldNum" sz="quarter" idx="7"/>
          </p:nvPr>
        </p:nvSpPr>
        <p:spPr/>
        <p:txBody>
          <a:bodyPr/>
          <a:lstStyle/>
          <a:p>
            <a:pPr marL="115570">
              <a:lnSpc>
                <a:spcPts val="1240"/>
              </a:lnSpc>
            </a:pPr>
            <a:fld id="{81D60167-4931-47E6-BA6A-407CBD079E47}" type="slidenum">
              <a:rPr lang="en-IN" spc="-50" smtClean="0"/>
              <a:t>1</a:t>
            </a:fld>
            <a:endParaRPr lang="en-IN"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44725" y="2001420"/>
            <a:ext cx="9160672" cy="830997"/>
          </a:xfrm>
          <a:prstGeom prst="rect">
            <a:avLst/>
          </a:prstGeom>
        </p:spPr>
        <p:txBody>
          <a:bodyPr lIns="0" tIns="0" rIns="0" bIns="0" rtlCol="0" anchor="t">
            <a:spAutoFit/>
          </a:bodyPr>
          <a:lstStyle/>
          <a:p>
            <a:pPr algn="ctr">
              <a:lnSpc>
                <a:spcPct val="150000"/>
              </a:lnSpc>
            </a:pPr>
            <a:r>
              <a:rPr lang="en-US" sz="3600" b="1" u="sng" dirty="0">
                <a:solidFill>
                  <a:srgbClr val="1D1D1F"/>
                </a:solidFill>
                <a:latin typeface="Times New Roman" panose="02020603050405020304" pitchFamily="18" charset="0"/>
                <a:ea typeface="Raleway Bold"/>
                <a:cs typeface="Times New Roman" panose="02020603050405020304" pitchFamily="18" charset="0"/>
                <a:sym typeface="Raleway Bold"/>
              </a:rPr>
              <a:t>NAMMA BUS</a:t>
            </a:r>
          </a:p>
        </p:txBody>
      </p:sp>
      <p:sp>
        <p:nvSpPr>
          <p:cNvPr id="6" name="TextBox 6"/>
          <p:cNvSpPr txBox="1"/>
          <p:nvPr/>
        </p:nvSpPr>
        <p:spPr>
          <a:xfrm>
            <a:off x="1778000" y="2925067"/>
            <a:ext cx="8178800" cy="487634"/>
          </a:xfrm>
          <a:prstGeom prst="rect">
            <a:avLst/>
          </a:prstGeom>
        </p:spPr>
        <p:txBody>
          <a:bodyPr wrap="square" lIns="0" tIns="0" rIns="0" bIns="0" rtlCol="0" anchor="t">
            <a:spAutoFit/>
          </a:bodyPr>
          <a:lstStyle/>
          <a:p>
            <a:pPr algn="ctr">
              <a:lnSpc>
                <a:spcPct val="150000"/>
              </a:lnSpc>
              <a:spcBef>
                <a:spcPct val="0"/>
              </a:spcBef>
            </a:pPr>
            <a:r>
              <a:rPr lang="en-US" sz="2400" b="1" dirty="0">
                <a:solidFill>
                  <a:srgbClr val="1D1D1F"/>
                </a:solidFill>
                <a:latin typeface="Times New Roman" panose="02020603050405020304" pitchFamily="18" charset="0"/>
                <a:ea typeface="Now Heavy"/>
                <a:cs typeface="Times New Roman" panose="02020603050405020304" pitchFamily="18" charset="0"/>
                <a:sym typeface="Now Heavy"/>
              </a:rPr>
              <a:t>Intelligent Transportation System Using Deep Learning</a:t>
            </a:r>
          </a:p>
        </p:txBody>
      </p:sp>
      <p:sp>
        <p:nvSpPr>
          <p:cNvPr id="9" name="TextBox 8">
            <a:extLst>
              <a:ext uri="{FF2B5EF4-FFF2-40B4-BE49-F238E27FC236}">
                <a16:creationId xmlns:a16="http://schemas.microsoft.com/office/drawing/2014/main" id="{480CFE7D-B4D2-14A4-D56F-D1D6F3D81FE6}"/>
              </a:ext>
            </a:extLst>
          </p:cNvPr>
          <p:cNvSpPr txBox="1"/>
          <p:nvPr/>
        </p:nvSpPr>
        <p:spPr>
          <a:xfrm>
            <a:off x="11500777" y="6316002"/>
            <a:ext cx="406400" cy="266740"/>
          </a:xfrm>
          <a:prstGeom prst="rect">
            <a:avLst/>
          </a:prstGeom>
          <a:noFill/>
        </p:spPr>
        <p:txBody>
          <a:bodyPr wrap="square" lIns="60954" tIns="30477" rIns="60954" bIns="30477" rtlCol="0">
            <a:spAutoFit/>
          </a:bodyPr>
          <a:lstStyle/>
          <a:p>
            <a:r>
              <a:rPr lang="en-US" sz="1300" dirty="0"/>
              <a:t>2</a:t>
            </a:r>
            <a:endParaRPr lang="en-IN" sz="1300" dirty="0"/>
          </a:p>
        </p:txBody>
      </p:sp>
      <p:sp>
        <p:nvSpPr>
          <p:cNvPr id="11" name="TextBox 10">
            <a:extLst>
              <a:ext uri="{FF2B5EF4-FFF2-40B4-BE49-F238E27FC236}">
                <a16:creationId xmlns:a16="http://schemas.microsoft.com/office/drawing/2014/main" id="{1EF4B8A1-365A-09A1-98BC-2AE5F29AF81B}"/>
              </a:ext>
            </a:extLst>
          </p:cNvPr>
          <p:cNvSpPr txBox="1"/>
          <p:nvPr/>
        </p:nvSpPr>
        <p:spPr>
          <a:xfrm>
            <a:off x="4207231" y="6336521"/>
            <a:ext cx="4013200" cy="569381"/>
          </a:xfrm>
          <a:prstGeom prst="rect">
            <a:avLst/>
          </a:prstGeom>
          <a:noFill/>
        </p:spPr>
        <p:txBody>
          <a:bodyPr wrap="square" lIns="60954" tIns="30477" rIns="60954" bIns="30477" rtlCol="0">
            <a:spAutoFit/>
          </a:bodyPr>
          <a:lstStyle/>
          <a:p>
            <a:pPr algn="ctr"/>
            <a:r>
              <a:rPr lang="en-US" sz="1100" b="1" dirty="0">
                <a:latin typeface="Times New Roman" panose="02020603050405020304" pitchFamily="18" charset="0"/>
                <a:cs typeface="Times New Roman" panose="02020603050405020304" pitchFamily="18" charset="0"/>
              </a:rPr>
              <a:t>Intelligent Transportation System Using Deep Learning</a:t>
            </a:r>
            <a:endParaRPr lang="en-US" sz="1100" i="0" u="none" strike="noStrike" baseline="0" dirty="0">
              <a:solidFill>
                <a:srgbClr val="000000"/>
              </a:solidFill>
              <a:latin typeface="Times New Roman" panose="02020603050405020304" pitchFamily="18" charset="0"/>
            </a:endParaRPr>
          </a:p>
          <a:p>
            <a:pPr algn="ctr"/>
            <a:endParaRPr lang="en-US" sz="1100" i="0" u="none" strike="noStrike" baseline="0" dirty="0">
              <a:solidFill>
                <a:srgbClr val="000000"/>
              </a:solidFill>
              <a:latin typeface="Times New Roman" panose="02020603050405020304" pitchFamily="18" charset="0"/>
            </a:endParaRPr>
          </a:p>
          <a:p>
            <a:endParaRPr lang="en-IN" sz="1100" dirty="0"/>
          </a:p>
        </p:txBody>
      </p:sp>
      <p:sp>
        <p:nvSpPr>
          <p:cNvPr id="12" name="TextBox 11">
            <a:extLst>
              <a:ext uri="{FF2B5EF4-FFF2-40B4-BE49-F238E27FC236}">
                <a16:creationId xmlns:a16="http://schemas.microsoft.com/office/drawing/2014/main" id="{45B1A9CB-243B-429C-B8EA-8D0DD84DEE2A}"/>
              </a:ext>
            </a:extLst>
          </p:cNvPr>
          <p:cNvSpPr txBox="1"/>
          <p:nvPr/>
        </p:nvSpPr>
        <p:spPr>
          <a:xfrm>
            <a:off x="384590" y="6336521"/>
            <a:ext cx="965200" cy="215438"/>
          </a:xfrm>
          <a:prstGeom prst="rect">
            <a:avLst/>
          </a:prstGeom>
          <a:noFill/>
        </p:spPr>
        <p:txBody>
          <a:bodyPr wrap="square" lIns="60954" tIns="30477" rIns="60954" bIns="30477" rtlCol="0">
            <a:spAutoFit/>
          </a:bodyPr>
          <a:lstStyle/>
          <a:p>
            <a:r>
              <a:rPr lang="en-US" sz="1000" spc="-10" dirty="0"/>
              <a:t>13/01/2026</a:t>
            </a:r>
            <a:endParaRPr lang="en-IN" sz="1000" dirty="0"/>
          </a:p>
        </p:txBody>
      </p:sp>
    </p:spTree>
    <p:extLst>
      <p:ext uri="{BB962C8B-B14F-4D97-AF65-F5344CB8AC3E}">
        <p14:creationId xmlns:p14="http://schemas.microsoft.com/office/powerpoint/2010/main" val="1798000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3124200" y="6447704"/>
            <a:ext cx="5333999" cy="184666"/>
          </a:xfrm>
          <a:prstGeom prst="rect">
            <a:avLst/>
          </a:prstGeom>
        </p:spPr>
        <p:txBody>
          <a:bodyPr vert="horz" wrap="square" lIns="0" tIns="0" rIns="0" bIns="0" rtlCol="0">
            <a:spAutoFit/>
          </a:bodyPr>
          <a:lstStyle/>
          <a:p>
            <a:pPr algn="ctr"/>
            <a:r>
              <a:rPr lang="en-US" b="1" dirty="0">
                <a:latin typeface="Times New Roman" panose="02020603050405020304" pitchFamily="18" charset="0"/>
                <a:cs typeface="Times New Roman" panose="02020603050405020304" pitchFamily="18" charset="0"/>
              </a:rPr>
              <a:t>Intelligent Transportation System Using Deep Learning</a:t>
            </a:r>
            <a:endParaRPr lang="en-US" sz="1200" i="0" u="none" strike="noStrike" baseline="0" dirty="0">
              <a:solidFill>
                <a:srgbClr val="000000"/>
              </a:solidFill>
              <a:latin typeface="Times New Roman" panose="02020603050405020304" pitchFamily="18" charset="0"/>
            </a:endParaRPr>
          </a:p>
        </p:txBody>
      </p:sp>
      <p:sp>
        <p:nvSpPr>
          <p:cNvPr id="5" name="object 5"/>
          <p:cNvSpPr txBox="1">
            <a:spLocks noGrp="1"/>
          </p:cNvSpPr>
          <p:nvPr>
            <p:ph type="dt" sz="half" idx="6"/>
          </p:nvPr>
        </p:nvSpPr>
        <p:spPr>
          <a:xfrm>
            <a:off x="916939" y="6464680"/>
            <a:ext cx="765175" cy="158750"/>
          </a:xfrm>
          <a:prstGeom prst="rect">
            <a:avLst/>
          </a:prstGeom>
        </p:spPr>
        <p:txBody>
          <a:bodyPr vert="horz" wrap="square" lIns="0" tIns="0" rIns="0" bIns="0" rtlCol="0">
            <a:spAutoFit/>
          </a:bodyPr>
          <a:lstStyle/>
          <a:p>
            <a:pPr marL="12700">
              <a:lnSpc>
                <a:spcPts val="1240"/>
              </a:lnSpc>
            </a:pPr>
            <a:r>
              <a:rPr lang="en-US" spc="-10" dirty="0"/>
              <a:t>13/01/2026</a:t>
            </a:r>
          </a:p>
        </p:txBody>
      </p:sp>
      <p:sp>
        <p:nvSpPr>
          <p:cNvPr id="2" name="object 2"/>
          <p:cNvSpPr txBox="1">
            <a:spLocks noGrp="1"/>
          </p:cNvSpPr>
          <p:nvPr>
            <p:ph type="title"/>
          </p:nvPr>
        </p:nvSpPr>
        <p:spPr>
          <a:xfrm>
            <a:off x="3657600" y="265324"/>
            <a:ext cx="3919220" cy="877676"/>
          </a:xfrm>
          <a:prstGeom prst="rect">
            <a:avLst/>
          </a:prstGeom>
        </p:spPr>
        <p:txBody>
          <a:bodyPr vert="horz" wrap="square" lIns="0" tIns="320548" rIns="0" bIns="0" rtlCol="0">
            <a:spAutoFit/>
          </a:bodyPr>
          <a:lstStyle/>
          <a:p>
            <a:pPr marL="1143000">
              <a:lnSpc>
                <a:spcPct val="100000"/>
              </a:lnSpc>
              <a:spcBef>
                <a:spcPts val="100"/>
              </a:spcBef>
            </a:pPr>
            <a:r>
              <a:rPr sz="3600" spc="-10" dirty="0"/>
              <a:t>Abstract</a:t>
            </a:r>
            <a:endParaRPr sz="3600" dirty="0"/>
          </a:p>
        </p:txBody>
      </p:sp>
      <p:sp>
        <p:nvSpPr>
          <p:cNvPr id="3" name="object 3"/>
          <p:cNvSpPr txBox="1"/>
          <p:nvPr/>
        </p:nvSpPr>
        <p:spPr>
          <a:xfrm>
            <a:off x="609600" y="1143000"/>
            <a:ext cx="11367260" cy="4075475"/>
          </a:xfrm>
          <a:prstGeom prst="rect">
            <a:avLst/>
          </a:prstGeom>
        </p:spPr>
        <p:txBody>
          <a:bodyPr vert="horz" wrap="square" lIns="0" tIns="195580" rIns="0" bIns="0" rtlCol="0">
            <a:spAutoFit/>
          </a:bodyPr>
          <a:lstStyle/>
          <a:p>
            <a:pPr algn="just">
              <a:lnSpc>
                <a:spcPct val="150000"/>
              </a:lnSpc>
            </a:pPr>
            <a:r>
              <a:rPr lang="en-US" sz="2400" dirty="0">
                <a:solidFill>
                  <a:srgbClr val="000000"/>
                </a:solidFill>
                <a:latin typeface="Times New Roman" panose="02020603050405020304" pitchFamily="18" charset="0"/>
                <a:ea typeface="Now"/>
                <a:cs typeface="Times New Roman" panose="02020603050405020304" pitchFamily="18" charset="0"/>
                <a:sym typeface="Now"/>
              </a:rPr>
              <a:t>The Intelligent Transportation System is a smart solution designed to improve transportation services for students and faculty by providing real-time bus tracking, ETA predictions, and automated alerts. Using GPS and IoT devices installed in college buses, the system continuously monitors location data and sends it to a backend server. A mobile and web app allows users to track buses live, receive notifications, and avoid delays.</a:t>
            </a:r>
          </a:p>
          <a:p>
            <a:pPr algn="just">
              <a:lnSpc>
                <a:spcPct val="150000"/>
              </a:lnSpc>
            </a:pPr>
            <a:r>
              <a:rPr lang="en-US" sz="2400" dirty="0">
                <a:solidFill>
                  <a:srgbClr val="000000"/>
                </a:solidFill>
                <a:latin typeface="Times New Roman" panose="02020603050405020304" pitchFamily="18" charset="0"/>
                <a:ea typeface="Now"/>
                <a:cs typeface="Times New Roman" panose="02020603050405020304" pitchFamily="18" charset="0"/>
                <a:sym typeface="Now"/>
              </a:rPr>
              <a:t>The system integrates Deep Learning algorithms to analyze traffic patterns, predict arrival times, detect route deviations, and monitor driver behavior for safety. </a:t>
            </a:r>
          </a:p>
        </p:txBody>
      </p:sp>
      <p:sp>
        <p:nvSpPr>
          <p:cNvPr id="7" name="Slide Number Placeholder 6"/>
          <p:cNvSpPr>
            <a:spLocks noGrp="1"/>
          </p:cNvSpPr>
          <p:nvPr>
            <p:ph type="sldNum" sz="quarter" idx="7"/>
          </p:nvPr>
        </p:nvSpPr>
        <p:spPr/>
        <p:txBody>
          <a:bodyPr/>
          <a:lstStyle/>
          <a:p>
            <a:pPr marL="115570">
              <a:lnSpc>
                <a:spcPts val="1240"/>
              </a:lnSpc>
            </a:pPr>
            <a:fld id="{81D60167-4931-47E6-BA6A-407CBD079E47}" type="slidenum">
              <a:rPr lang="en-IN" spc="-50" smtClean="0"/>
              <a:t>3</a:t>
            </a:fld>
            <a:endParaRPr lang="en-IN"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40782" y="-265329"/>
            <a:ext cx="3919220" cy="1015365"/>
          </a:xfrm>
          <a:prstGeom prst="rect">
            <a:avLst/>
          </a:prstGeom>
        </p:spPr>
        <p:txBody>
          <a:bodyPr vert="horz" wrap="square" lIns="0" tIns="431292" rIns="0" bIns="0" rtlCol="0">
            <a:spAutoFit/>
          </a:bodyPr>
          <a:lstStyle/>
          <a:p>
            <a:pPr marL="1156335">
              <a:lnSpc>
                <a:spcPct val="100000"/>
              </a:lnSpc>
              <a:spcBef>
                <a:spcPts val="105"/>
              </a:spcBef>
            </a:pPr>
            <a:r>
              <a:rPr lang="en-US" sz="3800" spc="-10" dirty="0"/>
              <a:t>    </a:t>
            </a:r>
            <a:r>
              <a:rPr sz="3600" spc="-10" dirty="0"/>
              <a:t>Contents</a:t>
            </a:r>
            <a:endParaRPr sz="3600" dirty="0"/>
          </a:p>
        </p:txBody>
      </p:sp>
      <p:sp>
        <p:nvSpPr>
          <p:cNvPr id="8" name="Content Placeholder 7"/>
          <p:cNvSpPr>
            <a:spLocks noGrp="1"/>
          </p:cNvSpPr>
          <p:nvPr>
            <p:ph sz="half" idx="3"/>
          </p:nvPr>
        </p:nvSpPr>
        <p:spPr>
          <a:xfrm>
            <a:off x="5867400" y="1066800"/>
            <a:ext cx="5791200" cy="8068945"/>
          </a:xfrm>
        </p:spPr>
        <p:txBody>
          <a:bodyPr>
            <a:noAutofit/>
          </a:bodyPr>
          <a:lstStyle/>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7.1 Architectural Design</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7.2 Modules and their Functionalities</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7.3 Existing and Proposed System</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7.4 Flowchart</a:t>
            </a:r>
            <a:r>
              <a:rPr lang="en-US" sz="2000" b="0" spc="-10" dirty="0">
                <a:latin typeface="Times New Roman" panose="02020603050405020304"/>
                <a:cs typeface="Times New Roman" panose="02020603050405020304"/>
              </a:rPr>
              <a:t> </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8. Methodology</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8.1 Techniques</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8.2 Developmental Model</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8.3 Tools and Technologies</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9. Requirements Specification</a:t>
            </a:r>
          </a:p>
          <a:p>
            <a:pPr algn="just">
              <a:lnSpc>
                <a:spcPct val="150000"/>
              </a:lnSpc>
              <a:spcBef>
                <a:spcPct val="0"/>
              </a:spcBef>
            </a:pPr>
            <a:endParaRPr lang="en-US" sz="2000" b="0" spc="-10" dirty="0">
              <a:latin typeface="Times New Roman" panose="02020603050405020304"/>
              <a:cs typeface="Times New Roman" panose="02020603050405020304"/>
            </a:endParaRPr>
          </a:p>
          <a:p>
            <a:pPr algn="just">
              <a:lnSpc>
                <a:spcPct val="150000"/>
              </a:lnSpc>
            </a:pPr>
            <a:endParaRPr lang="en-US" sz="2000" b="0" spc="-10" dirty="0">
              <a:latin typeface="Times New Roman" panose="02020603050405020304"/>
              <a:cs typeface="Times New Roman" panose="02020603050405020304"/>
            </a:endParaRPr>
          </a:p>
          <a:p>
            <a:pPr algn="just">
              <a:lnSpc>
                <a:spcPct val="150000"/>
              </a:lnSpc>
            </a:pPr>
            <a:endParaRPr lang="en-US" sz="2000" b="0" spc="-10" dirty="0"/>
          </a:p>
          <a:p>
            <a:pPr algn="just">
              <a:lnSpc>
                <a:spcPct val="150000"/>
              </a:lnSpc>
            </a:pPr>
            <a:endParaRPr lang="en-US" sz="2000" b="0" spc="-10" dirty="0">
              <a:latin typeface="Times New Roman" panose="02020603050405020304"/>
              <a:cs typeface="Times New Roman" panose="02020603050405020304"/>
            </a:endParaRPr>
          </a:p>
          <a:p>
            <a:pPr algn="just">
              <a:lnSpc>
                <a:spcPct val="150000"/>
              </a:lnSpc>
            </a:pPr>
            <a:endParaRPr lang="en-US" sz="2000" b="0" spc="-10" dirty="0">
              <a:latin typeface="Times New Roman" panose="02020603050405020304"/>
              <a:cs typeface="Times New Roman" panose="02020603050405020304"/>
            </a:endParaRPr>
          </a:p>
          <a:p>
            <a:pPr algn="just">
              <a:lnSpc>
                <a:spcPct val="150000"/>
              </a:lnSpc>
            </a:pPr>
            <a:endParaRPr lang="en-US" sz="2000" b="0" spc="-10" dirty="0">
              <a:latin typeface="Times New Roman" panose="02020603050405020304"/>
              <a:cs typeface="Times New Roman" panose="02020603050405020304"/>
            </a:endParaRPr>
          </a:p>
          <a:p>
            <a:endParaRPr lang="en-IN" dirty="0"/>
          </a:p>
        </p:txBody>
      </p:sp>
      <p:sp>
        <p:nvSpPr>
          <p:cNvPr id="4" name="object 4"/>
          <p:cNvSpPr txBox="1">
            <a:spLocks noGrp="1"/>
          </p:cNvSpPr>
          <p:nvPr>
            <p:ph type="ftr" sz="quarter" idx="5"/>
          </p:nvPr>
        </p:nvSpPr>
        <p:spPr>
          <a:xfrm>
            <a:off x="3301503" y="6372347"/>
            <a:ext cx="5312312" cy="369332"/>
          </a:xfrm>
          <a:prstGeom prst="rect">
            <a:avLst/>
          </a:prstGeom>
        </p:spPr>
        <p:txBody>
          <a:bodyPr vert="horz" wrap="square" lIns="0" tIns="0" rIns="0" bIns="0" rtlCol="0">
            <a:spAutoFit/>
          </a:bodyPr>
          <a:lstStyle/>
          <a:p>
            <a:pPr algn="ct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algn="ctr"/>
            <a:endParaRPr lang="en-US" sz="1200" i="0" u="none" strike="noStrike" baseline="0" dirty="0">
              <a:solidFill>
                <a:srgbClr val="000000"/>
              </a:solidFill>
              <a:latin typeface="Times New Roman" panose="02020603050405020304" pitchFamily="18" charset="0"/>
            </a:endParaRPr>
          </a:p>
        </p:txBody>
      </p:sp>
      <p:sp>
        <p:nvSpPr>
          <p:cNvPr id="5" name="object 5"/>
          <p:cNvSpPr txBox="1">
            <a:spLocks noGrp="1"/>
          </p:cNvSpPr>
          <p:nvPr>
            <p:ph type="dt" sz="half" idx="6"/>
          </p:nvPr>
        </p:nvSpPr>
        <p:spPr>
          <a:xfrm>
            <a:off x="916939" y="6464680"/>
            <a:ext cx="765175" cy="309957"/>
          </a:xfrm>
          <a:prstGeom prst="rect">
            <a:avLst/>
          </a:prstGeom>
        </p:spPr>
        <p:txBody>
          <a:bodyPr vert="horz" wrap="square" lIns="0" tIns="0" rIns="0" bIns="0" rtlCol="0">
            <a:spAutoFit/>
          </a:bodyPr>
          <a:lstStyle/>
          <a:p>
            <a:pPr marL="12700">
              <a:lnSpc>
                <a:spcPts val="1240"/>
              </a:lnSpc>
            </a:pPr>
            <a:r>
              <a:rPr lang="en-US" spc="-10" dirty="0"/>
              <a:t>13/01/2026</a:t>
            </a:r>
          </a:p>
          <a:p>
            <a:pPr marL="12700">
              <a:lnSpc>
                <a:spcPts val="1240"/>
              </a:lnSpc>
            </a:pPr>
            <a:endParaRPr spc="-10" dirty="0"/>
          </a:p>
        </p:txBody>
      </p:sp>
      <p:sp>
        <p:nvSpPr>
          <p:cNvPr id="3" name="object 3"/>
          <p:cNvSpPr txBox="1"/>
          <p:nvPr/>
        </p:nvSpPr>
        <p:spPr>
          <a:xfrm>
            <a:off x="533400" y="0"/>
            <a:ext cx="5181600" cy="6324600"/>
          </a:xfrm>
          <a:prstGeom prst="rect">
            <a:avLst/>
          </a:prstGeom>
        </p:spPr>
        <p:txBody>
          <a:bodyPr vert="horz" wrap="square" lIns="0" tIns="139065" rIns="0" bIns="0" rtlCol="0">
            <a:noAutofit/>
          </a:bodyPr>
          <a:lstStyle/>
          <a:p>
            <a:pPr marL="354965" indent="-342265">
              <a:lnSpc>
                <a:spcPct val="100000"/>
              </a:lnSpc>
              <a:spcBef>
                <a:spcPts val="995"/>
              </a:spcBef>
              <a:buAutoNum type="arabicPeriod"/>
              <a:tabLst>
                <a:tab pos="354965" algn="l"/>
              </a:tabLst>
            </a:pPr>
            <a:endParaRPr lang="en-US" sz="2000" spc="-10" dirty="0">
              <a:latin typeface="Times New Roman" panose="02020603050405020304"/>
              <a:cs typeface="Times New Roman" panose="02020603050405020304"/>
            </a:endParaRPr>
          </a:p>
          <a:p>
            <a:pPr marL="12700">
              <a:lnSpc>
                <a:spcPct val="100000"/>
              </a:lnSpc>
              <a:spcBef>
                <a:spcPts val="995"/>
              </a:spcBef>
              <a:tabLst>
                <a:tab pos="354965" algn="l"/>
              </a:tabLst>
            </a:pPr>
            <a:endParaRPr lang="en-US" sz="2400" spc="-10" dirty="0">
              <a:latin typeface="Times New Roman" panose="02020603050405020304"/>
              <a:cs typeface="Times New Roman" panose="02020603050405020304"/>
            </a:endParaRP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1. Introduction</a:t>
            </a: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2. Problem Statement</a:t>
            </a: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3. Objectives </a:t>
            </a: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4. Scope Of The Project</a:t>
            </a: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5. Literature Survey</a:t>
            </a: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6. Domain(Area Of Work)</a:t>
            </a: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	6.1 Core Domain</a:t>
            </a: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	6.2 Application Domain</a:t>
            </a: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7. Proposed System</a:t>
            </a:r>
          </a:p>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	</a:t>
            </a:r>
            <a:endParaRPr lang="en-US" sz="2400" spc="-10" dirty="0">
              <a:latin typeface="Times New Roman" panose="02020603050405020304"/>
              <a:cs typeface="Times New Roman" panose="02020603050405020304"/>
            </a:endParaRPr>
          </a:p>
        </p:txBody>
      </p:sp>
      <p:sp>
        <p:nvSpPr>
          <p:cNvPr id="7" name="Slide Number Placeholder 6"/>
          <p:cNvSpPr>
            <a:spLocks noGrp="1"/>
          </p:cNvSpPr>
          <p:nvPr>
            <p:ph type="sldNum" sz="quarter" idx="7"/>
          </p:nvPr>
        </p:nvSpPr>
        <p:spPr/>
        <p:txBody>
          <a:bodyPr/>
          <a:lstStyle/>
          <a:p>
            <a:pPr marL="115570">
              <a:lnSpc>
                <a:spcPts val="1240"/>
              </a:lnSpc>
            </a:pPr>
            <a:fld id="{81D60167-4931-47E6-BA6A-407CBD079E47}" type="slidenum">
              <a:rPr lang="en-IN" spc="-50" smtClean="0"/>
              <a:t>4</a:t>
            </a:fld>
            <a:endParaRPr lang="en-IN"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228600" y="76200"/>
            <a:ext cx="5181600" cy="6433990"/>
          </a:xfrm>
        </p:spPr>
        <p:txBody>
          <a:bodyPr>
            <a:noAutofit/>
          </a:bodyPr>
          <a:lstStyle/>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9.1 Functional Requirements</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9.2 Non-Functional Requirements</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9.3 Hardware Requirements</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9.4 Software Requirements</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10. Design</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10.1 Block Diagram</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10.2 Context Diagram</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10.3 Use Case Diagram</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10.4 Sequence Diagram </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10.5 Activity Diagram</a:t>
            </a:r>
          </a:p>
          <a:p>
            <a:pPr algn="just">
              <a:lnSpc>
                <a:spcPct val="150000"/>
              </a:lnSpc>
              <a:spcBef>
                <a:spcPct val="0"/>
              </a:spcBef>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	10.6 </a:t>
            </a:r>
            <a:r>
              <a:rPr lang="en-US" sz="2400" b="0" dirty="0">
                <a:solidFill>
                  <a:srgbClr val="000000"/>
                </a:solidFill>
                <a:latin typeface="Times New Roman" panose="02020603050405020304" pitchFamily="18" charset="0"/>
                <a:ea typeface="Now Heavy"/>
                <a:cs typeface="Times New Roman" panose="02020603050405020304" pitchFamily="18" charset="0"/>
                <a:sym typeface="Now Heavy"/>
              </a:rPr>
              <a:t>Entity-relationship Diagram</a:t>
            </a:r>
            <a:endParaRPr lang="en-US" sz="2400" b="0" dirty="0">
              <a:solidFill>
                <a:srgbClr val="000000"/>
              </a:solidFill>
              <a:latin typeface="Times New Roman" panose="02020603050405020304" pitchFamily="18" charset="0"/>
              <a:ea typeface="Now"/>
              <a:cs typeface="Times New Roman" panose="02020603050405020304" pitchFamily="18" charset="0"/>
              <a:sym typeface="Now"/>
            </a:endParaRPr>
          </a:p>
          <a:p>
            <a:pPr algn="just">
              <a:lnSpc>
                <a:spcPct val="150000"/>
              </a:lnSpc>
              <a:spcBef>
                <a:spcPct val="0"/>
              </a:spcBef>
            </a:pPr>
            <a:endParaRPr lang="en-US" sz="2400" b="0" dirty="0">
              <a:solidFill>
                <a:srgbClr val="000000"/>
              </a:solidFill>
              <a:latin typeface="Times New Roman" panose="02020603050405020304" pitchFamily="18" charset="0"/>
              <a:ea typeface="Now"/>
              <a:cs typeface="Times New Roman" panose="02020603050405020304" pitchFamily="18" charset="0"/>
              <a:sym typeface="Now"/>
            </a:endParaRPr>
          </a:p>
          <a:p>
            <a:pPr lvl="0" algn="just" rtl="0" eaLnBrk="0" fontAlgn="base" hangingPunct="0">
              <a:lnSpc>
                <a:spcPct val="150000"/>
              </a:lnSpc>
              <a:spcBef>
                <a:spcPct val="0"/>
              </a:spcBef>
              <a:spcAft>
                <a:spcPct val="0"/>
              </a:spcAft>
            </a:pPr>
            <a:endParaRPr lang="en-US" altLang="en-US" sz="2400" b="0" dirty="0">
              <a:latin typeface="Times New Roman" panose="02020603050405020304" pitchFamily="18" charset="0"/>
              <a:cs typeface="Times New Roman" panose="02020603050405020304" pitchFamily="18" charset="0"/>
              <a:sym typeface="+mn-ea"/>
            </a:endParaRPr>
          </a:p>
          <a:p>
            <a:pPr marL="457200" lvl="0" indent="-457200" algn="just" rtl="0" eaLnBrk="0" fontAlgn="base" hangingPunct="0">
              <a:lnSpc>
                <a:spcPct val="150000"/>
              </a:lnSpc>
              <a:spcBef>
                <a:spcPct val="0"/>
              </a:spcBef>
              <a:spcAft>
                <a:spcPct val="0"/>
              </a:spcAft>
              <a:buAutoNum type="arabicPeriod" startAt="11"/>
            </a:pPr>
            <a:endParaRPr lang="en-US" altLang="en-US" sz="2400" b="0" dirty="0">
              <a:latin typeface="Times New Roman" panose="02020603050405020304" pitchFamily="18" charset="0"/>
              <a:cs typeface="Times New Roman" panose="02020603050405020304" pitchFamily="18" charset="0"/>
              <a:sym typeface="+mn-ea"/>
            </a:endParaRPr>
          </a:p>
          <a:p>
            <a:pPr marL="457200" lvl="0" indent="-457200" algn="just" rtl="0" eaLnBrk="0" fontAlgn="base" hangingPunct="0">
              <a:lnSpc>
                <a:spcPct val="150000"/>
              </a:lnSpc>
              <a:spcBef>
                <a:spcPct val="0"/>
              </a:spcBef>
              <a:spcAft>
                <a:spcPct val="0"/>
              </a:spcAft>
              <a:buAutoNum type="arabicPeriod" startAt="11"/>
            </a:pPr>
            <a:endParaRPr lang="en-US" altLang="en-US" sz="2400" b="0" dirty="0">
              <a:latin typeface="Times New Roman" panose="02020603050405020304" pitchFamily="18" charset="0"/>
              <a:cs typeface="Times New Roman" panose="02020603050405020304" pitchFamily="18" charset="0"/>
              <a:sym typeface="+mn-ea"/>
            </a:endParaRPr>
          </a:p>
          <a:p>
            <a:endParaRPr lang="en-US" sz="2000" dirty="0"/>
          </a:p>
        </p:txBody>
      </p:sp>
      <p:sp>
        <p:nvSpPr>
          <p:cNvPr id="2" name="Date Placeholder 1"/>
          <p:cNvSpPr>
            <a:spLocks noGrp="1"/>
          </p:cNvSpPr>
          <p:nvPr>
            <p:ph type="dt" sz="half" idx="6"/>
          </p:nvPr>
        </p:nvSpPr>
        <p:spPr>
          <a:xfrm>
            <a:off x="878715" y="6586390"/>
            <a:ext cx="803400" cy="309957"/>
          </a:xfrm>
        </p:spPr>
        <p:txBody>
          <a:bodyPr/>
          <a:lstStyle/>
          <a:p>
            <a:pPr marL="12700">
              <a:lnSpc>
                <a:spcPts val="1240"/>
              </a:lnSpc>
            </a:pPr>
            <a:r>
              <a:rPr lang="en-US" spc="-10" dirty="0"/>
              <a:t>13/01/2026</a:t>
            </a:r>
          </a:p>
          <a:p>
            <a:pPr marL="12700">
              <a:lnSpc>
                <a:spcPts val="1240"/>
              </a:lnSpc>
            </a:pPr>
            <a:endParaRPr lang="en-US" spc="-10" dirty="0"/>
          </a:p>
        </p:txBody>
      </p:sp>
      <p:sp>
        <p:nvSpPr>
          <p:cNvPr id="4" name="Footer Placeholder 3"/>
          <p:cNvSpPr>
            <a:spLocks noGrp="1"/>
          </p:cNvSpPr>
          <p:nvPr>
            <p:ph type="ftr" sz="quarter" idx="5"/>
          </p:nvPr>
        </p:nvSpPr>
        <p:spPr>
          <a:xfrm>
            <a:off x="5097271" y="6510191"/>
            <a:ext cx="389432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5" name="Slide Number Placeholder 4"/>
          <p:cNvSpPr>
            <a:spLocks noGrp="1"/>
          </p:cNvSpPr>
          <p:nvPr>
            <p:ph type="sldNum" sz="quarter" idx="7"/>
          </p:nvPr>
        </p:nvSpPr>
        <p:spPr/>
        <p:txBody>
          <a:bodyPr/>
          <a:lstStyle/>
          <a:p>
            <a:pPr marL="115570">
              <a:lnSpc>
                <a:spcPts val="1240"/>
              </a:lnSpc>
            </a:pPr>
            <a:fld id="{81D60167-4931-47E6-BA6A-407CBD079E47}" type="slidenum">
              <a:rPr lang="en-IN" spc="-50" smtClean="0"/>
              <a:t>5</a:t>
            </a:fld>
            <a:endParaRPr lang="en-IN" spc="-50" dirty="0"/>
          </a:p>
        </p:txBody>
      </p:sp>
      <p:sp>
        <p:nvSpPr>
          <p:cNvPr id="7" name="TextBox 6">
            <a:extLst>
              <a:ext uri="{FF2B5EF4-FFF2-40B4-BE49-F238E27FC236}">
                <a16:creationId xmlns:a16="http://schemas.microsoft.com/office/drawing/2014/main" id="{0AE13E5D-04F2-86CA-8F82-88C244EEE729}"/>
              </a:ext>
            </a:extLst>
          </p:cNvPr>
          <p:cNvSpPr txBox="1"/>
          <p:nvPr/>
        </p:nvSpPr>
        <p:spPr>
          <a:xfrm>
            <a:off x="6781800" y="76199"/>
            <a:ext cx="4419600" cy="4044697"/>
          </a:xfrm>
          <a:prstGeom prst="rect">
            <a:avLst/>
          </a:prstGeom>
        </p:spPr>
        <p:txBody>
          <a:bodyPr vert="horz" wrap="square" lIns="0" tIns="12700" rIns="0" bIns="0" rtlCol="0">
            <a:spAutoFit/>
          </a:bodyPr>
          <a:lstStyle/>
          <a:p>
            <a:pPr>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11. Testing</a:t>
            </a:r>
          </a:p>
          <a:p>
            <a:pPr>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12. Results</a:t>
            </a:r>
          </a:p>
          <a:p>
            <a:pPr>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13. Applications</a:t>
            </a:r>
          </a:p>
          <a:p>
            <a:pPr>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14. Timeline</a:t>
            </a:r>
          </a:p>
          <a:p>
            <a:pPr>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15. Future Scope</a:t>
            </a:r>
          </a:p>
          <a:p>
            <a:pPr>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16. Conclusion</a:t>
            </a:r>
          </a:p>
          <a:p>
            <a:pPr>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      References</a:t>
            </a:r>
          </a:p>
          <a:p>
            <a:pPr marL="12700" algn="l">
              <a:lnSpc>
                <a:spcPts val="1240"/>
              </a:lnSpc>
            </a:pPr>
            <a:endParaRPr lang="en-IN" sz="1000" spc="-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3800" y="76200"/>
            <a:ext cx="3919220" cy="1371600"/>
          </a:xfrm>
          <a:prstGeom prst="rect">
            <a:avLst/>
          </a:prstGeom>
        </p:spPr>
        <p:txBody>
          <a:bodyPr vert="horz" wrap="square" lIns="0" tIns="479425" rIns="0" bIns="0" rtlCol="0">
            <a:noAutofit/>
          </a:bodyPr>
          <a:lstStyle/>
          <a:p>
            <a:pPr marL="622300">
              <a:lnSpc>
                <a:spcPct val="100000"/>
              </a:lnSpc>
              <a:spcBef>
                <a:spcPts val="95"/>
              </a:spcBef>
            </a:pPr>
            <a:r>
              <a:rPr lang="en-US" sz="3600" spc="-65" dirty="0"/>
              <a:t>1.</a:t>
            </a:r>
            <a:r>
              <a:rPr sz="3600" spc="-65" dirty="0"/>
              <a:t>Introduction</a:t>
            </a:r>
            <a:endParaRPr sz="3600" dirty="0"/>
          </a:p>
        </p:txBody>
      </p:sp>
      <p:sp>
        <p:nvSpPr>
          <p:cNvPr id="3" name="object 3"/>
          <p:cNvSpPr txBox="1"/>
          <p:nvPr/>
        </p:nvSpPr>
        <p:spPr>
          <a:xfrm>
            <a:off x="1321297" y="1600200"/>
            <a:ext cx="9906001" cy="3269806"/>
          </a:xfrm>
          <a:prstGeom prst="rect">
            <a:avLst/>
          </a:prstGeom>
        </p:spPr>
        <p:txBody>
          <a:bodyPr vert="horz" wrap="square" lIns="0" tIns="12065" rIns="0" bIns="0" rtlCol="0">
            <a:spAutoFit/>
          </a:bodyPr>
          <a:lstStyle/>
          <a:p>
            <a:pPr algn="just">
              <a:lnSpc>
                <a:spcPct val="150000"/>
              </a:lnSpc>
              <a:spcBef>
                <a:spcPct val="0"/>
              </a:spcBef>
            </a:pPr>
            <a:r>
              <a:rPr lang="en-US" sz="2400" dirty="0">
                <a:solidFill>
                  <a:srgbClr val="000000"/>
                </a:solidFill>
                <a:latin typeface="Times New Roman" panose="02020603050405020304" pitchFamily="18" charset="0"/>
                <a:ea typeface="Now"/>
                <a:cs typeface="Times New Roman" panose="02020603050405020304" pitchFamily="18" charset="0"/>
                <a:sym typeface="Now"/>
              </a:rPr>
              <a:t>Smart Bus Track is an intelligent transportation platform designed to enhance the daily commuting experience of college students and staff through real-time tracking and smart notifications. The system leverages GPS, IoT, and deep learning algorithms to improve functionality, safety, and operational efficiency. It connects students, drivers, and administrators through an integrated application for seamless transport management.</a:t>
            </a:r>
          </a:p>
        </p:txBody>
      </p:sp>
      <p:sp>
        <p:nvSpPr>
          <p:cNvPr id="5" name="object 5"/>
          <p:cNvSpPr txBox="1">
            <a:spLocks noGrp="1"/>
          </p:cNvSpPr>
          <p:nvPr>
            <p:ph type="ftr" sz="quarter" idx="5"/>
          </p:nvPr>
        </p:nvSpPr>
        <p:spPr>
          <a:xfrm>
            <a:off x="3276600" y="6447704"/>
            <a:ext cx="5333999" cy="369332"/>
          </a:xfrm>
          <a:prstGeom prst="rect">
            <a:avLst/>
          </a:prstGeom>
        </p:spPr>
        <p:txBody>
          <a:bodyPr vert="horz" wrap="square" lIns="0" tIns="0" rIns="0" bIns="0" rtlCol="0">
            <a:spAutoFit/>
          </a:bodyPr>
          <a:lstStyle/>
          <a:p>
            <a:pPr algn="ct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algn="ctr"/>
            <a:endParaRPr lang="en-US" sz="1200" i="0" u="none" strike="noStrike" baseline="0" dirty="0">
              <a:solidFill>
                <a:srgbClr val="000000"/>
              </a:solidFill>
              <a:latin typeface="Times New Roman" panose="02020603050405020304" pitchFamily="18" charset="0"/>
            </a:endParaRPr>
          </a:p>
        </p:txBody>
      </p:sp>
      <p:sp>
        <p:nvSpPr>
          <p:cNvPr id="6" name="object 6"/>
          <p:cNvSpPr txBox="1">
            <a:spLocks noGrp="1"/>
          </p:cNvSpPr>
          <p:nvPr>
            <p:ph type="dt" sz="half" idx="6"/>
          </p:nvPr>
        </p:nvSpPr>
        <p:spPr>
          <a:xfrm>
            <a:off x="916939" y="6464680"/>
            <a:ext cx="765175" cy="309957"/>
          </a:xfrm>
          <a:prstGeom prst="rect">
            <a:avLst/>
          </a:prstGeom>
        </p:spPr>
        <p:txBody>
          <a:bodyPr vert="horz" wrap="square" lIns="0" tIns="0" rIns="0" bIns="0" rtlCol="0">
            <a:spAutoFit/>
          </a:bodyPr>
          <a:lstStyle/>
          <a:p>
            <a:pPr marL="12700">
              <a:lnSpc>
                <a:spcPts val="1240"/>
              </a:lnSpc>
            </a:pPr>
            <a:r>
              <a:rPr lang="en-US" spc="-10" dirty="0"/>
              <a:t>13/01/2026</a:t>
            </a:r>
          </a:p>
          <a:p>
            <a:pPr marL="12700">
              <a:lnSpc>
                <a:spcPts val="1240"/>
              </a:lnSpc>
            </a:pPr>
            <a:endParaRPr lang="en-US" spc="-10" dirty="0"/>
          </a:p>
        </p:txBody>
      </p:sp>
      <p:sp>
        <p:nvSpPr>
          <p:cNvPr id="4" name="Slide Number Placeholder 3"/>
          <p:cNvSpPr>
            <a:spLocks noGrp="1"/>
          </p:cNvSpPr>
          <p:nvPr>
            <p:ph type="sldNum" sz="quarter" idx="7"/>
          </p:nvPr>
        </p:nvSpPr>
        <p:spPr/>
        <p:txBody>
          <a:bodyPr/>
          <a:lstStyle/>
          <a:p>
            <a:pPr marL="115570">
              <a:lnSpc>
                <a:spcPts val="1240"/>
              </a:lnSpc>
            </a:pPr>
            <a:fld id="{81D60167-4931-47E6-BA6A-407CBD079E47}" type="slidenum">
              <a:rPr lang="en-IN" spc="-50" smtClean="0"/>
              <a:t>6</a:t>
            </a:fld>
            <a:endParaRPr lang="en-IN" spc="-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3200400" y="6447704"/>
            <a:ext cx="5333999" cy="369332"/>
          </a:xfrm>
          <a:prstGeom prst="rect">
            <a:avLst/>
          </a:prstGeom>
        </p:spPr>
        <p:txBody>
          <a:bodyPr vert="horz" wrap="square" lIns="0" tIns="0" rIns="0" bIns="0" rtlCol="0">
            <a:spAutoFit/>
          </a:bodyPr>
          <a:lstStyle/>
          <a:p>
            <a:pPr algn="ct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algn="ctr"/>
            <a:endParaRPr lang="en-US" sz="1200" i="0" u="none" strike="noStrike" baseline="0" dirty="0">
              <a:solidFill>
                <a:srgbClr val="000000"/>
              </a:solidFill>
              <a:latin typeface="Times New Roman" panose="02020603050405020304" pitchFamily="18" charset="0"/>
            </a:endParaRPr>
          </a:p>
        </p:txBody>
      </p:sp>
      <p:sp>
        <p:nvSpPr>
          <p:cNvPr id="5" name="object 5"/>
          <p:cNvSpPr txBox="1">
            <a:spLocks noGrp="1"/>
          </p:cNvSpPr>
          <p:nvPr>
            <p:ph type="dt" sz="half" idx="6"/>
          </p:nvPr>
        </p:nvSpPr>
        <p:spPr>
          <a:xfrm>
            <a:off x="916939" y="6464680"/>
            <a:ext cx="765175" cy="309957"/>
          </a:xfrm>
          <a:prstGeom prst="rect">
            <a:avLst/>
          </a:prstGeom>
        </p:spPr>
        <p:txBody>
          <a:bodyPr vert="horz" wrap="square" lIns="0" tIns="0" rIns="0" bIns="0" rtlCol="0">
            <a:spAutoFit/>
          </a:bodyPr>
          <a:lstStyle/>
          <a:p>
            <a:pPr marL="12700">
              <a:lnSpc>
                <a:spcPts val="1240"/>
              </a:lnSpc>
            </a:pPr>
            <a:r>
              <a:rPr lang="en-US" spc="-10" dirty="0"/>
              <a:t>13/01/2026</a:t>
            </a:r>
          </a:p>
          <a:p>
            <a:pPr marL="12700">
              <a:lnSpc>
                <a:spcPts val="1240"/>
              </a:lnSpc>
            </a:pPr>
            <a:endParaRPr lang="en-US" spc="-10" dirty="0"/>
          </a:p>
        </p:txBody>
      </p:sp>
      <p:sp>
        <p:nvSpPr>
          <p:cNvPr id="2" name="object 2"/>
          <p:cNvSpPr txBox="1">
            <a:spLocks noGrp="1"/>
          </p:cNvSpPr>
          <p:nvPr>
            <p:ph type="title"/>
          </p:nvPr>
        </p:nvSpPr>
        <p:spPr>
          <a:xfrm>
            <a:off x="3933190" y="-43180"/>
            <a:ext cx="4906645" cy="989965"/>
          </a:xfrm>
          <a:prstGeom prst="rect">
            <a:avLst/>
          </a:prstGeom>
        </p:spPr>
        <p:txBody>
          <a:bodyPr vert="horz" wrap="square" lIns="0" tIns="436499" rIns="0" bIns="0" rtlCol="0">
            <a:spAutoFit/>
          </a:bodyPr>
          <a:lstStyle/>
          <a:p>
            <a:pPr marL="12700">
              <a:lnSpc>
                <a:spcPct val="100000"/>
              </a:lnSpc>
              <a:spcBef>
                <a:spcPts val="105"/>
              </a:spcBef>
            </a:pPr>
            <a:r>
              <a:rPr lang="en-US" sz="3600" dirty="0"/>
              <a:t>2.</a:t>
            </a:r>
            <a:r>
              <a:rPr sz="3600" dirty="0"/>
              <a:t>Problem</a:t>
            </a:r>
            <a:r>
              <a:rPr sz="3600" spc="-135" dirty="0"/>
              <a:t> </a:t>
            </a:r>
            <a:r>
              <a:rPr lang="en-US" sz="3600" spc="-10" dirty="0"/>
              <a:t>S</a:t>
            </a:r>
            <a:r>
              <a:rPr sz="3600" spc="-10" dirty="0"/>
              <a:t>tatement</a:t>
            </a:r>
            <a:endParaRPr sz="3600" dirty="0"/>
          </a:p>
        </p:txBody>
      </p:sp>
      <p:sp>
        <p:nvSpPr>
          <p:cNvPr id="3" name="object 3"/>
          <p:cNvSpPr txBox="1"/>
          <p:nvPr/>
        </p:nvSpPr>
        <p:spPr>
          <a:xfrm>
            <a:off x="667612" y="1573784"/>
            <a:ext cx="10914787" cy="2228815"/>
          </a:xfrm>
          <a:prstGeom prst="rect">
            <a:avLst/>
          </a:prstGeom>
        </p:spPr>
        <p:txBody>
          <a:bodyPr vert="horz" wrap="square" lIns="0" tIns="12700" rIns="0" bIns="0"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This Project aims to design and develop a “</a:t>
            </a:r>
            <a:r>
              <a:rPr lang="en-US" sz="2400" b="1" dirty="0">
                <a:latin typeface="Times New Roman" panose="02020603050405020304" pitchFamily="18" charset="0"/>
                <a:cs typeface="Times New Roman" panose="02020603050405020304" pitchFamily="18" charset="0"/>
              </a:rPr>
              <a:t>INTELLIGENT TARNSPORTATION SYSTEM USING DEEP LEARNING</a:t>
            </a:r>
            <a:r>
              <a:rPr lang="en-US" sz="2400" dirty="0">
                <a:latin typeface="Times New Roman" panose="02020603050405020304" pitchFamily="18" charset="0"/>
                <a:cs typeface="Times New Roman" panose="02020603050405020304" pitchFamily="18" charset="0"/>
              </a:rPr>
              <a:t>” that uses IoT and deep learning to track college buses in real-time, predict delays, and notify students through a mobile/web app  reducing waiting time and preventing missed buses due to unexpected delays.</a:t>
            </a:r>
            <a:endParaRPr lang="en-IN" sz="24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7"/>
          </p:nvPr>
        </p:nvSpPr>
        <p:spPr/>
        <p:txBody>
          <a:bodyPr/>
          <a:lstStyle/>
          <a:p>
            <a:pPr marL="115570">
              <a:lnSpc>
                <a:spcPts val="1240"/>
              </a:lnSpc>
            </a:pPr>
            <a:fld id="{81D60167-4931-47E6-BA6A-407CBD079E47}" type="slidenum">
              <a:rPr lang="en-IN" spc="-50" smtClean="0"/>
              <a:t>7</a:t>
            </a:fld>
            <a:endParaRPr lang="en-IN" spc="-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xfrm>
            <a:off x="916939" y="6464680"/>
            <a:ext cx="765175" cy="309957"/>
          </a:xfrm>
          <a:prstGeom prst="rect">
            <a:avLst/>
          </a:prstGeom>
        </p:spPr>
        <p:txBody>
          <a:bodyPr vert="horz" wrap="square" lIns="0" tIns="0" rIns="0" bIns="0" rtlCol="0">
            <a:spAutoFit/>
          </a:bodyPr>
          <a:lstStyle/>
          <a:p>
            <a:pPr marL="12700">
              <a:lnSpc>
                <a:spcPts val="1240"/>
              </a:lnSpc>
            </a:pPr>
            <a:r>
              <a:rPr lang="en-US" spc="-10" dirty="0"/>
              <a:t>13/01/2026</a:t>
            </a:r>
          </a:p>
          <a:p>
            <a:pPr marL="12700">
              <a:lnSpc>
                <a:spcPts val="1240"/>
              </a:lnSpc>
            </a:pPr>
            <a:endParaRPr lang="en-US"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8</a:t>
            </a:fld>
            <a:endParaRPr spc="-50" dirty="0"/>
          </a:p>
        </p:txBody>
      </p:sp>
      <p:sp>
        <p:nvSpPr>
          <p:cNvPr id="2" name="object 2"/>
          <p:cNvSpPr txBox="1">
            <a:spLocks noGrp="1"/>
          </p:cNvSpPr>
          <p:nvPr>
            <p:ph type="title"/>
          </p:nvPr>
        </p:nvSpPr>
        <p:spPr>
          <a:xfrm>
            <a:off x="3505200" y="245831"/>
            <a:ext cx="3919220" cy="923925"/>
          </a:xfrm>
          <a:prstGeom prst="rect">
            <a:avLst/>
          </a:prstGeom>
        </p:spPr>
        <p:txBody>
          <a:bodyPr vert="horz" wrap="square" lIns="0" tIns="370586" rIns="0" bIns="0" rtlCol="0">
            <a:spAutoFit/>
          </a:bodyPr>
          <a:lstStyle/>
          <a:p>
            <a:pPr marL="851535">
              <a:lnSpc>
                <a:spcPct val="100000"/>
              </a:lnSpc>
              <a:spcBef>
                <a:spcPts val="100"/>
              </a:spcBef>
            </a:pPr>
            <a:r>
              <a:rPr lang="en-US" sz="3600" spc="-10" dirty="0"/>
              <a:t>3.</a:t>
            </a:r>
            <a:r>
              <a:rPr sz="3600" spc="-10" dirty="0"/>
              <a:t>Objectives</a:t>
            </a:r>
            <a:endParaRPr sz="3600" dirty="0"/>
          </a:p>
        </p:txBody>
      </p:sp>
      <p:sp>
        <p:nvSpPr>
          <p:cNvPr id="3" name="object 3"/>
          <p:cNvSpPr txBox="1"/>
          <p:nvPr/>
        </p:nvSpPr>
        <p:spPr>
          <a:xfrm>
            <a:off x="1066800" y="1169756"/>
            <a:ext cx="10352848" cy="3023585"/>
          </a:xfrm>
          <a:prstGeom prst="rect">
            <a:avLst/>
          </a:prstGeom>
        </p:spPr>
        <p:txBody>
          <a:bodyPr vert="horz" wrap="square" lIns="0" tIns="12065" rIns="0" bIns="0" rtlCol="0">
            <a:spAutoFit/>
          </a:bodyPr>
          <a:lstStyle/>
          <a:p>
            <a:pPr marL="285750" indent="-285750" algn="just">
              <a:buFont typeface="Arial" panose="020B0604020202020204" pitchFamily="34" charset="0"/>
              <a:buChar char="•"/>
            </a:pPr>
            <a:endParaRPr lang="en-IN" sz="2000" b="0" i="0" u="none" strike="noStrike" baseline="0" dirty="0">
              <a:solidFill>
                <a:srgbClr val="000000"/>
              </a:solidFill>
              <a:latin typeface="Times New Roman" panose="02020603050405020304" pitchFamily="18" charset="0"/>
            </a:endParaRPr>
          </a:p>
          <a:p>
            <a:pPr marL="571500" indent="-571500">
              <a:lnSpc>
                <a:spcPct val="150000"/>
              </a:lnSpc>
              <a:buFont typeface="Arial" panose="020B0604020202020204" pitchFamily="34" charset="0"/>
              <a:buChar char="•"/>
            </a:pPr>
            <a:r>
              <a:rPr lang="en-US" sz="2400" dirty="0">
                <a:solidFill>
                  <a:srgbClr val="000000"/>
                </a:solidFill>
                <a:latin typeface="Times New Roman" panose="02020603050405020304" pitchFamily="18" charset="0"/>
                <a:ea typeface="Now"/>
                <a:cs typeface="Times New Roman" panose="02020603050405020304" pitchFamily="18" charset="0"/>
                <a:sym typeface="Now"/>
              </a:rPr>
              <a:t>To track bus locations in real-time using GPS and IoT devices.</a:t>
            </a:r>
          </a:p>
          <a:p>
            <a:pPr marL="571500" indent="-571500">
              <a:lnSpc>
                <a:spcPct val="150000"/>
              </a:lnSpc>
              <a:buFont typeface="Arial" panose="020B0604020202020204" pitchFamily="34" charset="0"/>
              <a:buChar char="•"/>
            </a:pPr>
            <a:r>
              <a:rPr lang="en-US" sz="2400" dirty="0">
                <a:solidFill>
                  <a:srgbClr val="000000"/>
                </a:solidFill>
                <a:latin typeface="Times New Roman" panose="02020603050405020304" pitchFamily="18" charset="0"/>
                <a:ea typeface="Now"/>
                <a:cs typeface="Times New Roman" panose="02020603050405020304" pitchFamily="18" charset="0"/>
                <a:sym typeface="Now"/>
              </a:rPr>
              <a:t>To save time for users.</a:t>
            </a:r>
          </a:p>
          <a:p>
            <a:pPr marL="571500" indent="-571500">
              <a:lnSpc>
                <a:spcPct val="150000"/>
              </a:lnSpc>
              <a:buFont typeface="Arial" panose="020B0604020202020204" pitchFamily="34" charset="0"/>
              <a:buChar char="•"/>
            </a:pPr>
            <a:r>
              <a:rPr lang="en-US" sz="2400" dirty="0">
                <a:solidFill>
                  <a:srgbClr val="000000"/>
                </a:solidFill>
                <a:latin typeface="Times New Roman" panose="02020603050405020304" pitchFamily="18" charset="0"/>
                <a:ea typeface="Now"/>
                <a:cs typeface="Times New Roman" panose="02020603050405020304" pitchFamily="18" charset="0"/>
                <a:sym typeface="Now"/>
              </a:rPr>
              <a:t>To predict bus delays using deep learning algorithms.</a:t>
            </a:r>
          </a:p>
          <a:p>
            <a:pPr marL="571500" indent="-571500">
              <a:lnSpc>
                <a:spcPct val="150000"/>
              </a:lnSpc>
              <a:buFont typeface="Arial" panose="020B0604020202020204" pitchFamily="34" charset="0"/>
              <a:buChar char="•"/>
            </a:pPr>
            <a:r>
              <a:rPr lang="en-US" sz="2400" dirty="0">
                <a:solidFill>
                  <a:srgbClr val="000000"/>
                </a:solidFill>
                <a:latin typeface="Times New Roman" panose="02020603050405020304" pitchFamily="18" charset="0"/>
                <a:ea typeface="Now"/>
                <a:cs typeface="Times New Roman" panose="02020603050405020304" pitchFamily="18" charset="0"/>
                <a:sym typeface="Now"/>
              </a:rPr>
              <a:t>To send smart notifications to users about delays and arrival times.</a:t>
            </a:r>
          </a:p>
          <a:p>
            <a:pPr marL="571500" indent="-571500">
              <a:lnSpc>
                <a:spcPct val="150000"/>
              </a:lnSpc>
              <a:spcBef>
                <a:spcPct val="0"/>
              </a:spcBef>
              <a:buFont typeface="Arial" panose="020B0604020202020204" pitchFamily="34" charset="0"/>
              <a:buChar char="•"/>
            </a:pPr>
            <a:r>
              <a:rPr lang="en-US" sz="2400" dirty="0">
                <a:solidFill>
                  <a:srgbClr val="000000"/>
                </a:solidFill>
                <a:latin typeface="Times New Roman" panose="02020603050405020304" pitchFamily="18" charset="0"/>
                <a:ea typeface="Now"/>
                <a:cs typeface="Times New Roman" panose="02020603050405020304" pitchFamily="18" charset="0"/>
                <a:sym typeface="Now"/>
              </a:rPr>
              <a:t>To develop a user-friendly app for live tracking and update.</a:t>
            </a:r>
          </a:p>
        </p:txBody>
      </p:sp>
      <p:sp>
        <p:nvSpPr>
          <p:cNvPr id="7" name="Footer Placeholder 6"/>
          <p:cNvSpPr>
            <a:spLocks noGrp="1"/>
          </p:cNvSpPr>
          <p:nvPr>
            <p:ph type="ftr" sz="quarter" idx="5"/>
          </p:nvPr>
        </p:nvSpPr>
        <p:spPr>
          <a:xfrm>
            <a:off x="4495801" y="6400800"/>
            <a:ext cx="4724400" cy="364202"/>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24" y="317500"/>
            <a:ext cx="5795010" cy="676910"/>
          </a:xfrm>
        </p:spPr>
        <p:txBody>
          <a:bodyPr wrap="square"/>
          <a:lstStyle/>
          <a:p>
            <a:r>
              <a:rPr lang="en-US" altLang="en-IN" sz="4000" b="1" i="0" u="none" strike="noStrike" baseline="0" dirty="0">
                <a:solidFill>
                  <a:srgbClr val="00B0F0"/>
                </a:solidFill>
                <a:latin typeface="Times New Roman" panose="02020603050405020304" pitchFamily="18" charset="0"/>
              </a:rPr>
              <a:t>  4.</a:t>
            </a:r>
            <a:r>
              <a:rPr lang="en-IN" sz="4000" b="1" i="0" u="none" strike="noStrike" baseline="0" dirty="0">
                <a:solidFill>
                  <a:srgbClr val="00B0F0"/>
                </a:solidFill>
                <a:latin typeface="Times New Roman" panose="02020603050405020304" pitchFamily="18" charset="0"/>
              </a:rPr>
              <a:t>Scope of the Project</a:t>
            </a:r>
            <a:r>
              <a:rPr lang="en-IN" b="1" i="0" u="none" strike="noStrike" baseline="0" dirty="0">
                <a:solidFill>
                  <a:srgbClr val="00B0F0"/>
                </a:solidFill>
                <a:latin typeface="Times New Roman" panose="02020603050405020304" pitchFamily="18" charset="0"/>
              </a:rPr>
              <a:t> </a:t>
            </a:r>
          </a:p>
        </p:txBody>
      </p:sp>
      <p:sp>
        <p:nvSpPr>
          <p:cNvPr id="4" name="Text Box 3"/>
          <p:cNvSpPr txBox="1"/>
          <p:nvPr/>
        </p:nvSpPr>
        <p:spPr>
          <a:xfrm>
            <a:off x="1272540" y="6384925"/>
            <a:ext cx="1769745" cy="257810"/>
          </a:xfrm>
          <a:prstGeom prst="rect">
            <a:avLst/>
          </a:prstGeom>
          <a:noFill/>
        </p:spPr>
        <p:txBody>
          <a:bodyPr wrap="square" rtlCol="0">
            <a:noAutofit/>
          </a:bodyPr>
          <a:lstStyle/>
          <a:p>
            <a:endParaRPr lang="en-US" dirty="0"/>
          </a:p>
        </p:txBody>
      </p:sp>
      <p:sp>
        <p:nvSpPr>
          <p:cNvPr id="7" name="Date Placeholder 6"/>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8" name="Footer Placeholder 7"/>
          <p:cNvSpPr>
            <a:spLocks noGrp="1"/>
          </p:cNvSpPr>
          <p:nvPr>
            <p:ph type="ftr" sz="quarter" idx="5"/>
          </p:nvPr>
        </p:nvSpPr>
        <p:spPr>
          <a:xfrm>
            <a:off x="4495800" y="6464216"/>
            <a:ext cx="4419600"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9" name="Slide Number Placeholder 8"/>
          <p:cNvSpPr>
            <a:spLocks noGrp="1"/>
          </p:cNvSpPr>
          <p:nvPr>
            <p:ph type="sldNum" sz="quarter" idx="7"/>
          </p:nvPr>
        </p:nvSpPr>
        <p:spPr/>
        <p:txBody>
          <a:bodyPr/>
          <a:lstStyle/>
          <a:p>
            <a:pPr marL="115570">
              <a:lnSpc>
                <a:spcPts val="1240"/>
              </a:lnSpc>
            </a:pPr>
            <a:fld id="{81D60167-4931-47E6-BA6A-407CBD079E47}" type="slidenum">
              <a:rPr lang="en-IN" spc="-50" smtClean="0"/>
              <a:t>9</a:t>
            </a:fld>
            <a:endParaRPr lang="en-IN" spc="-50" dirty="0"/>
          </a:p>
        </p:txBody>
      </p:sp>
      <p:pic>
        <p:nvPicPr>
          <p:cNvPr id="5" name="Picture 4">
            <a:extLst>
              <a:ext uri="{FF2B5EF4-FFF2-40B4-BE49-F238E27FC236}">
                <a16:creationId xmlns:a16="http://schemas.microsoft.com/office/drawing/2014/main" id="{235BC270-4DAB-8417-6128-9CD8201FCF36}"/>
              </a:ext>
            </a:extLst>
          </p:cNvPr>
          <p:cNvPicPr>
            <a:picLocks noChangeAspect="1"/>
          </p:cNvPicPr>
          <p:nvPr/>
        </p:nvPicPr>
        <p:blipFill>
          <a:blip r:embed="rId2">
            <a:extLst>
              <a:ext uri="{28A0092B-C50C-407E-A947-70E740481C1C}">
                <a14:useLocalDpi xmlns:a14="http://schemas.microsoft.com/office/drawing/2010/main" val="0"/>
              </a:ext>
            </a:extLst>
          </a:blip>
          <a:srcRect t="10103" b="4430"/>
          <a:stretch/>
        </p:blipFill>
        <p:spPr>
          <a:xfrm>
            <a:off x="381001" y="1166619"/>
            <a:ext cx="11506200" cy="53103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3048000" y="6447704"/>
            <a:ext cx="5562599" cy="369332"/>
          </a:xfrm>
          <a:prstGeom prst="rect">
            <a:avLst/>
          </a:prstGeom>
        </p:spPr>
        <p:txBody>
          <a:bodyPr vert="horz" wrap="square" lIns="0" tIns="0" rIns="0" bIns="0" rtlCol="0">
            <a:spAutoFit/>
          </a:bodyPr>
          <a:lstStyle/>
          <a:p>
            <a:pPr algn="ct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algn="ctr"/>
            <a:r>
              <a:rPr lang="en-US" sz="1200" b="1" dirty="0">
                <a:latin typeface="Times New Roman" panose="02020603050405020304" pitchFamily="18" charset="0"/>
                <a:cs typeface="Times New Roman" panose="02020603050405020304" pitchFamily="18" charset="0"/>
              </a:rPr>
              <a:t> </a:t>
            </a:r>
            <a:endParaRPr lang="en-US" sz="1200" i="0" u="none" strike="noStrike" baseline="0" dirty="0">
              <a:solidFill>
                <a:srgbClr val="000000"/>
              </a:solidFill>
              <a:latin typeface="Times New Roman" panose="02020603050405020304" pitchFamily="18" charset="0"/>
            </a:endParaRPr>
          </a:p>
        </p:txBody>
      </p:sp>
      <p:sp>
        <p:nvSpPr>
          <p:cNvPr id="5" name="object 5"/>
          <p:cNvSpPr txBox="1">
            <a:spLocks noGrp="1"/>
          </p:cNvSpPr>
          <p:nvPr>
            <p:ph type="dt" sz="half" idx="6"/>
          </p:nvPr>
        </p:nvSpPr>
        <p:spPr>
          <a:xfrm>
            <a:off x="916939" y="6464680"/>
            <a:ext cx="765175" cy="309957"/>
          </a:xfrm>
          <a:prstGeom prst="rect">
            <a:avLst/>
          </a:prstGeom>
        </p:spPr>
        <p:txBody>
          <a:bodyPr vert="horz" wrap="square" lIns="0" tIns="0" rIns="0" bIns="0" rtlCol="0">
            <a:spAutoFit/>
          </a:bodyPr>
          <a:lstStyle/>
          <a:p>
            <a:pPr marL="12700">
              <a:lnSpc>
                <a:spcPts val="1240"/>
              </a:lnSpc>
            </a:pPr>
            <a:r>
              <a:rPr lang="en-US" spc="-10" dirty="0"/>
              <a:t>13/01/2026</a:t>
            </a:r>
          </a:p>
          <a:p>
            <a:pPr marL="12700">
              <a:lnSpc>
                <a:spcPts val="1240"/>
              </a:lnSpc>
            </a:pPr>
            <a:endParaRPr lang="en-US" spc="-10" dirty="0"/>
          </a:p>
        </p:txBody>
      </p:sp>
      <p:sp>
        <p:nvSpPr>
          <p:cNvPr id="6" name="object 6"/>
          <p:cNvSpPr txBox="1"/>
          <p:nvPr/>
        </p:nvSpPr>
        <p:spPr>
          <a:xfrm>
            <a:off x="10896854" y="6447704"/>
            <a:ext cx="304546" cy="156068"/>
          </a:xfrm>
          <a:prstGeom prst="rect">
            <a:avLst/>
          </a:prstGeom>
        </p:spPr>
        <p:txBody>
          <a:bodyPr vert="horz" wrap="square" lIns="0" tIns="0" rIns="0" bIns="0" rtlCol="0">
            <a:spAutoFit/>
          </a:bodyPr>
          <a:lstStyle/>
          <a:p>
            <a:pPr marL="38100">
              <a:lnSpc>
                <a:spcPts val="1240"/>
              </a:lnSpc>
            </a:pPr>
            <a:fld id="{81D60167-4931-47E6-BA6A-407CBD079E47}" type="slidenum">
              <a:rPr sz="1200" spc="-50" dirty="0">
                <a:solidFill>
                  <a:srgbClr val="888888"/>
                </a:solidFill>
                <a:latin typeface="Calibri" panose="020F0502020204030204"/>
                <a:cs typeface="Calibri" panose="020F0502020204030204"/>
              </a:rPr>
              <a:t>10</a:t>
            </a:fld>
            <a:endParaRPr sz="1200" dirty="0">
              <a:latin typeface="Calibri" panose="020F0502020204030204"/>
              <a:cs typeface="Calibri" panose="020F0502020204030204"/>
            </a:endParaRPr>
          </a:p>
        </p:txBody>
      </p:sp>
      <p:sp>
        <p:nvSpPr>
          <p:cNvPr id="3" name="TextBox 2">
            <a:extLst>
              <a:ext uri="{FF2B5EF4-FFF2-40B4-BE49-F238E27FC236}">
                <a16:creationId xmlns:a16="http://schemas.microsoft.com/office/drawing/2014/main" id="{A222881E-CFC6-683D-8C63-68021B1B94E6}"/>
              </a:ext>
            </a:extLst>
          </p:cNvPr>
          <p:cNvSpPr txBox="1"/>
          <p:nvPr/>
        </p:nvSpPr>
        <p:spPr>
          <a:xfrm>
            <a:off x="3581400" y="220965"/>
            <a:ext cx="7088932" cy="646331"/>
          </a:xfrm>
          <a:prstGeom prst="rect">
            <a:avLst/>
          </a:prstGeom>
          <a:noFill/>
        </p:spPr>
        <p:txBody>
          <a:bodyPr wrap="square">
            <a:spAutoFit/>
          </a:bodyPr>
          <a:lstStyle/>
          <a:p>
            <a:r>
              <a:rPr lang="en-US" sz="3600" b="1" spc="-85" dirty="0">
                <a:solidFill>
                  <a:srgbClr val="00B0F0"/>
                </a:solidFill>
                <a:latin typeface="Times New Roman" panose="02020603050405020304" pitchFamily="18" charset="0"/>
                <a:cs typeface="Times New Roman" panose="02020603050405020304" pitchFamily="18" charset="0"/>
              </a:rPr>
              <a:t>5.Literature</a:t>
            </a:r>
            <a:r>
              <a:rPr lang="en-US" sz="3600" b="1" spc="-170" dirty="0">
                <a:solidFill>
                  <a:srgbClr val="00B0F0"/>
                </a:solidFill>
                <a:latin typeface="Times New Roman" panose="02020603050405020304" pitchFamily="18" charset="0"/>
                <a:cs typeface="Times New Roman" panose="02020603050405020304" pitchFamily="18" charset="0"/>
              </a:rPr>
              <a:t> </a:t>
            </a:r>
            <a:r>
              <a:rPr lang="en-US" sz="3600" b="1" spc="-55" dirty="0">
                <a:solidFill>
                  <a:srgbClr val="00B0F0"/>
                </a:solidFill>
                <a:latin typeface="Times New Roman" panose="02020603050405020304" pitchFamily="18" charset="0"/>
                <a:cs typeface="Times New Roman" panose="02020603050405020304" pitchFamily="18" charset="0"/>
              </a:rPr>
              <a:t>Survey</a:t>
            </a:r>
            <a:endParaRPr lang="en-IN" sz="3600" b="1" dirty="0">
              <a:solidFill>
                <a:srgbClr val="00B0F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6572403A-FA60-3A8E-E8E9-1D9E2F0A8544}"/>
              </a:ext>
            </a:extLst>
          </p:cNvPr>
          <p:cNvGraphicFramePr>
            <a:graphicFrameLocks noGrp="1"/>
          </p:cNvGraphicFramePr>
          <p:nvPr>
            <p:extLst>
              <p:ext uri="{D42A27DB-BD31-4B8C-83A1-F6EECF244321}">
                <p14:modId xmlns:p14="http://schemas.microsoft.com/office/powerpoint/2010/main" val="2345936451"/>
              </p:ext>
            </p:extLst>
          </p:nvPr>
        </p:nvGraphicFramePr>
        <p:xfrm>
          <a:off x="266700" y="857501"/>
          <a:ext cx="11658599" cy="5488236"/>
        </p:xfrm>
        <a:graphic>
          <a:graphicData uri="http://schemas.openxmlformats.org/drawingml/2006/table">
            <a:tbl>
              <a:tblPr firstRow="1" bandRow="1">
                <a:tableStyleId>{5C22544A-7EE6-4342-B048-85BDC9FD1C3A}</a:tableStyleId>
              </a:tblPr>
              <a:tblGrid>
                <a:gridCol w="3349940">
                  <a:extLst>
                    <a:ext uri="{9D8B030D-6E8A-4147-A177-3AD203B41FA5}">
                      <a16:colId xmlns:a16="http://schemas.microsoft.com/office/drawing/2014/main" val="1260005126"/>
                    </a:ext>
                  </a:extLst>
                </a:gridCol>
                <a:gridCol w="1450660">
                  <a:extLst>
                    <a:ext uri="{9D8B030D-6E8A-4147-A177-3AD203B41FA5}">
                      <a16:colId xmlns:a16="http://schemas.microsoft.com/office/drawing/2014/main" val="3386518812"/>
                    </a:ext>
                  </a:extLst>
                </a:gridCol>
                <a:gridCol w="4234212">
                  <a:extLst>
                    <a:ext uri="{9D8B030D-6E8A-4147-A177-3AD203B41FA5}">
                      <a16:colId xmlns:a16="http://schemas.microsoft.com/office/drawing/2014/main" val="1525671312"/>
                    </a:ext>
                  </a:extLst>
                </a:gridCol>
                <a:gridCol w="2623787">
                  <a:extLst>
                    <a:ext uri="{9D8B030D-6E8A-4147-A177-3AD203B41FA5}">
                      <a16:colId xmlns:a16="http://schemas.microsoft.com/office/drawing/2014/main" val="140722531"/>
                    </a:ext>
                  </a:extLst>
                </a:gridCol>
              </a:tblGrid>
              <a:tr h="583707">
                <a:tc>
                  <a:txBody>
                    <a:bodyPr/>
                    <a:lstStyle/>
                    <a:p>
                      <a:r>
                        <a:rPr lang="en-IN" sz="2000" b="1" dirty="0">
                          <a:latin typeface="Times New Roman" panose="02020603050405020304" pitchFamily="18" charset="0"/>
                          <a:cs typeface="Times New Roman" panose="02020603050405020304" pitchFamily="18" charset="0"/>
                        </a:rPr>
                        <a:t>Author &amp;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Year</a:t>
                      </a:r>
                      <a:endParaRPr lang="en-IN" sz="2000" dirty="0">
                        <a:latin typeface="Times New Roman" panose="02020603050405020304" pitchFamily="18" charset="0"/>
                        <a:cs typeface="Times New Roman" panose="02020603050405020304" pitchFamily="18" charset="0"/>
                      </a:endParaRPr>
                    </a:p>
                  </a:txBody>
                  <a:tcPr anchor="ctr"/>
                </a:tc>
                <a:tc>
                  <a:txBody>
                    <a:bodyPr/>
                    <a:lstStyle/>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Summary</a:t>
                      </a:r>
                    </a:p>
                  </a:txBody>
                  <a:tcPr/>
                </a:tc>
                <a:tc>
                  <a:txBody>
                    <a:bodyPr/>
                    <a:lstStyle/>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Key Findings </a:t>
                      </a:r>
                    </a:p>
                  </a:txBody>
                  <a:tcPr/>
                </a:tc>
                <a:extLst>
                  <a:ext uri="{0D108BD9-81ED-4DB2-BD59-A6C34878D82A}">
                    <a16:rowId xmlns:a16="http://schemas.microsoft.com/office/drawing/2014/main" val="3069426226"/>
                  </a:ext>
                </a:extLst>
              </a:tr>
              <a:tr h="2174996">
                <a:tc>
                  <a:txBody>
                    <a:bodyPr/>
                    <a:lstStyle/>
                    <a:p>
                      <a:pPr algn="just">
                        <a:lnSpc>
                          <a:spcPct val="150000"/>
                        </a:lnSpc>
                        <a:defRPr/>
                      </a:pPr>
                      <a:r>
                        <a:rPr lang="en-IN" sz="2000" dirty="0">
                          <a:latin typeface="Times New Roman" panose="02020603050405020304" pitchFamily="18" charset="0"/>
                          <a:cs typeface="Times New Roman" panose="02020603050405020304" pitchFamily="18" charset="0"/>
                        </a:rPr>
                        <a:t>Narges Rashvand et al.-</a:t>
                      </a:r>
                      <a:r>
                        <a:rPr lang="en-US" sz="2000" dirty="0">
                          <a:latin typeface="Times New Roman" panose="02020603050405020304" pitchFamily="18" charset="0"/>
                          <a:cs typeface="Times New Roman" panose="02020603050405020304" pitchFamily="18" charset="0"/>
                        </a:rPr>
                        <a:t>Real-Time Bus Departure Prediction Using Neural Networks for Smart IoT Public Bus Transit</a:t>
                      </a:r>
                    </a:p>
                  </a:txBody>
                  <a:tcPr marL="190500" marR="190500" marT="190500" marB="190500" anchor="ctr"/>
                </a:tc>
                <a:tc>
                  <a:txBody>
                    <a:bodyPr/>
                    <a:lstStyle/>
                    <a:p>
                      <a:pPr algn="just">
                        <a:lnSpc>
                          <a:spcPts val="2800"/>
                        </a:lnSpc>
                        <a:defRPr/>
                      </a:pPr>
                      <a:r>
                        <a:rPr lang="en-US" sz="2000" dirty="0">
                          <a:solidFill>
                            <a:srgbClr val="000000"/>
                          </a:solidFill>
                          <a:latin typeface="Times New Roman" panose="02020603050405020304" pitchFamily="18" charset="0"/>
                          <a:ea typeface="Della Respira"/>
                          <a:cs typeface="Times New Roman" panose="02020603050405020304" pitchFamily="18" charset="0"/>
                          <a:sym typeface="Della Respira"/>
                        </a:rPr>
                        <a:t>2025</a:t>
                      </a:r>
                      <a:endParaRPr lang="en-US" sz="2000" dirty="0">
                        <a:latin typeface="Times New Roman" panose="02020603050405020304" pitchFamily="18" charset="0"/>
                        <a:cs typeface="Times New Roman" panose="02020603050405020304" pitchFamily="18" charset="0"/>
                      </a:endParaRPr>
                    </a:p>
                  </a:txBody>
                  <a:tcPr marL="190500" marR="190500" marT="190500" marB="190500" anchor="ctr"/>
                </a:tc>
                <a:tc>
                  <a:txBody>
                    <a:bodyPr/>
                    <a:lstStyle/>
                    <a:p>
                      <a:pPr algn="just">
                        <a:lnSpc>
                          <a:spcPct val="150000"/>
                        </a:lnSpc>
                        <a:defRPr/>
                      </a:pPr>
                      <a:r>
                        <a:rPr lang="en-US" sz="2000" dirty="0">
                          <a:latin typeface="Times New Roman" panose="02020603050405020304" pitchFamily="18" charset="0"/>
                          <a:cs typeface="Times New Roman" panose="02020603050405020304" pitchFamily="18" charset="0"/>
                        </a:rPr>
                        <a:t>Uses neural networks and IoT data (GPS, weather, traffic) for accurate prediction of bus departure times.</a:t>
                      </a:r>
                    </a:p>
                  </a:txBody>
                  <a:tcPr marL="190500" marR="190500" marT="190500" marB="190500" anchor="ctr"/>
                </a:tc>
                <a:tc>
                  <a:txBody>
                    <a:bodyPr/>
                    <a:lstStyle/>
                    <a:p>
                      <a:pPr algn="just">
                        <a:lnSpc>
                          <a:spcPct val="150000"/>
                        </a:lnSpc>
                        <a:defRPr/>
                      </a:pPr>
                      <a:r>
                        <a:rPr lang="en-US" sz="2000" dirty="0">
                          <a:latin typeface="Times New Roman" panose="02020603050405020304" pitchFamily="18" charset="0"/>
                          <a:cs typeface="Times New Roman" panose="02020603050405020304" pitchFamily="18" charset="0"/>
                        </a:rPr>
                        <a:t>Predicts departure with under 80 Seconds error; enhances smart transport efficiency.</a:t>
                      </a:r>
                    </a:p>
                  </a:txBody>
                  <a:tcPr marL="190500" marR="190500" marT="190500" marB="190500" anchor="ctr"/>
                </a:tc>
                <a:extLst>
                  <a:ext uri="{0D108BD9-81ED-4DB2-BD59-A6C34878D82A}">
                    <a16:rowId xmlns:a16="http://schemas.microsoft.com/office/drawing/2014/main" val="4274565880"/>
                  </a:ext>
                </a:extLst>
              </a:tr>
              <a:tr h="2174996">
                <a:tc>
                  <a:txBody>
                    <a:bodyPr/>
                    <a:lstStyle/>
                    <a:p>
                      <a:pPr algn="just">
                        <a:lnSpc>
                          <a:spcPct val="150000"/>
                        </a:lnSpc>
                        <a:defRPr/>
                      </a:pPr>
                      <a:r>
                        <a:rPr lang="en-IN" sz="2000" dirty="0">
                          <a:latin typeface="Times New Roman" panose="02020603050405020304" pitchFamily="18" charset="0"/>
                          <a:cs typeface="Times New Roman" panose="02020603050405020304" pitchFamily="18" charset="0"/>
                        </a:rPr>
                        <a:t>Harshada Patil et al.</a:t>
                      </a:r>
                      <a:r>
                        <a:rPr lang="en-US" sz="2000" dirty="0">
                          <a:solidFill>
                            <a:srgbClr val="000000"/>
                          </a:solidFill>
                          <a:latin typeface="Times New Roman" panose="02020603050405020304" pitchFamily="18" charset="0"/>
                          <a:ea typeface="Della Respira"/>
                          <a:cs typeface="Times New Roman" panose="02020603050405020304" pitchFamily="18" charset="0"/>
                          <a:sym typeface="Della Respira"/>
                        </a:rPr>
                        <a:t> – </a:t>
                      </a:r>
                      <a:r>
                        <a:rPr lang="en-IN" sz="2000" dirty="0">
                          <a:latin typeface="Times New Roman" panose="02020603050405020304" pitchFamily="18" charset="0"/>
                          <a:cs typeface="Times New Roman" panose="02020603050405020304" pitchFamily="18" charset="0"/>
                        </a:rPr>
                        <a:t>Bus Tracking System</a:t>
                      </a:r>
                      <a:endParaRPr lang="en-US" sz="2000" dirty="0">
                        <a:latin typeface="Times New Roman" panose="02020603050405020304" pitchFamily="18" charset="0"/>
                        <a:cs typeface="Times New Roman" panose="02020603050405020304" pitchFamily="18" charset="0"/>
                      </a:endParaRPr>
                    </a:p>
                  </a:txBody>
                  <a:tcPr marL="190500" marR="190500" marT="190500" marB="190500" anchor="ctr"/>
                </a:tc>
                <a:tc>
                  <a:txBody>
                    <a:bodyPr/>
                    <a:lstStyle/>
                    <a:p>
                      <a:pPr algn="just">
                        <a:lnSpc>
                          <a:spcPts val="2800"/>
                        </a:lnSpc>
                        <a:defRPr/>
                      </a:pPr>
                      <a:r>
                        <a:rPr lang="en-US" sz="2000" dirty="0">
                          <a:solidFill>
                            <a:srgbClr val="000000"/>
                          </a:solidFill>
                          <a:latin typeface="Times New Roman" panose="02020603050405020304" pitchFamily="18" charset="0"/>
                          <a:ea typeface="Della Respira"/>
                          <a:cs typeface="Times New Roman" panose="02020603050405020304" pitchFamily="18" charset="0"/>
                          <a:sym typeface="Della Respira"/>
                        </a:rPr>
                        <a:t>2025</a:t>
                      </a:r>
                      <a:endParaRPr lang="en-US" sz="2000" dirty="0">
                        <a:latin typeface="Times New Roman" panose="02020603050405020304" pitchFamily="18" charset="0"/>
                        <a:cs typeface="Times New Roman" panose="02020603050405020304" pitchFamily="18" charset="0"/>
                      </a:endParaRPr>
                    </a:p>
                  </a:txBody>
                  <a:tcPr marL="190500" marR="190500" marT="190500" marB="190500" anchor="ctr"/>
                </a:tc>
                <a:tc>
                  <a:txBody>
                    <a:bodyPr/>
                    <a:lstStyle/>
                    <a:p>
                      <a:pPr algn="just">
                        <a:lnSpc>
                          <a:spcPct val="150000"/>
                        </a:lnSpc>
                        <a:defRPr/>
                      </a:pPr>
                      <a:r>
                        <a:rPr lang="en-US" sz="2000" dirty="0">
                          <a:latin typeface="Times New Roman" panose="02020603050405020304" pitchFamily="18" charset="0"/>
                          <a:cs typeface="Times New Roman" panose="02020603050405020304" pitchFamily="18" charset="0"/>
                        </a:rPr>
                        <a:t>Developed a GPS-enabled web platform for live bus tracking and ticket booking for MSRTC buses.</a:t>
                      </a:r>
                    </a:p>
                  </a:txBody>
                  <a:tcPr marL="190500" marR="190500" marT="190500" marB="190500" anchor="ctr"/>
                </a:tc>
                <a:tc>
                  <a:txBody>
                    <a:bodyPr/>
                    <a:lstStyle/>
                    <a:p>
                      <a:pPr algn="l">
                        <a:lnSpc>
                          <a:spcPct val="150000"/>
                        </a:lnSpc>
                        <a:defRPr/>
                      </a:pPr>
                      <a:r>
                        <a:rPr lang="en-US" sz="2000" dirty="0">
                          <a:latin typeface="Times New Roman" panose="02020603050405020304" pitchFamily="18" charset="0"/>
                          <a:cs typeface="Times New Roman" panose="02020603050405020304" pitchFamily="18" charset="0"/>
                        </a:rPr>
                        <a:t>Enhances commuter convenience through real-time updates and admin control.</a:t>
                      </a:r>
                    </a:p>
                  </a:txBody>
                  <a:tcPr marL="190500" marR="190500" marT="190500" marB="190500" anchor="ctr"/>
                </a:tc>
                <a:extLst>
                  <a:ext uri="{0D108BD9-81ED-4DB2-BD59-A6C34878D82A}">
                    <a16:rowId xmlns:a16="http://schemas.microsoft.com/office/drawing/2014/main" val="163634343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3048000" y="6447704"/>
            <a:ext cx="5257799" cy="184666"/>
          </a:xfrm>
          <a:prstGeom prst="rect">
            <a:avLst/>
          </a:prstGeom>
        </p:spPr>
        <p:txBody>
          <a:bodyPr vert="horz" wrap="square" lIns="0" tIns="0" rIns="0" bIns="0" rtlCol="0">
            <a:spAutoFit/>
          </a:bodyPr>
          <a:lstStyle/>
          <a:p>
            <a:pPr algn="ctr"/>
            <a:r>
              <a:rPr lang="en-US" sz="1200" b="1" dirty="0">
                <a:latin typeface="Times New Roman" panose="02020603050405020304" pitchFamily="18" charset="0"/>
                <a:cs typeface="Times New Roman" panose="02020603050405020304" pitchFamily="18" charset="0"/>
              </a:rPr>
              <a:t>AI-Powered Residual Food Distribution System </a:t>
            </a:r>
            <a:endParaRPr lang="en-US" sz="1200" i="0" u="none" strike="noStrike" baseline="0" dirty="0">
              <a:solidFill>
                <a:srgbClr val="000000"/>
              </a:solidFill>
              <a:latin typeface="Times New Roman" panose="02020603050405020304" pitchFamily="18" charset="0"/>
            </a:endParaRPr>
          </a:p>
        </p:txBody>
      </p:sp>
      <p:sp>
        <p:nvSpPr>
          <p:cNvPr id="5" name="object 5"/>
          <p:cNvSpPr txBox="1">
            <a:spLocks noGrp="1"/>
          </p:cNvSpPr>
          <p:nvPr>
            <p:ph type="dt" sz="half" idx="6"/>
          </p:nvPr>
        </p:nvSpPr>
        <p:spPr>
          <a:xfrm>
            <a:off x="609600" y="6477000"/>
            <a:ext cx="970280" cy="246380"/>
          </a:xfrm>
          <a:prstGeom prst="rect">
            <a:avLst/>
          </a:prstGeom>
        </p:spPr>
        <p:txBody>
          <a:bodyPr vert="horz" wrap="square" lIns="0" tIns="0" rIns="0" bIns="0" rtlCol="0">
            <a:noAutofit/>
          </a:bodyPr>
          <a:lstStyle/>
          <a:p>
            <a:pPr marL="12700">
              <a:lnSpc>
                <a:spcPts val="1240"/>
              </a:lnSpc>
            </a:pPr>
            <a:fld id="{8292C248-465D-4B21-98A5-95B1ED4FDD7D}" type="datetime1">
              <a:rPr lang="en-US" spc="-10" smtClean="0"/>
              <a:t>1/12/2026</a:t>
            </a:fld>
            <a:endParaRPr lang="en-US" spc="-10" dirty="0"/>
          </a:p>
        </p:txBody>
      </p:sp>
      <p:graphicFrame>
        <p:nvGraphicFramePr>
          <p:cNvPr id="9" name="Table 8"/>
          <p:cNvGraphicFramePr>
            <a:graphicFrameLocks noGrp="1"/>
          </p:cNvGraphicFramePr>
          <p:nvPr>
            <p:extLst>
              <p:ext uri="{D42A27DB-BD31-4B8C-83A1-F6EECF244321}">
                <p14:modId xmlns:p14="http://schemas.microsoft.com/office/powerpoint/2010/main" val="191077024"/>
              </p:ext>
            </p:extLst>
          </p:nvPr>
        </p:nvGraphicFramePr>
        <p:xfrm>
          <a:off x="152400" y="381000"/>
          <a:ext cx="11347144" cy="6230240"/>
        </p:xfrm>
        <a:graphic>
          <a:graphicData uri="http://schemas.openxmlformats.org/drawingml/2006/table">
            <a:tbl>
              <a:tblPr firstRow="1" bandRow="1">
                <a:tableStyleId>{5C22544A-7EE6-4342-B048-85BDC9FD1C3A}</a:tableStyleId>
              </a:tblPr>
              <a:tblGrid>
                <a:gridCol w="2836786">
                  <a:extLst>
                    <a:ext uri="{9D8B030D-6E8A-4147-A177-3AD203B41FA5}">
                      <a16:colId xmlns:a16="http://schemas.microsoft.com/office/drawing/2014/main" val="20000"/>
                    </a:ext>
                  </a:extLst>
                </a:gridCol>
                <a:gridCol w="2740107">
                  <a:extLst>
                    <a:ext uri="{9D8B030D-6E8A-4147-A177-3AD203B41FA5}">
                      <a16:colId xmlns:a16="http://schemas.microsoft.com/office/drawing/2014/main" val="20001"/>
                    </a:ext>
                  </a:extLst>
                </a:gridCol>
                <a:gridCol w="2933465">
                  <a:extLst>
                    <a:ext uri="{9D8B030D-6E8A-4147-A177-3AD203B41FA5}">
                      <a16:colId xmlns:a16="http://schemas.microsoft.com/office/drawing/2014/main" val="20002"/>
                    </a:ext>
                  </a:extLst>
                </a:gridCol>
                <a:gridCol w="2836786">
                  <a:extLst>
                    <a:ext uri="{9D8B030D-6E8A-4147-A177-3AD203B41FA5}">
                      <a16:colId xmlns:a16="http://schemas.microsoft.com/office/drawing/2014/main" val="20003"/>
                    </a:ext>
                  </a:extLst>
                </a:gridCol>
              </a:tblGrid>
              <a:tr h="947261">
                <a:tc>
                  <a:txBody>
                    <a:bodyPr/>
                    <a:lstStyle/>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Author &amp;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Year</a:t>
                      </a:r>
                      <a:endParaRPr lang="en-IN" sz="2000" dirty="0">
                        <a:latin typeface="Times New Roman" panose="02020603050405020304" pitchFamily="18" charset="0"/>
                        <a:cs typeface="Times New Roman" panose="02020603050405020304" pitchFamily="18" charset="0"/>
                      </a:endParaRPr>
                    </a:p>
                  </a:txBody>
                  <a:tcPr anchor="ctr"/>
                </a:tc>
                <a:tc>
                  <a:txBody>
                    <a:bodyPr/>
                    <a:lstStyle/>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Summary</a:t>
                      </a:r>
                    </a:p>
                  </a:txBody>
                  <a:tcPr/>
                </a:tc>
                <a:tc>
                  <a:txBody>
                    <a:bodyPr/>
                    <a:lstStyle/>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Key Findings </a:t>
                      </a:r>
                    </a:p>
                  </a:txBody>
                  <a:tcPr/>
                </a:tc>
                <a:extLst>
                  <a:ext uri="{0D108BD9-81ED-4DB2-BD59-A6C34878D82A}">
                    <a16:rowId xmlns:a16="http://schemas.microsoft.com/office/drawing/2014/main" val="10000"/>
                  </a:ext>
                </a:extLst>
              </a:tr>
              <a:tr h="2460069">
                <a:tc>
                  <a:txBody>
                    <a:bodyPr/>
                    <a:lstStyle/>
                    <a:p>
                      <a:pPr algn="ctr">
                        <a:lnSpc>
                          <a:spcPct val="150000"/>
                        </a:lnSpc>
                        <a:defRPr/>
                      </a:pPr>
                      <a:r>
                        <a:rPr lang="en-IN" sz="2000" dirty="0">
                          <a:latin typeface="Times New Roman" panose="02020603050405020304" pitchFamily="18" charset="0"/>
                          <a:cs typeface="Times New Roman" panose="02020603050405020304" pitchFamily="18" charset="0"/>
                        </a:rPr>
                        <a:t>Mohit Pawar, Khushi Bisht, Anmol Ojha</a:t>
                      </a:r>
                      <a:r>
                        <a:rPr lang="en-US" sz="2000" dirty="0">
                          <a:solidFill>
                            <a:srgbClr val="000000"/>
                          </a:solidFill>
                          <a:latin typeface="Times New Roman" panose="02020603050405020304" pitchFamily="18" charset="0"/>
                          <a:ea typeface="Della Respira"/>
                          <a:cs typeface="Times New Roman" panose="02020603050405020304" pitchFamily="18" charset="0"/>
                          <a:sym typeface="Della Respira"/>
                        </a:rPr>
                        <a:t> – </a:t>
                      </a:r>
                      <a:r>
                        <a:rPr lang="en-US" sz="2000" dirty="0">
                          <a:latin typeface="Times New Roman" panose="02020603050405020304" pitchFamily="18" charset="0"/>
                          <a:cs typeface="Times New Roman" panose="02020603050405020304" pitchFamily="18" charset="0"/>
                        </a:rPr>
                        <a:t>GPS Enabled College Bus Tracking System</a:t>
                      </a:r>
                    </a:p>
                  </a:txBody>
                  <a:tcPr marL="190500" marR="190500" marT="190500" marB="190500" anchor="ctr"/>
                </a:tc>
                <a:tc>
                  <a:txBody>
                    <a:bodyPr/>
                    <a:lstStyle/>
                    <a:p>
                      <a:pPr algn="ctr">
                        <a:lnSpc>
                          <a:spcPts val="2800"/>
                        </a:lnSpc>
                        <a:defRPr/>
                      </a:pPr>
                      <a:r>
                        <a:rPr lang="en-US" sz="2000" dirty="0">
                          <a:solidFill>
                            <a:srgbClr val="000000"/>
                          </a:solidFill>
                          <a:latin typeface="Times New Roman" panose="02020603050405020304" pitchFamily="18" charset="0"/>
                          <a:ea typeface="Della Respira"/>
                          <a:cs typeface="Times New Roman" panose="02020603050405020304" pitchFamily="18" charset="0"/>
                          <a:sym typeface="Della Respira"/>
                        </a:rPr>
                        <a:t>2025</a:t>
                      </a:r>
                      <a:endParaRPr lang="en-US" sz="2000" dirty="0">
                        <a:latin typeface="Times New Roman" panose="02020603050405020304" pitchFamily="18" charset="0"/>
                        <a:cs typeface="Times New Roman" panose="02020603050405020304" pitchFamily="18" charset="0"/>
                      </a:endParaRPr>
                    </a:p>
                  </a:txBody>
                  <a:tcPr marL="190500" marR="190500" marT="190500" marB="190500" anchor="ctr"/>
                </a:tc>
                <a:tc>
                  <a:txBody>
                    <a:bodyPr/>
                    <a:lstStyle/>
                    <a:p>
                      <a:pPr algn="ctr">
                        <a:lnSpc>
                          <a:spcPct val="150000"/>
                        </a:lnSpc>
                        <a:defRPr/>
                      </a:pPr>
                      <a:r>
                        <a:rPr lang="en-US" sz="2000" dirty="0">
                          <a:latin typeface="Times New Roman" panose="02020603050405020304" pitchFamily="18" charset="0"/>
                          <a:cs typeface="Times New Roman" panose="02020603050405020304" pitchFamily="18" charset="0"/>
                        </a:rPr>
                        <a:t>Designed a cross-platform college bus tracking app using React Native and PostgreSQL with real-time alerts.</a:t>
                      </a:r>
                    </a:p>
                  </a:txBody>
                  <a:tcPr marL="190500" marR="190500" marT="190500" marB="190500" anchor="ctr"/>
                </a:tc>
                <a:tc>
                  <a:txBody>
                    <a:bodyPr/>
                    <a:lstStyle/>
                    <a:p>
                      <a:pPr algn="ctr">
                        <a:lnSpc>
                          <a:spcPct val="150000"/>
                        </a:lnSpc>
                        <a:defRPr/>
                      </a:pPr>
                      <a:r>
                        <a:rPr lang="en-US" sz="2000" dirty="0">
                          <a:latin typeface="Times New Roman" panose="02020603050405020304" pitchFamily="18" charset="0"/>
                          <a:cs typeface="Times New Roman" panose="02020603050405020304" pitchFamily="18" charset="0"/>
                        </a:rPr>
                        <a:t>Improves student safety, provides instant location updates, and streamlines admin operations.</a:t>
                      </a:r>
                    </a:p>
                  </a:txBody>
                  <a:tcPr marL="190500" marR="190500" marT="190500" marB="190500" anchor="ctr"/>
                </a:tc>
                <a:extLst>
                  <a:ext uri="{0D108BD9-81ED-4DB2-BD59-A6C34878D82A}">
                    <a16:rowId xmlns:a16="http://schemas.microsoft.com/office/drawing/2014/main" val="10001"/>
                  </a:ext>
                </a:extLst>
              </a:tr>
              <a:tr h="2460069">
                <a:tc>
                  <a:txBody>
                    <a:bodyPr/>
                    <a:lstStyle/>
                    <a:p>
                      <a:pPr marL="0" indent="0" algn="ctr">
                        <a:lnSpc>
                          <a:spcPct val="150000"/>
                        </a:lnSpc>
                        <a:buNone/>
                        <a:defRPr/>
                      </a:pPr>
                      <a:r>
                        <a:rPr lang="da-DK" sz="2000" dirty="0">
                          <a:latin typeface="Times New Roman" panose="02020603050405020304" pitchFamily="18" charset="0"/>
                          <a:cs typeface="Times New Roman" panose="02020603050405020304" pitchFamily="18" charset="0"/>
                        </a:rPr>
                        <a:t>Ashwini B.P. et al.</a:t>
                      </a:r>
                      <a:r>
                        <a:rPr lang="en-US" sz="2000" dirty="0">
                          <a:solidFill>
                            <a:srgbClr val="000000"/>
                          </a:solidFill>
                          <a:latin typeface="Times New Roman" panose="02020603050405020304" pitchFamily="18" charset="0"/>
                          <a:ea typeface="Della Respira"/>
                          <a:cs typeface="Times New Roman" panose="02020603050405020304" pitchFamily="18" charset="0"/>
                          <a:sym typeface="Della Respira"/>
                        </a:rPr>
                        <a:t> – </a:t>
                      </a:r>
                      <a:r>
                        <a:rPr lang="en-US" sz="2000" dirty="0">
                          <a:latin typeface="Times New Roman" panose="02020603050405020304" pitchFamily="18" charset="0"/>
                          <a:cs typeface="Times New Roman" panose="02020603050405020304" pitchFamily="18" charset="0"/>
                        </a:rPr>
                        <a:t>A Dynamic Model for Bus Arrival Time Estimation using Machine Learning</a:t>
                      </a:r>
                    </a:p>
                  </a:txBody>
                  <a:tcPr marL="190500" marR="190500" marT="190500" marB="190500" anchor="ctr"/>
                </a:tc>
                <a:tc>
                  <a:txBody>
                    <a:bodyPr/>
                    <a:lstStyle/>
                    <a:p>
                      <a:pPr algn="ctr">
                        <a:lnSpc>
                          <a:spcPts val="2800"/>
                        </a:lnSpc>
                        <a:defRPr/>
                      </a:pPr>
                      <a:r>
                        <a:rPr lang="en-US" sz="2000" dirty="0">
                          <a:solidFill>
                            <a:srgbClr val="000000"/>
                          </a:solidFill>
                          <a:latin typeface="Times New Roman" panose="02020603050405020304" pitchFamily="18" charset="0"/>
                          <a:ea typeface="Della Respira"/>
                          <a:cs typeface="Times New Roman" panose="02020603050405020304" pitchFamily="18" charset="0"/>
                          <a:sym typeface="Della Respira"/>
                        </a:rPr>
                        <a:t>2024</a:t>
                      </a:r>
                      <a:endParaRPr lang="en-US" sz="2000" dirty="0">
                        <a:latin typeface="Times New Roman" panose="02020603050405020304" pitchFamily="18" charset="0"/>
                        <a:cs typeface="Times New Roman" panose="02020603050405020304" pitchFamily="18" charset="0"/>
                      </a:endParaRPr>
                    </a:p>
                  </a:txBody>
                  <a:tcPr marL="190500" marR="190500" marT="190500" marB="190500" anchor="ctr"/>
                </a:tc>
                <a:tc>
                  <a:txBody>
                    <a:bodyPr/>
                    <a:lstStyle/>
                    <a:p>
                      <a:pPr algn="ctr">
                        <a:lnSpc>
                          <a:spcPct val="150000"/>
                        </a:lnSpc>
                        <a:defRPr/>
                      </a:pPr>
                      <a:r>
                        <a:rPr lang="en-US" sz="2000" dirty="0">
                          <a:latin typeface="Times New Roman" panose="02020603050405020304" pitchFamily="18" charset="0"/>
                          <a:cs typeface="Times New Roman" panose="02020603050405020304" pitchFamily="18" charset="0"/>
                        </a:rPr>
                        <a:t>Proposes a machine learning-based system to predict bus arrival times using traffic and location data.</a:t>
                      </a:r>
                    </a:p>
                  </a:txBody>
                  <a:tcPr marL="190500" marR="190500" marT="190500" marB="190500" anchor="ctr"/>
                </a:tc>
                <a:tc>
                  <a:txBody>
                    <a:bodyPr/>
                    <a:lstStyle/>
                    <a:p>
                      <a:pPr algn="ctr">
                        <a:lnSpc>
                          <a:spcPct val="150000"/>
                        </a:lnSpc>
                        <a:defRPr/>
                      </a:pPr>
                      <a:r>
                        <a:rPr lang="en-US" sz="2000" dirty="0">
                          <a:latin typeface="Times New Roman" panose="02020603050405020304" pitchFamily="18" charset="0"/>
                          <a:cs typeface="Times New Roman" panose="02020603050405020304" pitchFamily="18" charset="0"/>
                        </a:rPr>
                        <a:t>ML models provide more accurate ETA compared to traditional methods.</a:t>
                      </a:r>
                    </a:p>
                  </a:txBody>
                  <a:tcPr marL="190500" marR="190500" marT="190500" marB="190500" anchor="ctr"/>
                </a:tc>
                <a:extLst>
                  <a:ext uri="{0D108BD9-81ED-4DB2-BD59-A6C34878D82A}">
                    <a16:rowId xmlns:a16="http://schemas.microsoft.com/office/drawing/2014/main" val="10002"/>
                  </a:ext>
                </a:extLst>
              </a:tr>
            </a:tbl>
          </a:graphicData>
        </a:graphic>
      </p:graphicFrame>
      <p:sp>
        <p:nvSpPr>
          <p:cNvPr id="3" name="Slide Number Placeholder 2"/>
          <p:cNvSpPr>
            <a:spLocks noGrp="1"/>
          </p:cNvSpPr>
          <p:nvPr>
            <p:ph type="sldNum" sz="quarter" idx="7"/>
          </p:nvPr>
        </p:nvSpPr>
        <p:spPr>
          <a:xfrm>
            <a:off x="11068811" y="6464680"/>
            <a:ext cx="437389" cy="167690"/>
          </a:xfrm>
        </p:spPr>
        <p:txBody>
          <a:bodyPr/>
          <a:lstStyle/>
          <a:p>
            <a:pPr marL="115570">
              <a:lnSpc>
                <a:spcPts val="1240"/>
              </a:lnSpc>
            </a:pPr>
            <a:fld id="{81D60167-4931-47E6-BA6A-407CBD079E47}" type="slidenum">
              <a:rPr lang="en-IN" spc="-50" smtClean="0"/>
              <a:t>11</a:t>
            </a:fld>
            <a:endParaRPr lang="en-IN" spc="-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3F51C-F230-D4F9-7E83-BA74FBC7BB87}"/>
              </a:ext>
            </a:extLst>
          </p:cNvPr>
          <p:cNvSpPr>
            <a:spLocks noGrp="1"/>
          </p:cNvSpPr>
          <p:nvPr>
            <p:ph type="title"/>
          </p:nvPr>
        </p:nvSpPr>
        <p:spPr>
          <a:xfrm>
            <a:off x="381000" y="265043"/>
            <a:ext cx="5414010" cy="677108"/>
          </a:xfrm>
        </p:spPr>
        <p:txBody>
          <a:bodyPr/>
          <a:lstStyle/>
          <a:p>
            <a:r>
              <a:rPr lang="en-IN" dirty="0"/>
              <a:t>Survey..</a:t>
            </a:r>
          </a:p>
        </p:txBody>
      </p:sp>
      <p:sp>
        <p:nvSpPr>
          <p:cNvPr id="4" name="Footer Placeholder 3">
            <a:extLst>
              <a:ext uri="{FF2B5EF4-FFF2-40B4-BE49-F238E27FC236}">
                <a16:creationId xmlns:a16="http://schemas.microsoft.com/office/drawing/2014/main" id="{2884735B-A985-CF2D-03FE-1F38486650A2}"/>
              </a:ext>
            </a:extLst>
          </p:cNvPr>
          <p:cNvSpPr>
            <a:spLocks noGrp="1"/>
          </p:cNvSpPr>
          <p:nvPr>
            <p:ph type="ftr" sz="quarter" idx="5"/>
          </p:nvPr>
        </p:nvSpPr>
        <p:spPr>
          <a:xfrm>
            <a:off x="4013262" y="6395104"/>
            <a:ext cx="4724400" cy="364202"/>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spc="-10" dirty="0">
              <a:latin typeface="Times New Roman" panose="02020603050405020304"/>
              <a:cs typeface="Times New Roman" panose="02020603050405020304"/>
            </a:endParaRPr>
          </a:p>
        </p:txBody>
      </p:sp>
      <p:sp>
        <p:nvSpPr>
          <p:cNvPr id="5" name="Date Placeholder 4">
            <a:extLst>
              <a:ext uri="{FF2B5EF4-FFF2-40B4-BE49-F238E27FC236}">
                <a16:creationId xmlns:a16="http://schemas.microsoft.com/office/drawing/2014/main" id="{74030728-16EE-9D99-EFB4-F805DC35A6B5}"/>
              </a:ext>
            </a:extLst>
          </p:cNvPr>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6" name="Slide Number Placeholder 5">
            <a:extLst>
              <a:ext uri="{FF2B5EF4-FFF2-40B4-BE49-F238E27FC236}">
                <a16:creationId xmlns:a16="http://schemas.microsoft.com/office/drawing/2014/main" id="{C6EF1FC4-7175-99D0-7CEF-83E1BFFE09B4}"/>
              </a:ext>
            </a:extLst>
          </p:cNvPr>
          <p:cNvSpPr>
            <a:spLocks noGrp="1"/>
          </p:cNvSpPr>
          <p:nvPr>
            <p:ph type="sldNum" sz="quarter" idx="7"/>
          </p:nvPr>
        </p:nvSpPr>
        <p:spPr>
          <a:xfrm>
            <a:off x="11068811" y="6464680"/>
            <a:ext cx="513589" cy="194944"/>
          </a:xfrm>
        </p:spPr>
        <p:txBody>
          <a:bodyPr/>
          <a:lstStyle/>
          <a:p>
            <a:pPr marL="115570">
              <a:lnSpc>
                <a:spcPts val="1240"/>
              </a:lnSpc>
            </a:pPr>
            <a:fld id="{81D60167-4931-47E6-BA6A-407CBD079E47}" type="slidenum">
              <a:rPr lang="en-IN" spc="-50" smtClean="0"/>
              <a:t>12</a:t>
            </a:fld>
            <a:endParaRPr lang="en-IN" spc="-50" dirty="0"/>
          </a:p>
        </p:txBody>
      </p:sp>
      <p:pic>
        <p:nvPicPr>
          <p:cNvPr id="7" name="Picture 6">
            <a:extLst>
              <a:ext uri="{FF2B5EF4-FFF2-40B4-BE49-F238E27FC236}">
                <a16:creationId xmlns:a16="http://schemas.microsoft.com/office/drawing/2014/main" id="{64B868D9-FCF1-F7F4-9059-A72719472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1" y="1219200"/>
            <a:ext cx="3977639" cy="4191000"/>
          </a:xfrm>
          <a:prstGeom prst="rect">
            <a:avLst/>
          </a:prstGeom>
        </p:spPr>
      </p:pic>
      <p:pic>
        <p:nvPicPr>
          <p:cNvPr id="8" name="Picture 7">
            <a:extLst>
              <a:ext uri="{FF2B5EF4-FFF2-40B4-BE49-F238E27FC236}">
                <a16:creationId xmlns:a16="http://schemas.microsoft.com/office/drawing/2014/main" id="{18983743-D1E5-4F76-AA69-8A67F6195D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8562" y="1219200"/>
            <a:ext cx="3733800" cy="4191000"/>
          </a:xfrm>
          <a:prstGeom prst="rect">
            <a:avLst/>
          </a:prstGeom>
        </p:spPr>
      </p:pic>
      <p:pic>
        <p:nvPicPr>
          <p:cNvPr id="9" name="Picture 8">
            <a:extLst>
              <a:ext uri="{FF2B5EF4-FFF2-40B4-BE49-F238E27FC236}">
                <a16:creationId xmlns:a16="http://schemas.microsoft.com/office/drawing/2014/main" id="{DCD022D6-4AE7-B1AE-D8FE-710992C327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36124" y="1219200"/>
            <a:ext cx="3418715" cy="4191000"/>
          </a:xfrm>
          <a:prstGeom prst="rect">
            <a:avLst/>
          </a:prstGeom>
        </p:spPr>
      </p:pic>
    </p:spTree>
    <p:extLst>
      <p:ext uri="{BB962C8B-B14F-4D97-AF65-F5344CB8AC3E}">
        <p14:creationId xmlns:p14="http://schemas.microsoft.com/office/powerpoint/2010/main" val="3214517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5010" y="304800"/>
            <a:ext cx="3291840" cy="553720"/>
          </a:xfrm>
        </p:spPr>
        <p:txBody>
          <a:bodyPr wrap="square"/>
          <a:lstStyle/>
          <a:p>
            <a:r>
              <a:rPr lang="en-US" sz="3600" dirty="0"/>
              <a:t>6.Domain</a:t>
            </a:r>
            <a:endParaRPr lang="en-IN" sz="3600" dirty="0"/>
          </a:p>
        </p:txBody>
      </p:sp>
      <p:sp>
        <p:nvSpPr>
          <p:cNvPr id="6" name="object 7"/>
          <p:cNvSpPr txBox="1"/>
          <p:nvPr/>
        </p:nvSpPr>
        <p:spPr>
          <a:xfrm>
            <a:off x="10896854" y="6477000"/>
            <a:ext cx="228346" cy="156068"/>
          </a:xfrm>
          <a:prstGeom prst="rect">
            <a:avLst/>
          </a:prstGeom>
        </p:spPr>
        <p:txBody>
          <a:bodyPr vert="horz" wrap="square" lIns="0" tIns="0" rIns="0" bIns="0" rtlCol="0">
            <a:spAutoFit/>
          </a:bodyPr>
          <a:lstStyle/>
          <a:p>
            <a:pPr marL="38100">
              <a:lnSpc>
                <a:spcPts val="1240"/>
              </a:lnSpc>
            </a:pPr>
            <a:fld id="{81D60167-4931-47E6-BA6A-407CBD079E47}" type="slidenum">
              <a:rPr sz="1200" spc="-50" dirty="0">
                <a:solidFill>
                  <a:srgbClr val="888888"/>
                </a:solidFill>
                <a:latin typeface="Calibri" panose="020F0502020204030204"/>
                <a:cs typeface="Calibri" panose="020F0502020204030204"/>
              </a:rPr>
              <a:t>13</a:t>
            </a:fld>
            <a:endParaRPr sz="1200" dirty="0">
              <a:latin typeface="Calibri" panose="020F0502020204030204"/>
              <a:cs typeface="Calibri" panose="020F0502020204030204"/>
            </a:endParaRPr>
          </a:p>
        </p:txBody>
      </p:sp>
      <p:sp>
        <p:nvSpPr>
          <p:cNvPr id="4" name="Date Placeholder 3"/>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7" name="Footer Placeholder 6"/>
          <p:cNvSpPr>
            <a:spLocks noGrp="1"/>
          </p:cNvSpPr>
          <p:nvPr>
            <p:ph type="ftr" sz="quarter" idx="5"/>
          </p:nvPr>
        </p:nvSpPr>
        <p:spPr>
          <a:xfrm>
            <a:off x="4876800" y="6447705"/>
            <a:ext cx="388619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spc="-10" dirty="0">
              <a:latin typeface="Times New Roman" panose="02020603050405020304"/>
              <a:cs typeface="Times New Roman" panose="02020603050405020304"/>
            </a:endParaRPr>
          </a:p>
        </p:txBody>
      </p:sp>
      <p:pic>
        <p:nvPicPr>
          <p:cNvPr id="5" name="Picture 4">
            <a:extLst>
              <a:ext uri="{FF2B5EF4-FFF2-40B4-BE49-F238E27FC236}">
                <a16:creationId xmlns:a16="http://schemas.microsoft.com/office/drawing/2014/main" id="{B47336D2-D9F5-B0BF-0AFF-A4FB726CDEBC}"/>
              </a:ext>
            </a:extLst>
          </p:cNvPr>
          <p:cNvPicPr>
            <a:picLocks noChangeAspect="1"/>
          </p:cNvPicPr>
          <p:nvPr/>
        </p:nvPicPr>
        <p:blipFill>
          <a:blip r:embed="rId2">
            <a:extLst>
              <a:ext uri="{28A0092B-C50C-407E-A947-70E740481C1C}">
                <a14:useLocalDpi xmlns:a14="http://schemas.microsoft.com/office/drawing/2010/main" val="0"/>
              </a:ext>
            </a:extLst>
          </a:blip>
          <a:srcRect t="24837" b="12527"/>
          <a:stretch>
            <a:fillRect/>
          </a:stretch>
        </p:blipFill>
        <p:spPr>
          <a:xfrm>
            <a:off x="912699" y="858520"/>
            <a:ext cx="10249154" cy="5245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8420" y="228600"/>
            <a:ext cx="4314190" cy="553720"/>
          </a:xfrm>
        </p:spPr>
        <p:txBody>
          <a:bodyPr wrap="square"/>
          <a:lstStyle/>
          <a:p>
            <a:r>
              <a:rPr lang="en-US" sz="3600" dirty="0"/>
              <a:t>7.Proposed System</a:t>
            </a:r>
            <a:endParaRPr lang="en-IN" sz="3600" dirty="0"/>
          </a:p>
        </p:txBody>
      </p:sp>
      <p:sp>
        <p:nvSpPr>
          <p:cNvPr id="3" name="Text Placeholder 2"/>
          <p:cNvSpPr>
            <a:spLocks noGrp="1"/>
          </p:cNvSpPr>
          <p:nvPr>
            <p:ph type="body" idx="1"/>
          </p:nvPr>
        </p:nvSpPr>
        <p:spPr>
          <a:xfrm>
            <a:off x="516890" y="855345"/>
            <a:ext cx="11065510" cy="492760"/>
          </a:xfrm>
        </p:spPr>
        <p:txBody>
          <a:bodyPr>
            <a:noAutofit/>
          </a:bodyPr>
          <a:lstStyle/>
          <a:p>
            <a:pPr algn="just">
              <a:lnSpc>
                <a:spcPct val="150000"/>
              </a:lnSpc>
            </a:pPr>
            <a:r>
              <a:rPr lang="en-IN" sz="2400" u="sng" dirty="0">
                <a:latin typeface="Times New Roman" panose="02020603050405020304" pitchFamily="18" charset="0"/>
                <a:cs typeface="Times New Roman" panose="02020603050405020304" pitchFamily="18" charset="0"/>
              </a:rPr>
              <a:t>7.1 Architecture diagram</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6"/>
          </p:nvPr>
        </p:nvSpPr>
        <p:spPr>
          <a:xfrm>
            <a:off x="1292225"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7" name="Footer Placeholder 6"/>
          <p:cNvSpPr>
            <a:spLocks noGrp="1"/>
          </p:cNvSpPr>
          <p:nvPr>
            <p:ph type="ftr" sz="quarter" idx="5"/>
          </p:nvPr>
        </p:nvSpPr>
        <p:spPr>
          <a:xfrm>
            <a:off x="5097271" y="6477000"/>
            <a:ext cx="3894329" cy="548868"/>
          </a:xfrm>
        </p:spPr>
        <p:txBody>
          <a:bodyPr/>
          <a:lstStyle/>
          <a:p>
            <a:pPr marL="12700" algn="ctr">
              <a:lnSpc>
                <a:spcPts val="1410"/>
              </a:lnSpc>
            </a:pPr>
            <a:r>
              <a:rPr lang="en-US" b="1" spc="-10" dirty="0">
                <a:latin typeface="Times New Roman" panose="02020603050405020304"/>
                <a:cs typeface="Times New Roman" panose="02020603050405020304"/>
              </a:rPr>
              <a:t> </a:t>
            </a: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9" name="Slide Number Placeholder 8"/>
          <p:cNvSpPr>
            <a:spLocks noGrp="1"/>
          </p:cNvSpPr>
          <p:nvPr>
            <p:ph type="sldNum" sz="quarter" idx="7"/>
          </p:nvPr>
        </p:nvSpPr>
        <p:spPr>
          <a:xfrm>
            <a:off x="11068811" y="6464679"/>
            <a:ext cx="513589" cy="194945"/>
          </a:xfrm>
        </p:spPr>
        <p:txBody>
          <a:bodyPr/>
          <a:lstStyle/>
          <a:p>
            <a:pPr marL="115570">
              <a:lnSpc>
                <a:spcPts val="1240"/>
              </a:lnSpc>
            </a:pPr>
            <a:fld id="{81D60167-4931-47E6-BA6A-407CBD079E47}" type="slidenum">
              <a:rPr lang="en-IN" spc="-50" smtClean="0"/>
              <a:t>14</a:t>
            </a:fld>
            <a:endParaRPr lang="en-IN" spc="-50" dirty="0"/>
          </a:p>
        </p:txBody>
      </p:sp>
      <p:pic>
        <p:nvPicPr>
          <p:cNvPr id="5" name="Picture 4">
            <a:extLst>
              <a:ext uri="{FF2B5EF4-FFF2-40B4-BE49-F238E27FC236}">
                <a16:creationId xmlns:a16="http://schemas.microsoft.com/office/drawing/2014/main" id="{6EC8BEE1-1A88-1F9A-07D2-94C18CD2AB0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334601"/>
            <a:ext cx="7487411"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580" y="228601"/>
            <a:ext cx="8340725" cy="1046440"/>
          </a:xfrm>
        </p:spPr>
        <p:txBody>
          <a:bodyPr wrap="square"/>
          <a:lstStyle/>
          <a:p>
            <a:r>
              <a:rPr lang="en-IN" sz="2400" u="sng" dirty="0">
                <a:solidFill>
                  <a:schemeClr val="tx1"/>
                </a:solidFill>
                <a:latin typeface="Times New Roman" panose="02020603050405020304" pitchFamily="18" charset="0"/>
                <a:cs typeface="Times New Roman" panose="02020603050405020304" pitchFamily="18" charset="0"/>
              </a:rPr>
              <a:t> 7.2 Modules and their functionality</a:t>
            </a:r>
            <a:br>
              <a:rPr lang="en-IN" sz="2400" u="sng" dirty="0">
                <a:latin typeface="Times New Roman" panose="02020603050405020304" pitchFamily="18" charset="0"/>
                <a:cs typeface="Times New Roman" panose="02020603050405020304" pitchFamily="18" charset="0"/>
              </a:rPr>
            </a:br>
            <a:endParaRPr lang="en-IN" dirty="0"/>
          </a:p>
        </p:txBody>
      </p:sp>
      <p:sp>
        <p:nvSpPr>
          <p:cNvPr id="6" name="Date Placeholder 5"/>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7" name="Footer Placeholder 6"/>
          <p:cNvSpPr>
            <a:spLocks noGrp="1"/>
          </p:cNvSpPr>
          <p:nvPr>
            <p:ph type="ftr" sz="quarter" idx="5"/>
          </p:nvPr>
        </p:nvSpPr>
        <p:spPr>
          <a:xfrm>
            <a:off x="5097270" y="6447705"/>
            <a:ext cx="412292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8" name="Slide Number Placeholder 7"/>
          <p:cNvSpPr>
            <a:spLocks noGrp="1"/>
          </p:cNvSpPr>
          <p:nvPr>
            <p:ph type="sldNum" sz="quarter" idx="7"/>
          </p:nvPr>
        </p:nvSpPr>
        <p:spPr>
          <a:xfrm>
            <a:off x="11068811" y="6464680"/>
            <a:ext cx="361189" cy="195410"/>
          </a:xfrm>
        </p:spPr>
        <p:txBody>
          <a:bodyPr/>
          <a:lstStyle/>
          <a:p>
            <a:pPr marL="115570">
              <a:lnSpc>
                <a:spcPts val="1240"/>
              </a:lnSpc>
            </a:pPr>
            <a:fld id="{81D60167-4931-47E6-BA6A-407CBD079E47}" type="slidenum">
              <a:rPr lang="en-IN" spc="-50" smtClean="0"/>
              <a:t>15</a:t>
            </a:fld>
            <a:endParaRPr lang="en-IN" spc="-50" dirty="0"/>
          </a:p>
        </p:txBody>
      </p:sp>
      <p:sp>
        <p:nvSpPr>
          <p:cNvPr id="4" name="TextBox 3">
            <a:extLst>
              <a:ext uri="{FF2B5EF4-FFF2-40B4-BE49-F238E27FC236}">
                <a16:creationId xmlns:a16="http://schemas.microsoft.com/office/drawing/2014/main" id="{5328DC6F-2453-3BD9-1593-BE0E311AAC42}"/>
              </a:ext>
            </a:extLst>
          </p:cNvPr>
          <p:cNvSpPr txBox="1"/>
          <p:nvPr/>
        </p:nvSpPr>
        <p:spPr>
          <a:xfrm>
            <a:off x="457200" y="914400"/>
            <a:ext cx="7620000" cy="2936701"/>
          </a:xfrm>
          <a:prstGeom prst="rect">
            <a:avLst/>
          </a:prstGeom>
        </p:spPr>
        <p:txBody>
          <a:bodyPr vert="horz" wrap="square" lIns="0" tIns="12700" rIns="0" bIns="0"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Data Collection Module.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Data Preprocessing Module.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Delay Prediction Module. </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User Interface Module.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Admin Dashboard Module.</a:t>
            </a:r>
            <a:endParaRPr lang="en-IN" sz="2400" dirty="0">
              <a:latin typeface="Times New Roman" panose="02020603050405020304" pitchFamily="18" charset="0"/>
              <a:cs typeface="Times New Roman" panose="02020603050405020304" pitchFamily="18" charset="0"/>
            </a:endParaRPr>
          </a:p>
          <a:p>
            <a:pPr marL="12700" algn="l">
              <a:lnSpc>
                <a:spcPts val="1240"/>
              </a:lnSpc>
            </a:pPr>
            <a:endParaRPr lang="en-IN" sz="1000" spc="-1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199" y="152401"/>
            <a:ext cx="7924801" cy="461665"/>
          </a:xfrm>
          <a:prstGeom prst="rect">
            <a:avLst/>
          </a:prstGeom>
          <a:noFill/>
        </p:spPr>
        <p:txBody>
          <a:bodyPr wrap="square">
            <a:spAutoFit/>
          </a:bodyPr>
          <a:lstStyle/>
          <a:p>
            <a:pPr marL="0" indent="0">
              <a:buNone/>
            </a:pPr>
            <a:r>
              <a:rPr lang="en-US" sz="2400" b="1" dirty="0">
                <a:latin typeface="Times New Roman" panose="02020603050405020304" pitchFamily="18" charset="0"/>
                <a:cs typeface="Times New Roman" panose="02020603050405020304" pitchFamily="18" charset="0"/>
              </a:rPr>
              <a:t>7.3 Existing System Vs Proposed System</a:t>
            </a:r>
          </a:p>
        </p:txBody>
      </p:sp>
      <p:sp>
        <p:nvSpPr>
          <p:cNvPr id="2" name="Date Placeholder 1"/>
          <p:cNvSpPr>
            <a:spLocks noGrp="1"/>
          </p:cNvSpPr>
          <p:nvPr>
            <p:ph type="dt" sz="half" idx="6"/>
          </p:nvPr>
        </p:nvSpPr>
        <p:spPr/>
        <p:txBody>
          <a:bodyPr/>
          <a:lstStyle/>
          <a:p>
            <a:pPr marL="12700">
              <a:lnSpc>
                <a:spcPts val="1240"/>
              </a:lnSpc>
            </a:pPr>
            <a:fld id="{D3464B58-8B41-4EF2-805B-CBDBA0700170}" type="datetime1">
              <a:rPr lang="en-US" spc="-10" smtClean="0"/>
              <a:t>1/12/2026</a:t>
            </a:fld>
            <a:endParaRPr lang="en-US" spc="-10" dirty="0"/>
          </a:p>
        </p:txBody>
      </p:sp>
      <p:sp>
        <p:nvSpPr>
          <p:cNvPr id="4" name="Footer Placeholder 3"/>
          <p:cNvSpPr>
            <a:spLocks noGrp="1"/>
          </p:cNvSpPr>
          <p:nvPr>
            <p:ph type="ftr" sz="quarter" idx="5"/>
          </p:nvPr>
        </p:nvSpPr>
        <p:spPr>
          <a:xfrm>
            <a:off x="4495800" y="6464215"/>
            <a:ext cx="3505200" cy="265331"/>
          </a:xfrm>
        </p:spPr>
        <p:txBody>
          <a:bodyPr/>
          <a:lstStyle/>
          <a:p>
            <a:pPr marL="12700">
              <a:lnSpc>
                <a:spcPts val="1410"/>
              </a:lnSpc>
            </a:pPr>
            <a:r>
              <a:rPr lang="en-US" b="1" spc="-10" dirty="0">
                <a:latin typeface="Times New Roman" panose="02020603050405020304"/>
                <a:cs typeface="Times New Roman" panose="02020603050405020304"/>
              </a:rPr>
              <a:t>AI-Powered Residual Food Distribution System </a:t>
            </a:r>
          </a:p>
        </p:txBody>
      </p:sp>
      <p:sp>
        <p:nvSpPr>
          <p:cNvPr id="6" name="Slide Number Placeholder 5"/>
          <p:cNvSpPr>
            <a:spLocks noGrp="1"/>
          </p:cNvSpPr>
          <p:nvPr>
            <p:ph type="sldNum" sz="quarter" idx="7"/>
          </p:nvPr>
        </p:nvSpPr>
        <p:spPr>
          <a:xfrm>
            <a:off x="11068811" y="6464680"/>
            <a:ext cx="437389" cy="177969"/>
          </a:xfrm>
        </p:spPr>
        <p:txBody>
          <a:bodyPr/>
          <a:lstStyle/>
          <a:p>
            <a:pPr marL="115570">
              <a:lnSpc>
                <a:spcPts val="1240"/>
              </a:lnSpc>
            </a:pPr>
            <a:fld id="{81D60167-4931-47E6-BA6A-407CBD079E47}" type="slidenum">
              <a:rPr lang="en-IN" spc="-50" smtClean="0"/>
              <a:t>16</a:t>
            </a:fld>
            <a:endParaRPr lang="en-IN" spc="-50" dirty="0"/>
          </a:p>
        </p:txBody>
      </p:sp>
      <p:graphicFrame>
        <p:nvGraphicFramePr>
          <p:cNvPr id="7" name="Table 6">
            <a:extLst>
              <a:ext uri="{FF2B5EF4-FFF2-40B4-BE49-F238E27FC236}">
                <a16:creationId xmlns:a16="http://schemas.microsoft.com/office/drawing/2014/main" id="{7107473F-5100-C9DE-E3BC-E12FC6EE3083}"/>
              </a:ext>
            </a:extLst>
          </p:cNvPr>
          <p:cNvGraphicFramePr>
            <a:graphicFrameLocks noGrp="1"/>
          </p:cNvGraphicFramePr>
          <p:nvPr>
            <p:extLst>
              <p:ext uri="{D42A27DB-BD31-4B8C-83A1-F6EECF244321}">
                <p14:modId xmlns:p14="http://schemas.microsoft.com/office/powerpoint/2010/main" val="190059771"/>
              </p:ext>
            </p:extLst>
          </p:nvPr>
        </p:nvGraphicFramePr>
        <p:xfrm>
          <a:off x="228600" y="709055"/>
          <a:ext cx="11582400" cy="5660075"/>
        </p:xfrm>
        <a:graphic>
          <a:graphicData uri="http://schemas.openxmlformats.org/drawingml/2006/table">
            <a:tbl>
              <a:tblPr firstRow="1" bandRow="1">
                <a:tableStyleId>{5C22544A-7EE6-4342-B048-85BDC9FD1C3A}</a:tableStyleId>
              </a:tblPr>
              <a:tblGrid>
                <a:gridCol w="1872594">
                  <a:extLst>
                    <a:ext uri="{9D8B030D-6E8A-4147-A177-3AD203B41FA5}">
                      <a16:colId xmlns:a16="http://schemas.microsoft.com/office/drawing/2014/main" val="932406012"/>
                    </a:ext>
                  </a:extLst>
                </a:gridCol>
                <a:gridCol w="4983654">
                  <a:extLst>
                    <a:ext uri="{9D8B030D-6E8A-4147-A177-3AD203B41FA5}">
                      <a16:colId xmlns:a16="http://schemas.microsoft.com/office/drawing/2014/main" val="952177712"/>
                    </a:ext>
                  </a:extLst>
                </a:gridCol>
                <a:gridCol w="4726152">
                  <a:extLst>
                    <a:ext uri="{9D8B030D-6E8A-4147-A177-3AD203B41FA5}">
                      <a16:colId xmlns:a16="http://schemas.microsoft.com/office/drawing/2014/main" val="840488547"/>
                    </a:ext>
                  </a:extLst>
                </a:gridCol>
              </a:tblGrid>
              <a:tr h="1116902">
                <a:tc>
                  <a:txBody>
                    <a:bodyPr/>
                    <a:lstStyle/>
                    <a:p>
                      <a:pPr algn="just">
                        <a:lnSpc>
                          <a:spcPct val="150000"/>
                        </a:lnSpc>
                      </a:pPr>
                      <a:r>
                        <a:rPr lang="en-IN" sz="2400" dirty="0"/>
                        <a:t>S. No </a:t>
                      </a:r>
                    </a:p>
                  </a:txBody>
                  <a:tcPr/>
                </a:tc>
                <a:tc>
                  <a:txBody>
                    <a:bodyPr/>
                    <a:lstStyle/>
                    <a:p>
                      <a:pPr algn="just">
                        <a:lnSpc>
                          <a:spcPct val="150000"/>
                        </a:lnSpc>
                      </a:pPr>
                      <a:r>
                        <a:rPr lang="en-IN" sz="2400" dirty="0"/>
                        <a:t>              Existing System</a:t>
                      </a:r>
                    </a:p>
                  </a:txBody>
                  <a:tcPr/>
                </a:tc>
                <a:tc>
                  <a:txBody>
                    <a:bodyPr/>
                    <a:lstStyle/>
                    <a:p>
                      <a:pPr algn="just">
                        <a:lnSpc>
                          <a:spcPct val="150000"/>
                        </a:lnSpc>
                      </a:pPr>
                      <a:r>
                        <a:rPr lang="en-IN" sz="2400" dirty="0"/>
                        <a:t>             Proposed system</a:t>
                      </a:r>
                    </a:p>
                    <a:p>
                      <a:pPr algn="just">
                        <a:lnSpc>
                          <a:spcPct val="150000"/>
                        </a:lnSpc>
                      </a:pPr>
                      <a:endParaRPr lang="en-IN" sz="2400" dirty="0"/>
                    </a:p>
                  </a:txBody>
                  <a:tcPr/>
                </a:tc>
                <a:extLst>
                  <a:ext uri="{0D108BD9-81ED-4DB2-BD59-A6C34878D82A}">
                    <a16:rowId xmlns:a16="http://schemas.microsoft.com/office/drawing/2014/main" val="2244310137"/>
                  </a:ext>
                </a:extLst>
              </a:tr>
              <a:tr h="1116902">
                <a:tc>
                  <a:txBody>
                    <a:bodyPr/>
                    <a:lstStyle/>
                    <a:p>
                      <a:pPr algn="just">
                        <a:lnSpc>
                          <a:spcPct val="150000"/>
                        </a:lnSpc>
                      </a:pPr>
                      <a:r>
                        <a:rPr lang="en-IN" sz="2400" dirty="0"/>
                        <a:t>                         01</a:t>
                      </a:r>
                    </a:p>
                  </a:txBody>
                  <a:tcPr/>
                </a:tc>
                <a:tc>
                  <a:txBody>
                    <a:bodyPr/>
                    <a:lstStyle/>
                    <a:p>
                      <a:pPr algn="just">
                        <a:lnSpc>
                          <a:spcPct val="150000"/>
                        </a:lnSpc>
                      </a:pPr>
                      <a:r>
                        <a:rPr lang="en-IN" sz="2400" dirty="0"/>
                        <a:t>         No real-time tracking</a:t>
                      </a:r>
                    </a:p>
                  </a:txBody>
                  <a:tcPr/>
                </a:tc>
                <a:tc>
                  <a:txBody>
                    <a:bodyPr/>
                    <a:lstStyle/>
                    <a:p>
                      <a:pPr algn="just">
                        <a:lnSpc>
                          <a:spcPct val="150000"/>
                        </a:lnSpc>
                      </a:pPr>
                      <a:r>
                        <a:rPr lang="en-IN" sz="2400" dirty="0"/>
                        <a:t>    Live GPS-based bus tracking</a:t>
                      </a:r>
                    </a:p>
                  </a:txBody>
                  <a:tcPr/>
                </a:tc>
                <a:extLst>
                  <a:ext uri="{0D108BD9-81ED-4DB2-BD59-A6C34878D82A}">
                    <a16:rowId xmlns:a16="http://schemas.microsoft.com/office/drawing/2014/main" val="1744593637"/>
                  </a:ext>
                </a:extLst>
              </a:tr>
              <a:tr h="1036358">
                <a:tc>
                  <a:txBody>
                    <a:bodyPr/>
                    <a:lstStyle/>
                    <a:p>
                      <a:pPr algn="just">
                        <a:lnSpc>
                          <a:spcPct val="150000"/>
                        </a:lnSpc>
                      </a:pPr>
                      <a:r>
                        <a:rPr lang="en-IN" sz="2400" dirty="0"/>
                        <a:t>                        02</a:t>
                      </a:r>
                    </a:p>
                  </a:txBody>
                  <a:tcPr/>
                </a:tc>
                <a:tc>
                  <a:txBody>
                    <a:bodyPr/>
                    <a:lstStyle/>
                    <a:p>
                      <a:pPr algn="just">
                        <a:lnSpc>
                          <a:spcPct val="150000"/>
                        </a:lnSpc>
                      </a:pPr>
                      <a:r>
                        <a:rPr lang="en-US" sz="2400" dirty="0"/>
                        <a:t>     No ETA or delay prediction</a:t>
                      </a:r>
                      <a:endParaRPr lang="en-IN" sz="2400" dirty="0"/>
                    </a:p>
                  </a:txBody>
                  <a:tcPr/>
                </a:tc>
                <a:tc>
                  <a:txBody>
                    <a:bodyPr/>
                    <a:lstStyle/>
                    <a:p>
                      <a:pPr algn="just">
                        <a:lnSpc>
                          <a:spcPct val="150000"/>
                        </a:lnSpc>
                      </a:pPr>
                      <a:r>
                        <a:rPr lang="en-US" sz="2400" dirty="0"/>
                        <a:t>Deep learning-based ETA and delay alerts</a:t>
                      </a:r>
                      <a:endParaRPr lang="en-IN" sz="2400" dirty="0"/>
                    </a:p>
                  </a:txBody>
                  <a:tcPr/>
                </a:tc>
                <a:extLst>
                  <a:ext uri="{0D108BD9-81ED-4DB2-BD59-A6C34878D82A}">
                    <a16:rowId xmlns:a16="http://schemas.microsoft.com/office/drawing/2014/main" val="605087885"/>
                  </a:ext>
                </a:extLst>
              </a:tr>
              <a:tr h="1102764">
                <a:tc>
                  <a:txBody>
                    <a:bodyPr/>
                    <a:lstStyle/>
                    <a:p>
                      <a:pPr algn="just">
                        <a:lnSpc>
                          <a:spcPct val="150000"/>
                        </a:lnSpc>
                      </a:pPr>
                      <a:r>
                        <a:rPr lang="en-IN" sz="2400" dirty="0"/>
                        <a:t>                        03</a:t>
                      </a:r>
                    </a:p>
                  </a:txBody>
                  <a:tcPr/>
                </a:tc>
                <a:tc>
                  <a:txBody>
                    <a:bodyPr/>
                    <a:lstStyle/>
                    <a:p>
                      <a:pPr algn="just">
                        <a:lnSpc>
                          <a:spcPct val="150000"/>
                        </a:lnSpc>
                      </a:pPr>
                      <a:r>
                        <a:rPr lang="en-IN" sz="2400" dirty="0"/>
                        <a:t>   Students wait without updates</a:t>
                      </a:r>
                    </a:p>
                  </a:txBody>
                  <a:tcPr anchor="ctr"/>
                </a:tc>
                <a:tc>
                  <a:txBody>
                    <a:bodyPr/>
                    <a:lstStyle/>
                    <a:p>
                      <a:pPr algn="just">
                        <a:lnSpc>
                          <a:spcPct val="150000"/>
                        </a:lnSpc>
                      </a:pPr>
                      <a:r>
                        <a:rPr lang="en-US" sz="2400" dirty="0"/>
                        <a:t>Real-time location and ETA on student  app.</a:t>
                      </a:r>
                    </a:p>
                  </a:txBody>
                  <a:tcPr anchor="ctr"/>
                </a:tc>
                <a:extLst>
                  <a:ext uri="{0D108BD9-81ED-4DB2-BD59-A6C34878D82A}">
                    <a16:rowId xmlns:a16="http://schemas.microsoft.com/office/drawing/2014/main" val="1814243800"/>
                  </a:ext>
                </a:extLst>
              </a:tr>
              <a:tr h="1116902">
                <a:tc>
                  <a:txBody>
                    <a:bodyPr/>
                    <a:lstStyle/>
                    <a:p>
                      <a:pPr algn="just">
                        <a:lnSpc>
                          <a:spcPct val="150000"/>
                        </a:lnSpc>
                      </a:pPr>
                      <a:r>
                        <a:rPr lang="en-IN" sz="2400" dirty="0"/>
                        <a:t>                       04</a:t>
                      </a:r>
                    </a:p>
                  </a:txBody>
                  <a:tcPr/>
                </a:tc>
                <a:tc>
                  <a:txBody>
                    <a:bodyPr/>
                    <a:lstStyle/>
                    <a:p>
                      <a:pPr algn="just">
                        <a:lnSpc>
                          <a:spcPct val="150000"/>
                        </a:lnSpc>
                      </a:pPr>
                      <a:r>
                        <a:rPr lang="en-IN" sz="2400" dirty="0"/>
                        <a:t>  Inefficient admin monitoring</a:t>
                      </a:r>
                    </a:p>
                  </a:txBody>
                  <a:tcPr/>
                </a:tc>
                <a:tc>
                  <a:txBody>
                    <a:bodyPr/>
                    <a:lstStyle/>
                    <a:p>
                      <a:pPr algn="just">
                        <a:lnSpc>
                          <a:spcPct val="150000"/>
                        </a:lnSpc>
                      </a:pPr>
                      <a:r>
                        <a:rPr lang="en-US" sz="2400" dirty="0"/>
                        <a:t>Centralized admin dashboard for bus and route management</a:t>
                      </a:r>
                      <a:endParaRPr lang="en-IN" sz="2400" dirty="0"/>
                    </a:p>
                  </a:txBody>
                  <a:tcPr/>
                </a:tc>
                <a:extLst>
                  <a:ext uri="{0D108BD9-81ED-4DB2-BD59-A6C34878D82A}">
                    <a16:rowId xmlns:a16="http://schemas.microsoft.com/office/drawing/2014/main" val="215244684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58A930-B22B-DE3F-A25E-64D6046484D5}"/>
              </a:ext>
            </a:extLst>
          </p:cNvPr>
          <p:cNvSpPr>
            <a:spLocks noGrp="1"/>
          </p:cNvSpPr>
          <p:nvPr>
            <p:ph type="ftr" sz="quarter" idx="5"/>
          </p:nvPr>
        </p:nvSpPr>
        <p:spPr>
          <a:xfrm>
            <a:off x="4724400" y="6447704"/>
            <a:ext cx="380999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r>
              <a:rPr lang="en-US" b="1" spc="-10" dirty="0">
                <a:latin typeface="Times New Roman" panose="02020603050405020304"/>
                <a:cs typeface="Times New Roman" panose="02020603050405020304"/>
              </a:rPr>
              <a:t> </a:t>
            </a:r>
          </a:p>
        </p:txBody>
      </p:sp>
      <p:sp>
        <p:nvSpPr>
          <p:cNvPr id="3" name="Date Placeholder 2">
            <a:extLst>
              <a:ext uri="{FF2B5EF4-FFF2-40B4-BE49-F238E27FC236}">
                <a16:creationId xmlns:a16="http://schemas.microsoft.com/office/drawing/2014/main" id="{CA5BEE00-A4EF-D728-988F-7E70C1DC810C}"/>
              </a:ext>
            </a:extLst>
          </p:cNvPr>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4" name="Slide Number Placeholder 3">
            <a:extLst>
              <a:ext uri="{FF2B5EF4-FFF2-40B4-BE49-F238E27FC236}">
                <a16:creationId xmlns:a16="http://schemas.microsoft.com/office/drawing/2014/main" id="{9512BFF1-5793-DB1E-A79B-626B757D7186}"/>
              </a:ext>
            </a:extLst>
          </p:cNvPr>
          <p:cNvSpPr>
            <a:spLocks noGrp="1"/>
          </p:cNvSpPr>
          <p:nvPr>
            <p:ph type="sldNum" sz="quarter" idx="7"/>
          </p:nvPr>
        </p:nvSpPr>
        <p:spPr>
          <a:xfrm>
            <a:off x="11068811" y="6464680"/>
            <a:ext cx="361189" cy="178434"/>
          </a:xfrm>
        </p:spPr>
        <p:txBody>
          <a:bodyPr/>
          <a:lstStyle/>
          <a:p>
            <a:pPr marL="115570">
              <a:lnSpc>
                <a:spcPts val="1240"/>
              </a:lnSpc>
            </a:pPr>
            <a:fld id="{81D60167-4931-47E6-BA6A-407CBD079E47}" type="slidenum">
              <a:rPr lang="en-IN" spc="-50" smtClean="0"/>
              <a:t>17</a:t>
            </a:fld>
            <a:endParaRPr lang="en-IN" spc="-50" dirty="0"/>
          </a:p>
        </p:txBody>
      </p:sp>
      <p:pic>
        <p:nvPicPr>
          <p:cNvPr id="5" name="Picture 4">
            <a:extLst>
              <a:ext uri="{FF2B5EF4-FFF2-40B4-BE49-F238E27FC236}">
                <a16:creationId xmlns:a16="http://schemas.microsoft.com/office/drawing/2014/main" id="{A0C44B33-4FCE-5057-9037-05BD355123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800" y="260055"/>
            <a:ext cx="9747885" cy="62169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192086B-81D0-0210-4E5A-7DE5497C1D6A}"/>
              </a:ext>
            </a:extLst>
          </p:cNvPr>
          <p:cNvSpPr txBox="1"/>
          <p:nvPr/>
        </p:nvSpPr>
        <p:spPr>
          <a:xfrm>
            <a:off x="457200" y="184020"/>
            <a:ext cx="2286000" cy="200376"/>
          </a:xfrm>
          <a:prstGeom prst="rect">
            <a:avLst/>
          </a:prstGeom>
        </p:spPr>
        <p:txBody>
          <a:bodyPr vert="horz" wrap="square" lIns="0" tIns="12700" rIns="0" bIns="0" rtlCol="0">
            <a:spAutoFit/>
          </a:bodyPr>
          <a:lstStyle/>
          <a:p>
            <a:pPr marL="12700" algn="l">
              <a:lnSpc>
                <a:spcPts val="1240"/>
              </a:lnSpc>
            </a:pPr>
            <a:r>
              <a:rPr lang="en-IN" sz="2400" b="1" spc="-10" dirty="0">
                <a:latin typeface="Times New Roman" panose="02020603050405020304" pitchFamily="18" charset="0"/>
                <a:cs typeface="Times New Roman" panose="02020603050405020304" pitchFamily="18" charset="0"/>
              </a:rPr>
              <a:t>7.4 Flow Chart</a:t>
            </a:r>
          </a:p>
        </p:txBody>
      </p:sp>
    </p:spTree>
    <p:extLst>
      <p:ext uri="{BB962C8B-B14F-4D97-AF65-F5344CB8AC3E}">
        <p14:creationId xmlns:p14="http://schemas.microsoft.com/office/powerpoint/2010/main" val="520709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0" y="228600"/>
            <a:ext cx="3919220" cy="1231106"/>
          </a:xfrm>
        </p:spPr>
        <p:txBody>
          <a:bodyPr/>
          <a:lstStyle/>
          <a:p>
            <a:r>
              <a:rPr lang="en-US" sz="3600" spc="-10" dirty="0">
                <a:latin typeface="Times New Roman" panose="02020603050405020304"/>
                <a:cs typeface="Times New Roman" panose="02020603050405020304"/>
              </a:rPr>
              <a:t>  8. Methodology</a:t>
            </a:r>
            <a:br>
              <a:rPr lang="en-US" sz="4400" spc="-10" dirty="0">
                <a:latin typeface="Times New Roman" panose="02020603050405020304"/>
                <a:cs typeface="Times New Roman" panose="02020603050405020304"/>
              </a:rPr>
            </a:br>
            <a:endParaRPr lang="en-IN" dirty="0"/>
          </a:p>
        </p:txBody>
      </p:sp>
      <p:sp>
        <p:nvSpPr>
          <p:cNvPr id="3" name="Text Placeholder 2"/>
          <p:cNvSpPr>
            <a:spLocks noGrp="1"/>
          </p:cNvSpPr>
          <p:nvPr>
            <p:ph sz="half" idx="2"/>
          </p:nvPr>
        </p:nvSpPr>
        <p:spPr>
          <a:xfrm>
            <a:off x="609600" y="1038860"/>
            <a:ext cx="11142345" cy="5132070"/>
          </a:xfrm>
        </p:spPr>
        <p:txBody>
          <a:bodyPr>
            <a:noAutofit/>
          </a:bodyPr>
          <a:lstStyle/>
          <a:p>
            <a:pPr algn="just"/>
            <a:r>
              <a:rPr lang="en-US" sz="2400" i="0" u="none" strike="noStrike" baseline="0" dirty="0">
                <a:solidFill>
                  <a:srgbClr val="000000"/>
                </a:solidFill>
                <a:latin typeface="Times New Roman" panose="02020603050405020304" pitchFamily="18" charset="0"/>
              </a:rPr>
              <a:t>8.1 Techniques or Algorithms to be Used</a:t>
            </a:r>
            <a:endParaRPr lang="en-US" sz="2400" b="0" i="0" u="none" strike="noStrike" baseline="0" dirty="0">
              <a:solidFill>
                <a:srgbClr val="000000"/>
              </a:solidFill>
              <a:latin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GPS-Based Real-Time Tracking</a:t>
            </a:r>
            <a:r>
              <a:rPr lang="en-US" sz="2400" b="0" dirty="0">
                <a:latin typeface="Times New Roman" panose="02020603050405020304" pitchFamily="18" charset="0"/>
                <a:cs typeface="Times New Roman" panose="02020603050405020304" pitchFamily="18" charset="0"/>
              </a:rPr>
              <a:t>→ Tracks bus location live using GPS devices installed in buses.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IoT Integration</a:t>
            </a:r>
            <a:r>
              <a:rPr lang="en-US" sz="2400" b="0" dirty="0">
                <a:latin typeface="Times New Roman" panose="02020603050405020304" pitchFamily="18" charset="0"/>
                <a:cs typeface="Times New Roman" panose="02020603050405020304" pitchFamily="18" charset="0"/>
              </a:rPr>
              <a:t>→ Collects and transmits bus movement data (location, speed) to the backend server.</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Deep Learning for ETA Prediction</a:t>
            </a:r>
            <a:r>
              <a:rPr lang="en-US" sz="2400" b="0" dirty="0">
                <a:latin typeface="Times New Roman" panose="02020603050405020304" pitchFamily="18" charset="0"/>
                <a:cs typeface="Times New Roman" panose="02020603050405020304" pitchFamily="18" charset="0"/>
              </a:rPr>
              <a:t>→ Predicts estimated arrival times using historical and real-time data.</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Firebase Cloud Messaging </a:t>
            </a:r>
            <a:r>
              <a:rPr lang="en-US" sz="2400" b="0" dirty="0">
                <a:latin typeface="Times New Roman" panose="02020603050405020304" pitchFamily="18" charset="0"/>
                <a:cs typeface="Times New Roman" panose="02020603050405020304" pitchFamily="18" charset="0"/>
              </a:rPr>
              <a:t>(FCM)→ Delivers instant push notifications to students about delays or arrivals.</a:t>
            </a:r>
            <a:endParaRPr lang="en-IN" sz="2400" b="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3"/>
          </p:nvPr>
        </p:nvSpPr>
        <p:spPr>
          <a:xfrm>
            <a:off x="6553200" y="1577340"/>
            <a:ext cx="5303520" cy="461645"/>
          </a:xfrm>
        </p:spPr>
        <p:txBody>
          <a:bodyPr/>
          <a:lstStyle/>
          <a:p>
            <a:pPr algn="l">
              <a:lnSpc>
                <a:spcPct val="150000"/>
              </a:lnSpc>
            </a:pPr>
            <a:r>
              <a:rPr lang="en-IN" sz="2000" b="0" dirty="0"/>
              <a:t> </a:t>
            </a:r>
          </a:p>
        </p:txBody>
      </p:sp>
      <p:sp>
        <p:nvSpPr>
          <p:cNvPr id="7" name="object 7"/>
          <p:cNvSpPr txBox="1"/>
          <p:nvPr/>
        </p:nvSpPr>
        <p:spPr>
          <a:xfrm>
            <a:off x="10896854" y="6366116"/>
            <a:ext cx="380746" cy="156068"/>
          </a:xfrm>
          <a:prstGeom prst="rect">
            <a:avLst/>
          </a:prstGeom>
        </p:spPr>
        <p:txBody>
          <a:bodyPr vert="horz" wrap="square" lIns="0" tIns="0" rIns="0" bIns="0" rtlCol="0">
            <a:spAutoFit/>
          </a:bodyPr>
          <a:lstStyle/>
          <a:p>
            <a:pPr marL="38100">
              <a:lnSpc>
                <a:spcPts val="1240"/>
              </a:lnSpc>
            </a:pPr>
            <a:fld id="{81D60167-4931-47E6-BA6A-407CBD079E47}" type="slidenum">
              <a:rPr sz="1200" spc="-50" dirty="0">
                <a:solidFill>
                  <a:srgbClr val="888888"/>
                </a:solidFill>
                <a:latin typeface="Calibri" panose="020F0502020204030204"/>
                <a:cs typeface="Calibri" panose="020F0502020204030204"/>
              </a:rPr>
              <a:t>18</a:t>
            </a:fld>
            <a:endParaRPr sz="1200" dirty="0">
              <a:latin typeface="Calibri" panose="020F0502020204030204"/>
              <a:cs typeface="Calibri" panose="020F0502020204030204"/>
            </a:endParaRPr>
          </a:p>
        </p:txBody>
      </p:sp>
      <p:sp>
        <p:nvSpPr>
          <p:cNvPr id="5" name="Date Placeholder 4"/>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8" name="Footer Placeholder 7"/>
          <p:cNvSpPr>
            <a:spLocks noGrp="1"/>
          </p:cNvSpPr>
          <p:nvPr>
            <p:ph type="ftr" sz="quarter" idx="5"/>
          </p:nvPr>
        </p:nvSpPr>
        <p:spPr>
          <a:xfrm>
            <a:off x="4495800" y="6366117"/>
            <a:ext cx="4419599" cy="364202"/>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609600" y="609600"/>
            <a:ext cx="5303520" cy="440055"/>
          </a:xfrm>
        </p:spPr>
        <p:txBody>
          <a:bodyPr>
            <a:noAutofit/>
          </a:bodyPr>
          <a:lstStyle/>
          <a:p>
            <a:r>
              <a:rPr lang="en-US" altLang="en-IN" sz="2400" dirty="0">
                <a:sym typeface="+mn-ea"/>
              </a:rPr>
              <a:t>    8.2</a:t>
            </a:r>
            <a:r>
              <a:rPr lang="en-IN" sz="2400" dirty="0">
                <a:sym typeface="+mn-ea"/>
              </a:rPr>
              <a:t>. Development Model</a:t>
            </a:r>
            <a:endParaRPr lang="en-US" sz="2400" dirty="0"/>
          </a:p>
        </p:txBody>
      </p:sp>
      <p:sp>
        <p:nvSpPr>
          <p:cNvPr id="4" name="Content Placeholder 3"/>
          <p:cNvSpPr>
            <a:spLocks noGrp="1"/>
          </p:cNvSpPr>
          <p:nvPr>
            <p:ph sz="half" idx="3"/>
          </p:nvPr>
        </p:nvSpPr>
        <p:spPr>
          <a:xfrm>
            <a:off x="914400" y="1103630"/>
            <a:ext cx="10668000" cy="5667375"/>
          </a:xfrm>
        </p:spPr>
        <p:txBody>
          <a:bodyPr>
            <a:noAutofit/>
          </a:bodyPr>
          <a:lstStyle/>
          <a:p>
            <a:pPr algn="l" rtl="0">
              <a:lnSpc>
                <a:spcPct val="150000"/>
              </a:lnSpc>
            </a:pPr>
            <a:r>
              <a:rPr lang="en-US" altLang="en-US" sz="2400" dirty="0">
                <a:latin typeface="Times New Roman" panose="02020603050405020304" pitchFamily="18" charset="0"/>
                <a:cs typeface="Times New Roman" panose="02020603050405020304" pitchFamily="18" charset="0"/>
              </a:rPr>
              <a:t>Waterfall  Model: </a:t>
            </a:r>
            <a:r>
              <a:rPr lang="en-US" altLang="en-US" sz="2400" b="0" dirty="0">
                <a:latin typeface="Times New Roman" panose="02020603050405020304" pitchFamily="18" charset="0"/>
                <a:cs typeface="Times New Roman" panose="02020603050405020304" pitchFamily="18" charset="0"/>
              </a:rPr>
              <a:t>Our project follows a plan-driven approach, and the most suitable development model is the Waterfall (or V-Model), as it allows structured, sequential development and systematic testing of software components.</a:t>
            </a:r>
          </a:p>
          <a:p>
            <a:pPr algn="l">
              <a:lnSpc>
                <a:spcPct val="150000"/>
              </a:lnSpc>
            </a:pPr>
            <a:endParaRPr lang="en-US" sz="2000" b="0" dirty="0"/>
          </a:p>
        </p:txBody>
      </p:sp>
      <p:pic>
        <p:nvPicPr>
          <p:cNvPr id="2" name="Picture 1" descr="waterrr"/>
          <p:cNvPicPr>
            <a:picLocks noChangeAspect="1"/>
          </p:cNvPicPr>
          <p:nvPr/>
        </p:nvPicPr>
        <p:blipFill>
          <a:blip r:embed="rId2"/>
          <a:stretch>
            <a:fillRect/>
          </a:stretch>
        </p:blipFill>
        <p:spPr>
          <a:xfrm>
            <a:off x="667067" y="2804160"/>
            <a:ext cx="11162665" cy="3672840"/>
          </a:xfrm>
          <a:prstGeom prst="rect">
            <a:avLst/>
          </a:prstGeom>
        </p:spPr>
      </p:pic>
      <p:sp>
        <p:nvSpPr>
          <p:cNvPr id="5" name="Date Placeholder 4"/>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6" name="Footer Placeholder 5"/>
          <p:cNvSpPr>
            <a:spLocks noGrp="1"/>
          </p:cNvSpPr>
          <p:nvPr>
            <p:ph type="ftr" sz="quarter" idx="5"/>
          </p:nvPr>
        </p:nvSpPr>
        <p:spPr>
          <a:xfrm>
            <a:off x="4648200" y="6464215"/>
            <a:ext cx="3962400"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r>
              <a:rPr lang="en-US" spc="-10" dirty="0">
                <a:latin typeface="Times New Roman" panose="02020603050405020304"/>
                <a:cs typeface="Times New Roman" panose="02020603050405020304"/>
              </a:rPr>
              <a:t> </a:t>
            </a:r>
          </a:p>
        </p:txBody>
      </p:sp>
      <p:sp>
        <p:nvSpPr>
          <p:cNvPr id="7" name="Slide Number Placeholder 6"/>
          <p:cNvSpPr>
            <a:spLocks noGrp="1"/>
          </p:cNvSpPr>
          <p:nvPr>
            <p:ph type="sldNum" sz="quarter" idx="7"/>
          </p:nvPr>
        </p:nvSpPr>
        <p:spPr>
          <a:xfrm>
            <a:off x="10967085" y="6464215"/>
            <a:ext cx="346201" cy="178899"/>
          </a:xfrm>
        </p:spPr>
        <p:txBody>
          <a:bodyPr/>
          <a:lstStyle/>
          <a:p>
            <a:pPr marL="115570">
              <a:lnSpc>
                <a:spcPts val="1240"/>
              </a:lnSpc>
            </a:pPr>
            <a:fld id="{81D60167-4931-47E6-BA6A-407CBD079E47}" type="slidenum">
              <a:rPr lang="en-IN" spc="-50" smtClean="0"/>
              <a:t>19</a:t>
            </a:fld>
            <a:endParaRPr lang="en-IN" spc="-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304800"/>
            <a:ext cx="6097554" cy="579967"/>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pPr>
            <a:r>
              <a:rPr lang="en-US" altLang="en-US" sz="2400" b="1" dirty="0">
                <a:ln>
                  <a:noFill/>
                </a:ln>
                <a:effectLst/>
                <a:latin typeface="Times New Roman" panose="02020603050405020304" pitchFamily="18" charset="0"/>
                <a:cs typeface="Times New Roman" panose="02020603050405020304" pitchFamily="18" charset="0"/>
                <a:sym typeface="+mn-ea"/>
              </a:rPr>
              <a:t>8.3 Tools &amp; Technologies</a:t>
            </a:r>
            <a:endParaRPr kumimoji="0" lang="en-US" altLang="en-US" sz="24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1066800"/>
            <a:ext cx="11125200" cy="5998052"/>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React.js </a:t>
            </a:r>
          </a:p>
          <a:p>
            <a:pPr marL="457200" indent="-4572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Node.js</a:t>
            </a:r>
          </a:p>
          <a:p>
            <a:pPr marL="457200" indent="-4572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MongoDB (for storing user data, bus schedules, GPS logs, etc.)</a:t>
            </a:r>
          </a:p>
          <a:p>
            <a:pPr marL="457200" indent="-4572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Notification System</a:t>
            </a:r>
            <a:r>
              <a:rPr lang="en-IN" sz="2400" dirty="0">
                <a:latin typeface="Times New Roman" panose="02020603050405020304" pitchFamily="18" charset="0"/>
                <a:cs typeface="Times New Roman" panose="02020603050405020304" pitchFamily="18" charset="0"/>
              </a:rPr>
              <a:t>: Firebase Cloud Messaging (FCM)</a:t>
            </a:r>
          </a:p>
          <a:p>
            <a:pPr marL="457200" indent="-4572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Tools &amp; IDEs</a:t>
            </a:r>
            <a:r>
              <a:rPr lang="en-IN" sz="2400" dirty="0">
                <a:latin typeface="Times New Roman" panose="02020603050405020304" pitchFamily="18" charset="0"/>
                <a:cs typeface="Times New Roman" panose="02020603050405020304" pitchFamily="18" charset="0"/>
              </a:rPr>
              <a:t>: Visual Studio Code</a:t>
            </a:r>
          </a:p>
          <a:p>
            <a:pPr marL="457200" indent="-4572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Geolocation</a:t>
            </a:r>
            <a:r>
              <a:rPr lang="en-IN" sz="2400" dirty="0">
                <a:latin typeface="Times New Roman" panose="02020603050405020304" pitchFamily="18" charset="0"/>
                <a:cs typeface="Times New Roman" panose="02020603050405020304" pitchFamily="18" charset="0"/>
              </a:rPr>
              <a:t> : Google Maps</a:t>
            </a:r>
          </a:p>
          <a:p>
            <a:pPr algn="just">
              <a:lnSpc>
                <a:spcPct val="150000"/>
              </a:lnSpc>
            </a:pPr>
            <a:endParaRPr lang="en-IN" sz="2400" b="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endParaRPr lang="en-IN" sz="1800" b="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endParaRPr lang="en-IN" sz="1800" b="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endParaRPr lang="en-IN" sz="1800" b="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5" name="Footer Placeholder 4"/>
          <p:cNvSpPr>
            <a:spLocks noGrp="1"/>
          </p:cNvSpPr>
          <p:nvPr>
            <p:ph type="ftr" sz="quarter" idx="5"/>
          </p:nvPr>
        </p:nvSpPr>
        <p:spPr>
          <a:xfrm>
            <a:off x="5097271" y="6447705"/>
            <a:ext cx="366572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r>
              <a:rPr lang="en-US" spc="-10" dirty="0">
                <a:latin typeface="Times New Roman" panose="02020603050405020304"/>
                <a:cs typeface="Times New Roman" panose="02020603050405020304"/>
              </a:rPr>
              <a:t> </a:t>
            </a:r>
          </a:p>
        </p:txBody>
      </p:sp>
      <p:sp>
        <p:nvSpPr>
          <p:cNvPr id="6" name="Slide Number Placeholder 5"/>
          <p:cNvSpPr>
            <a:spLocks noGrp="1"/>
          </p:cNvSpPr>
          <p:nvPr>
            <p:ph type="sldNum" sz="quarter" idx="7"/>
          </p:nvPr>
        </p:nvSpPr>
        <p:spPr>
          <a:xfrm>
            <a:off x="11068811" y="6464680"/>
            <a:ext cx="513589" cy="161459"/>
          </a:xfrm>
        </p:spPr>
        <p:txBody>
          <a:bodyPr/>
          <a:lstStyle/>
          <a:p>
            <a:pPr marL="115570">
              <a:lnSpc>
                <a:spcPts val="1240"/>
              </a:lnSpc>
            </a:pPr>
            <a:fld id="{81D60167-4931-47E6-BA6A-407CBD079E47}" type="slidenum">
              <a:rPr lang="en-IN" spc="-50" smtClean="0"/>
              <a:t>20</a:t>
            </a:fld>
            <a:endParaRPr lang="en-IN" spc="-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xfrm>
            <a:off x="916939" y="6464680"/>
            <a:ext cx="765175" cy="309957"/>
          </a:xfrm>
          <a:prstGeom prst="rect">
            <a:avLst/>
          </a:prstGeom>
        </p:spPr>
        <p:txBody>
          <a:bodyPr vert="horz" wrap="square" lIns="0" tIns="0" rIns="0" bIns="0" rtlCol="0">
            <a:spAutoFit/>
          </a:bodyPr>
          <a:lstStyle/>
          <a:p>
            <a:pPr marL="12700">
              <a:lnSpc>
                <a:spcPts val="1240"/>
              </a:lnSpc>
            </a:pPr>
            <a:r>
              <a:rPr lang="en-US" spc="-10" dirty="0"/>
              <a:t>13/01/2026</a:t>
            </a:r>
          </a:p>
          <a:p>
            <a:pPr marL="12700">
              <a:lnSpc>
                <a:spcPts val="1240"/>
              </a:lnSpc>
            </a:pPr>
            <a:endParaRPr lang="en-US" spc="-10" dirty="0"/>
          </a:p>
        </p:txBody>
      </p:sp>
      <p:sp>
        <p:nvSpPr>
          <p:cNvPr id="6" name="object 6"/>
          <p:cNvSpPr txBox="1">
            <a:spLocks noGrp="1"/>
          </p:cNvSpPr>
          <p:nvPr>
            <p:ph type="sldNum" sz="quarter" idx="7"/>
          </p:nvPr>
        </p:nvSpPr>
        <p:spPr>
          <a:xfrm>
            <a:off x="11068811" y="6464680"/>
            <a:ext cx="513589" cy="156068"/>
          </a:xfrm>
          <a:prstGeom prst="rect">
            <a:avLst/>
          </a:prstGeom>
        </p:spPr>
        <p:txBody>
          <a:bodyPr vert="horz" wrap="square" lIns="0" tIns="0" rIns="0" bIns="0" rtlCol="0">
            <a:spAutoFit/>
          </a:bodyPr>
          <a:lstStyle/>
          <a:p>
            <a:pPr marL="115570">
              <a:lnSpc>
                <a:spcPts val="1240"/>
              </a:lnSpc>
            </a:pPr>
            <a:fld id="{81D60167-4931-47E6-BA6A-407CBD079E47}" type="slidenum">
              <a:rPr spc="-50" dirty="0"/>
              <a:t>21</a:t>
            </a:fld>
            <a:endParaRPr spc="-50" dirty="0"/>
          </a:p>
        </p:txBody>
      </p:sp>
      <p:sp>
        <p:nvSpPr>
          <p:cNvPr id="2" name="object 2"/>
          <p:cNvSpPr txBox="1">
            <a:spLocks noGrp="1"/>
          </p:cNvSpPr>
          <p:nvPr>
            <p:ph type="title"/>
          </p:nvPr>
        </p:nvSpPr>
        <p:spPr>
          <a:xfrm>
            <a:off x="4572000" y="374650"/>
            <a:ext cx="3274695" cy="565785"/>
          </a:xfrm>
          <a:prstGeom prst="rect">
            <a:avLst/>
          </a:prstGeom>
        </p:spPr>
        <p:txBody>
          <a:bodyPr vert="horz" wrap="square" lIns="0" tIns="12065" rIns="0" bIns="0" rtlCol="0">
            <a:spAutoFit/>
          </a:bodyPr>
          <a:lstStyle/>
          <a:p>
            <a:pPr marL="12700">
              <a:lnSpc>
                <a:spcPct val="100000"/>
              </a:lnSpc>
              <a:spcBef>
                <a:spcPts val="95"/>
              </a:spcBef>
            </a:pPr>
            <a:r>
              <a:rPr lang="en-US" sz="3600" spc="-10" dirty="0"/>
              <a:t>9.</a:t>
            </a:r>
            <a:r>
              <a:rPr sz="3600" spc="-10" dirty="0"/>
              <a:t>Requirements</a:t>
            </a:r>
            <a:endParaRPr sz="3600" dirty="0"/>
          </a:p>
        </p:txBody>
      </p:sp>
      <p:sp>
        <p:nvSpPr>
          <p:cNvPr id="3" name="object 3"/>
          <p:cNvSpPr txBox="1"/>
          <p:nvPr/>
        </p:nvSpPr>
        <p:spPr>
          <a:xfrm>
            <a:off x="533400" y="914400"/>
            <a:ext cx="11512550" cy="5520690"/>
          </a:xfrm>
          <a:prstGeom prst="rect">
            <a:avLst/>
          </a:prstGeom>
        </p:spPr>
        <p:txBody>
          <a:bodyPr vert="horz" wrap="square" lIns="0" tIns="12700" rIns="0" bIns="0" rtlCol="0">
            <a:noAutofit/>
          </a:bodyPr>
          <a:lstStyle/>
          <a:p>
            <a:pPr marL="12700">
              <a:lnSpc>
                <a:spcPct val="100000"/>
              </a:lnSpc>
              <a:spcBef>
                <a:spcPts val="100"/>
              </a:spcBef>
              <a:tabLst>
                <a:tab pos="240665" algn="l"/>
              </a:tabLst>
            </a:pPr>
            <a:r>
              <a:rPr lang="en-US" altLang="en-US" sz="2400" b="1" dirty="0">
                <a:latin typeface="Times New Roman" panose="02020603050405020304"/>
                <a:cs typeface="Times New Roman" panose="02020603050405020304"/>
              </a:rPr>
              <a:t>9.1 </a:t>
            </a:r>
            <a:r>
              <a:rPr sz="2400" b="1" dirty="0">
                <a:latin typeface="Times New Roman" panose="02020603050405020304"/>
                <a:cs typeface="Times New Roman" panose="02020603050405020304"/>
              </a:rPr>
              <a:t>Functional</a:t>
            </a:r>
            <a:r>
              <a:rPr sz="2400" b="1" spc="-45" dirty="0">
                <a:latin typeface="Times New Roman" panose="02020603050405020304"/>
                <a:cs typeface="Times New Roman" panose="02020603050405020304"/>
              </a:rPr>
              <a:t> </a:t>
            </a:r>
            <a:r>
              <a:rPr sz="2400" b="1" spc="-10" dirty="0">
                <a:latin typeface="Times New Roman" panose="02020603050405020304"/>
                <a:cs typeface="Times New Roman" panose="02020603050405020304"/>
              </a:rPr>
              <a:t>Requirements</a:t>
            </a:r>
            <a:endParaRPr lang="en-US" sz="2400" b="1" spc="-10" dirty="0">
              <a:latin typeface="Times New Roman" panose="02020603050405020304"/>
              <a:cs typeface="Times New Roman" panose="02020603050405020304"/>
            </a:endParaRPr>
          </a:p>
          <a:p>
            <a:pPr marL="12700">
              <a:lnSpc>
                <a:spcPct val="100000"/>
              </a:lnSpc>
              <a:spcBef>
                <a:spcPts val="100"/>
              </a:spcBef>
              <a:tabLst>
                <a:tab pos="240665" algn="l"/>
              </a:tabLst>
            </a:pPr>
            <a:endParaRPr lang="en-US" sz="2700" b="1" spc="-10" dirty="0">
              <a:latin typeface="Times New Roman" panose="02020603050405020304"/>
              <a:cs typeface="Times New Roman" panose="02020603050405020304"/>
            </a:endParaRPr>
          </a:p>
          <a:p>
            <a:pPr marL="12700">
              <a:lnSpc>
                <a:spcPct val="100000"/>
              </a:lnSpc>
              <a:spcBef>
                <a:spcPts val="100"/>
              </a:spcBef>
              <a:tabLst>
                <a:tab pos="240665" algn="l"/>
              </a:tabLst>
            </a:pPr>
            <a:endParaRPr sz="1800" dirty="0">
              <a:latin typeface="Times New Roman" panose="02020603050405020304"/>
              <a:cs typeface="Times New Roman" panose="02020603050405020304"/>
            </a:endParaRPr>
          </a:p>
          <a:p>
            <a:pPr algn="l"/>
            <a:endParaRPr lang="en-IN" sz="1800" b="0" i="0" u="none" strike="noStrike" baseline="0" dirty="0">
              <a:solidFill>
                <a:srgbClr val="000000"/>
              </a:solidFill>
              <a:latin typeface="Times New Roman" panose="02020603050405020304" pitchFamily="18" charset="0"/>
            </a:endParaRPr>
          </a:p>
          <a:p>
            <a:pPr algn="just">
              <a:lnSpc>
                <a:spcPct val="150000"/>
              </a:lnSpc>
            </a:pPr>
            <a:endParaRPr lang="en-US" sz="1800" b="0" i="0" u="none" strike="noStrike" baseline="0" dirty="0">
              <a:solidFill>
                <a:srgbClr val="000000"/>
              </a:solidFill>
              <a:latin typeface="Times New Roman" panose="02020603050405020304" pitchFamily="18" charset="0"/>
            </a:endParaRPr>
          </a:p>
        </p:txBody>
      </p:sp>
      <p:sp>
        <p:nvSpPr>
          <p:cNvPr id="7" name="Footer Placeholder 6"/>
          <p:cNvSpPr>
            <a:spLocks noGrp="1"/>
          </p:cNvSpPr>
          <p:nvPr>
            <p:ph type="ftr" sz="quarter" idx="5"/>
          </p:nvPr>
        </p:nvSpPr>
        <p:spPr>
          <a:xfrm>
            <a:off x="5200967" y="6385877"/>
            <a:ext cx="3790633"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4" name="Freeform 5">
            <a:extLst>
              <a:ext uri="{FF2B5EF4-FFF2-40B4-BE49-F238E27FC236}">
                <a16:creationId xmlns:a16="http://schemas.microsoft.com/office/drawing/2014/main" id="{1506F499-BD05-EC36-43B9-D9A9BCFE115C}"/>
              </a:ext>
            </a:extLst>
          </p:cNvPr>
          <p:cNvSpPr/>
          <p:nvPr/>
        </p:nvSpPr>
        <p:spPr>
          <a:xfrm>
            <a:off x="1905000" y="1729819"/>
            <a:ext cx="7543800" cy="3840639"/>
          </a:xfrm>
          <a:custGeom>
            <a:avLst/>
            <a:gdLst/>
            <a:ahLst/>
            <a:cxnLst/>
            <a:rect l="l" t="t" r="r" b="b"/>
            <a:pathLst>
              <a:path w="9846668" h="5642565">
                <a:moveTo>
                  <a:pt x="0" y="0"/>
                </a:moveTo>
                <a:lnTo>
                  <a:pt x="9846668" y="0"/>
                </a:lnTo>
                <a:lnTo>
                  <a:pt x="9846668" y="5642565"/>
                </a:lnTo>
                <a:lnTo>
                  <a:pt x="0" y="5642565"/>
                </a:lnTo>
                <a:lnTo>
                  <a:pt x="0" y="0"/>
                </a:lnTo>
                <a:close/>
              </a:path>
            </a:pathLst>
          </a:custGeom>
          <a:blipFill>
            <a:blip r:embed="rId2"/>
            <a:stretch>
              <a:fillRect r="-976"/>
            </a:stretch>
          </a:blipFill>
        </p:spPr>
        <p:txBody>
          <a:bodyPr/>
          <a:lstStyle/>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772400" cy="369332"/>
          </a:xfrm>
        </p:spPr>
        <p:txBody>
          <a:bodyPr/>
          <a:lstStyle/>
          <a:p>
            <a:r>
              <a:rPr lang="en-IN" sz="2400" spc="-10" dirty="0"/>
              <a:t> 9.2  Non-</a:t>
            </a:r>
            <a:r>
              <a:rPr lang="en-IN" sz="2400" dirty="0"/>
              <a:t>Functional</a:t>
            </a:r>
            <a:r>
              <a:rPr lang="en-IN" sz="2400" spc="-60" dirty="0"/>
              <a:t> </a:t>
            </a:r>
            <a:r>
              <a:rPr lang="en-IN" sz="2400" spc="-10" dirty="0"/>
              <a:t>Requirement</a:t>
            </a:r>
            <a:endParaRPr lang="en-IN" sz="2400" dirty="0"/>
          </a:p>
        </p:txBody>
      </p:sp>
      <p:sp>
        <p:nvSpPr>
          <p:cNvPr id="3" name="Text Placeholder 2"/>
          <p:cNvSpPr>
            <a:spLocks noGrp="1"/>
          </p:cNvSpPr>
          <p:nvPr>
            <p:ph type="body" idx="1"/>
          </p:nvPr>
        </p:nvSpPr>
        <p:spPr>
          <a:xfrm>
            <a:off x="228600" y="914400"/>
            <a:ext cx="11430000" cy="4038600"/>
          </a:xfrm>
        </p:spPr>
        <p:txBody>
          <a:bodyPr/>
          <a:lstStyle/>
          <a:p>
            <a:pPr marL="342900" indent="-342900" algn="just">
              <a:lnSpc>
                <a:spcPct val="150000"/>
              </a:lnSpc>
              <a:buFont typeface="Arial" panose="020B0604020202020204" pitchFamily="34" charset="0"/>
              <a:buChar char="•"/>
            </a:pPr>
            <a:r>
              <a:rPr lang="en-US" sz="2800" b="0" dirty="0">
                <a:solidFill>
                  <a:srgbClr val="000000"/>
                </a:solidFill>
                <a:latin typeface="Times New Roman" panose="02020603050405020304" pitchFamily="18" charset="0"/>
              </a:rPr>
              <a:t>Performance</a:t>
            </a:r>
          </a:p>
          <a:p>
            <a:pPr marL="342900" indent="-342900" algn="just">
              <a:lnSpc>
                <a:spcPct val="150000"/>
              </a:lnSpc>
              <a:buFont typeface="Arial" panose="020B0604020202020204" pitchFamily="34" charset="0"/>
              <a:buChar char="•"/>
            </a:pPr>
            <a:r>
              <a:rPr lang="en-US" sz="2800" b="0" dirty="0">
                <a:solidFill>
                  <a:srgbClr val="000000"/>
                </a:solidFill>
                <a:latin typeface="Times New Roman" panose="02020603050405020304" pitchFamily="18" charset="0"/>
              </a:rPr>
              <a:t>Scalability</a:t>
            </a:r>
          </a:p>
          <a:p>
            <a:pPr marL="342900" indent="-342900" algn="just">
              <a:lnSpc>
                <a:spcPct val="150000"/>
              </a:lnSpc>
              <a:buFont typeface="Arial" panose="020B0604020202020204" pitchFamily="34" charset="0"/>
              <a:buChar char="•"/>
            </a:pPr>
            <a:r>
              <a:rPr lang="en-US" sz="2800" b="0" dirty="0">
                <a:solidFill>
                  <a:srgbClr val="000000"/>
                </a:solidFill>
                <a:latin typeface="Times New Roman" panose="02020603050405020304" pitchFamily="18" charset="0"/>
              </a:rPr>
              <a:t>Reliability</a:t>
            </a:r>
          </a:p>
          <a:p>
            <a:pPr marL="342900" indent="-342900" algn="just">
              <a:lnSpc>
                <a:spcPct val="150000"/>
              </a:lnSpc>
              <a:buFont typeface="Arial" panose="020B0604020202020204" pitchFamily="34" charset="0"/>
              <a:buChar char="•"/>
            </a:pPr>
            <a:r>
              <a:rPr lang="en-US" sz="2800" b="0" dirty="0">
                <a:solidFill>
                  <a:srgbClr val="000000"/>
                </a:solidFill>
                <a:latin typeface="Times New Roman" panose="02020603050405020304" pitchFamily="18" charset="0"/>
              </a:rPr>
              <a:t>Security</a:t>
            </a:r>
            <a:endParaRPr lang="en-US" sz="2400" b="0" dirty="0">
              <a:solidFill>
                <a:srgbClr val="000000"/>
              </a:solidFill>
              <a:latin typeface="Times New Roman" panose="02020603050405020304" pitchFamily="18" charset="0"/>
            </a:endParaRPr>
          </a:p>
          <a:p>
            <a:endParaRPr lang="en-IN" dirty="0"/>
          </a:p>
        </p:txBody>
      </p:sp>
      <p:sp>
        <p:nvSpPr>
          <p:cNvPr id="4" name="Footer Placeholder 3"/>
          <p:cNvSpPr>
            <a:spLocks noGrp="1"/>
          </p:cNvSpPr>
          <p:nvPr>
            <p:ph type="ftr" sz="quarter" idx="5"/>
          </p:nvPr>
        </p:nvSpPr>
        <p:spPr>
          <a:xfrm>
            <a:off x="4953000" y="6293991"/>
            <a:ext cx="3810000" cy="538609"/>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spc="-10" dirty="0">
              <a:latin typeface="Times New Roman" panose="02020603050405020304"/>
              <a:cs typeface="Times New Roman" panose="02020603050405020304"/>
            </a:endParaRPr>
          </a:p>
        </p:txBody>
      </p:sp>
      <p:sp>
        <p:nvSpPr>
          <p:cNvPr id="5" name="Date Placeholder 4"/>
          <p:cNvSpPr>
            <a:spLocks noGrp="1"/>
          </p:cNvSpPr>
          <p:nvPr>
            <p:ph type="dt" sz="half" idx="6"/>
          </p:nvPr>
        </p:nvSpPr>
        <p:spPr>
          <a:xfrm>
            <a:off x="916939" y="6464680"/>
            <a:ext cx="765175" cy="156068"/>
          </a:xfrm>
        </p:spPr>
        <p:txBody>
          <a:bodyPr/>
          <a:lstStyle/>
          <a:p>
            <a:pPr marL="12700">
              <a:lnSpc>
                <a:spcPts val="1240"/>
              </a:lnSpc>
            </a:pPr>
            <a:r>
              <a:rPr lang="en-US" spc="-10" dirty="0"/>
              <a:t>13/01/2026</a:t>
            </a:r>
          </a:p>
        </p:txBody>
      </p:sp>
      <p:sp>
        <p:nvSpPr>
          <p:cNvPr id="6" name="Slide Number Placeholder 5"/>
          <p:cNvSpPr>
            <a:spLocks noGrp="1"/>
          </p:cNvSpPr>
          <p:nvPr>
            <p:ph type="sldNum" sz="quarter" idx="7"/>
          </p:nvPr>
        </p:nvSpPr>
        <p:spPr>
          <a:xfrm>
            <a:off x="11068811" y="6464680"/>
            <a:ext cx="513589" cy="317120"/>
          </a:xfrm>
        </p:spPr>
        <p:txBody>
          <a:bodyPr/>
          <a:lstStyle/>
          <a:p>
            <a:pPr marL="115570">
              <a:lnSpc>
                <a:spcPts val="1240"/>
              </a:lnSpc>
            </a:pPr>
            <a:fld id="{81D60167-4931-47E6-BA6A-407CBD079E47}" type="slidenum">
              <a:rPr lang="en-IN" spc="-50" smtClean="0"/>
              <a:t>22</a:t>
            </a:fld>
            <a:endParaRPr lang="en-IN" spc="-50" dirty="0"/>
          </a:p>
        </p:txBody>
      </p:sp>
    </p:spTree>
    <p:extLst>
      <p:ext uri="{BB962C8B-B14F-4D97-AF65-F5344CB8AC3E}">
        <p14:creationId xmlns:p14="http://schemas.microsoft.com/office/powerpoint/2010/main" val="1445879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0" y="457200"/>
            <a:ext cx="2743200" cy="553720"/>
          </a:xfrm>
        </p:spPr>
        <p:txBody>
          <a:bodyPr/>
          <a:lstStyle/>
          <a:p>
            <a:r>
              <a:rPr lang="en-IN" sz="3600" b="1" i="0" u="none" strike="noStrike" baseline="0" dirty="0">
                <a:solidFill>
                  <a:schemeClr val="accent1"/>
                </a:solidFill>
                <a:latin typeface="Times New Roman" panose="02020603050405020304" pitchFamily="18" charset="0"/>
              </a:rPr>
              <a:t> </a:t>
            </a:r>
            <a:endParaRPr lang="en-IN" sz="7200" dirty="0">
              <a:solidFill>
                <a:schemeClr val="accent1"/>
              </a:solidFill>
            </a:endParaRPr>
          </a:p>
        </p:txBody>
      </p:sp>
      <p:sp>
        <p:nvSpPr>
          <p:cNvPr id="4" name="Content Placeholder 3"/>
          <p:cNvSpPr>
            <a:spLocks noGrp="1"/>
          </p:cNvSpPr>
          <p:nvPr>
            <p:ph sz="half" idx="2"/>
          </p:nvPr>
        </p:nvSpPr>
        <p:spPr>
          <a:xfrm>
            <a:off x="304800" y="381000"/>
            <a:ext cx="10225405" cy="4949825"/>
          </a:xfrm>
        </p:spPr>
        <p:txBody>
          <a:bodyPr>
            <a:noAutofit/>
          </a:bodyPr>
          <a:lstStyle/>
          <a:p>
            <a:pPr algn="l"/>
            <a:r>
              <a:rPr lang="en-US" altLang="en-IN" sz="2400" i="0" u="none" strike="noStrike" baseline="0" dirty="0">
                <a:solidFill>
                  <a:srgbClr val="000000"/>
                </a:solidFill>
                <a:latin typeface="Times New Roman" panose="02020603050405020304" pitchFamily="18" charset="0"/>
              </a:rPr>
              <a:t>    9.3 </a:t>
            </a:r>
            <a:r>
              <a:rPr lang="en-IN" sz="2400" i="0" u="none" strike="noStrike" baseline="0" dirty="0">
                <a:solidFill>
                  <a:srgbClr val="000000"/>
                </a:solidFill>
                <a:latin typeface="Times New Roman" panose="02020603050405020304" pitchFamily="18" charset="0"/>
              </a:rPr>
              <a:t>H</a:t>
            </a:r>
            <a:r>
              <a:rPr lang="en-US" altLang="en-IN" sz="2400" i="0" u="none" strike="noStrike" baseline="0" dirty="0">
                <a:solidFill>
                  <a:srgbClr val="000000"/>
                </a:solidFill>
                <a:latin typeface="Times New Roman" panose="02020603050405020304" pitchFamily="18" charset="0"/>
              </a:rPr>
              <a:t>ardware</a:t>
            </a:r>
            <a:r>
              <a:rPr lang="en-IN" sz="2400" i="0" u="none" strike="noStrike" baseline="0" dirty="0">
                <a:solidFill>
                  <a:srgbClr val="000000"/>
                </a:solidFill>
                <a:latin typeface="Times New Roman" panose="02020603050405020304" pitchFamily="18" charset="0"/>
              </a:rPr>
              <a:t> </a:t>
            </a:r>
            <a:r>
              <a:rPr lang="en-US" altLang="en-IN" sz="2400" i="0" u="none" strike="noStrike" baseline="0" dirty="0">
                <a:solidFill>
                  <a:srgbClr val="000000"/>
                </a:solidFill>
                <a:latin typeface="Times New Roman" panose="02020603050405020304" pitchFamily="18" charset="0"/>
              </a:rPr>
              <a:t> Requirements</a:t>
            </a:r>
            <a:endParaRPr lang="en-IN" sz="2400" i="0" u="none" strike="noStrike" baseline="0" dirty="0">
              <a:solidFill>
                <a:srgbClr val="000000"/>
              </a:solidFill>
              <a:latin typeface="Times New Roman" panose="02020603050405020304" pitchFamily="18" charset="0"/>
            </a:endParaRPr>
          </a:p>
          <a:p>
            <a:pPr algn="l"/>
            <a:endParaRPr lang="en-IN" sz="2000" i="0" u="none" strike="noStrike" baseline="0" dirty="0">
              <a:solidFill>
                <a:srgbClr val="000000"/>
              </a:solidFill>
              <a:latin typeface="Times New Roman" panose="02020603050405020304" pitchFamily="18" charset="0"/>
            </a:endParaRPr>
          </a:p>
          <a:p>
            <a:pPr marL="34290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GPS Module</a:t>
            </a:r>
          </a:p>
          <a:p>
            <a:pPr marL="34290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Network Module (e.g., ESP32 )</a:t>
            </a:r>
          </a:p>
          <a:p>
            <a:pPr marL="342900" indent="-342900">
              <a:lnSpc>
                <a:spcPct val="150000"/>
              </a:lnSpc>
              <a:buFont typeface="Arial" panose="020B0604020202020204" pitchFamily="34" charset="0"/>
              <a:buChar char="•"/>
            </a:pPr>
            <a:r>
              <a:rPr lang="en-IN" sz="2400" b="0" dirty="0">
                <a:latin typeface="Times New Roman" panose="02020603050405020304" pitchFamily="18" charset="0"/>
                <a:cs typeface="Times New Roman" panose="02020603050405020304" pitchFamily="18" charset="0"/>
              </a:rPr>
              <a:t>Smartphone or PC (for users)</a:t>
            </a:r>
          </a:p>
        </p:txBody>
      </p:sp>
      <p:sp>
        <p:nvSpPr>
          <p:cNvPr id="5" name="Content Placeholder 4"/>
          <p:cNvSpPr>
            <a:spLocks noGrp="1"/>
          </p:cNvSpPr>
          <p:nvPr>
            <p:ph sz="half" idx="3"/>
          </p:nvPr>
        </p:nvSpPr>
        <p:spPr>
          <a:xfrm>
            <a:off x="6278880" y="1219200"/>
            <a:ext cx="5303520" cy="876935"/>
          </a:xfrm>
        </p:spPr>
        <p:txBody>
          <a:bodyPr/>
          <a:lstStyle/>
          <a:p>
            <a:pPr algn="just">
              <a:lnSpc>
                <a:spcPct val="150000"/>
              </a:lnSpc>
            </a:pPr>
            <a:endParaRPr lang="en-US" sz="2000" i="0" u="none" strike="noStrike" baseline="0" dirty="0">
              <a:solidFill>
                <a:srgbClr val="000000"/>
              </a:solidFill>
              <a:latin typeface="Times New Roman" panose="02020603050405020304" pitchFamily="18" charset="0"/>
            </a:endParaRPr>
          </a:p>
          <a:p>
            <a:pPr algn="just">
              <a:lnSpc>
                <a:spcPct val="150000"/>
              </a:lnSpc>
            </a:pPr>
            <a:endParaRPr lang="en-IN" sz="1800" b="0" i="0" u="none" strike="noStrike" baseline="0" dirty="0">
              <a:solidFill>
                <a:srgbClr val="000000"/>
              </a:solidFill>
              <a:latin typeface="Times New Roman" panose="02020603050405020304" pitchFamily="18" charset="0"/>
            </a:endParaRPr>
          </a:p>
        </p:txBody>
      </p:sp>
      <p:sp>
        <p:nvSpPr>
          <p:cNvPr id="3" name="Date Placeholder 2"/>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8" name="Footer Placeholder 7"/>
          <p:cNvSpPr>
            <a:spLocks noGrp="1"/>
          </p:cNvSpPr>
          <p:nvPr>
            <p:ph type="ftr" sz="quarter" idx="5"/>
          </p:nvPr>
        </p:nvSpPr>
        <p:spPr>
          <a:xfrm>
            <a:off x="3810001" y="6447704"/>
            <a:ext cx="5257800"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9" name="Slide Number Placeholder 8"/>
          <p:cNvSpPr>
            <a:spLocks noGrp="1"/>
          </p:cNvSpPr>
          <p:nvPr>
            <p:ph type="sldNum" sz="quarter" idx="7"/>
          </p:nvPr>
        </p:nvSpPr>
        <p:spPr>
          <a:xfrm>
            <a:off x="11068811" y="6464680"/>
            <a:ext cx="347346" cy="178434"/>
          </a:xfrm>
        </p:spPr>
        <p:txBody>
          <a:bodyPr/>
          <a:lstStyle/>
          <a:p>
            <a:pPr marL="115570">
              <a:lnSpc>
                <a:spcPts val="1240"/>
              </a:lnSpc>
            </a:pPr>
            <a:fld id="{81D60167-4931-47E6-BA6A-407CBD079E47}" type="slidenum">
              <a:rPr lang="en-IN" spc="-50" smtClean="0"/>
              <a:t>23</a:t>
            </a:fld>
            <a:endParaRPr lang="en-IN" spc="-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381000" y="230760"/>
            <a:ext cx="9144000" cy="531240"/>
          </a:xfrm>
        </p:spPr>
        <p:txBody>
          <a:bodyPr>
            <a:noAutofit/>
          </a:bodyPr>
          <a:lstStyle/>
          <a:p>
            <a:r>
              <a:rPr lang="en-US" sz="2400" dirty="0"/>
              <a:t>9.4 Software Requirements</a:t>
            </a:r>
          </a:p>
          <a:p>
            <a:endParaRPr lang="en-US" dirty="0"/>
          </a:p>
          <a:p>
            <a:pPr marL="342900" indent="-342900" algn="just">
              <a:lnSpc>
                <a:spcPct val="150000"/>
              </a:lnSpc>
              <a:buFont typeface="Arial" panose="020B0604020202020204" pitchFamily="34" charset="0"/>
              <a:buChar char="•"/>
            </a:pPr>
            <a:endParaRPr lang="en-IN" sz="2400" i="0" u="none" strike="noStrike" baseline="0" dirty="0">
              <a:solidFill>
                <a:srgbClr val="000000"/>
              </a:solidFill>
              <a:latin typeface="Times New Roman" panose="02020603050405020304" pitchFamily="18" charset="0"/>
            </a:endParaRPr>
          </a:p>
          <a:p>
            <a:endParaRPr lang="en-US" sz="2000" dirty="0"/>
          </a:p>
        </p:txBody>
      </p:sp>
      <p:sp>
        <p:nvSpPr>
          <p:cNvPr id="2" name="Date Placeholder 1"/>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4" name="Footer Placeholder 3"/>
          <p:cNvSpPr>
            <a:spLocks noGrp="1"/>
          </p:cNvSpPr>
          <p:nvPr>
            <p:ph type="ftr" sz="quarter" idx="5"/>
          </p:nvPr>
        </p:nvSpPr>
        <p:spPr>
          <a:xfrm>
            <a:off x="5097271" y="6447704"/>
            <a:ext cx="366572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5" name="Slide Number Placeholder 4"/>
          <p:cNvSpPr>
            <a:spLocks noGrp="1"/>
          </p:cNvSpPr>
          <p:nvPr>
            <p:ph type="sldNum" sz="quarter" idx="7"/>
          </p:nvPr>
        </p:nvSpPr>
        <p:spPr>
          <a:xfrm>
            <a:off x="11068811" y="6464680"/>
            <a:ext cx="437389" cy="105496"/>
          </a:xfrm>
        </p:spPr>
        <p:txBody>
          <a:bodyPr/>
          <a:lstStyle/>
          <a:p>
            <a:pPr marL="115570">
              <a:lnSpc>
                <a:spcPts val="1240"/>
              </a:lnSpc>
            </a:pPr>
            <a:fld id="{81D60167-4931-47E6-BA6A-407CBD079E47}" type="slidenum">
              <a:rPr lang="en-IN" spc="-50" smtClean="0"/>
              <a:t>24</a:t>
            </a:fld>
            <a:endParaRPr lang="en-IN" spc="-50" dirty="0"/>
          </a:p>
        </p:txBody>
      </p:sp>
      <p:sp>
        <p:nvSpPr>
          <p:cNvPr id="7" name="TextBox 6">
            <a:extLst>
              <a:ext uri="{FF2B5EF4-FFF2-40B4-BE49-F238E27FC236}">
                <a16:creationId xmlns:a16="http://schemas.microsoft.com/office/drawing/2014/main" id="{0CDB6044-CA2B-1DF1-4DB8-F7949F51DA29}"/>
              </a:ext>
            </a:extLst>
          </p:cNvPr>
          <p:cNvSpPr txBox="1"/>
          <p:nvPr/>
        </p:nvSpPr>
        <p:spPr>
          <a:xfrm>
            <a:off x="907293" y="1023972"/>
            <a:ext cx="8760461" cy="2936701"/>
          </a:xfrm>
          <a:prstGeom prst="rect">
            <a:avLst/>
          </a:prstGeom>
        </p:spPr>
        <p:txBody>
          <a:bodyPr vert="horz" wrap="square" lIns="0" tIns="12700" rIns="0" bIns="0" rtlCol="0">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React.js </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Node.js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Development Tools:</a:t>
            </a:r>
            <a:r>
              <a:rPr lang="en-IN" sz="2400" dirty="0">
                <a:latin typeface="Times New Roman" panose="02020603050405020304" pitchFamily="18" charset="0"/>
                <a:cs typeface="Times New Roman" panose="02020603050405020304" pitchFamily="18" charset="0"/>
              </a:rPr>
              <a:t> Android Studio</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Maps:</a:t>
            </a:r>
            <a:r>
              <a:rPr lang="en-IN" sz="2400" dirty="0">
                <a:latin typeface="Times New Roman" panose="02020603050405020304" pitchFamily="18" charset="0"/>
                <a:cs typeface="Times New Roman" panose="02020603050405020304" pitchFamily="18" charset="0"/>
              </a:rPr>
              <a:t> Google Maps API </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Database: </a:t>
            </a:r>
            <a:r>
              <a:rPr lang="en-US" sz="2400" dirty="0">
                <a:latin typeface="Times New Roman" panose="02020603050405020304" pitchFamily="18" charset="0"/>
                <a:cs typeface="Times New Roman" panose="02020603050405020304" pitchFamily="18" charset="0"/>
              </a:rPr>
              <a:t>Mysql (for storing users, routes, bus info, GPS logs)</a:t>
            </a:r>
          </a:p>
          <a:p>
            <a:pPr marL="12700" algn="l">
              <a:lnSpc>
                <a:spcPts val="1240"/>
              </a:lnSpc>
            </a:pPr>
            <a:endParaRPr lang="en-IN" sz="1000" spc="-1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4171" y="515836"/>
            <a:ext cx="4245429" cy="830997"/>
          </a:xfrm>
          <a:prstGeom prst="rect">
            <a:avLst/>
          </a:prstGeom>
          <a:noFill/>
        </p:spPr>
        <p:txBody>
          <a:bodyPr wrap="square" rtlCol="0">
            <a:spAutoFit/>
          </a:bodyPr>
          <a:lstStyle/>
          <a:p>
            <a:r>
              <a:rPr lang="en-US" sz="24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10.1</a:t>
            </a:r>
            <a:r>
              <a:rPr lang="en-US" sz="2400" b="1" dirty="0">
                <a:latin typeface="Times New Roman" panose="02020603050405020304" pitchFamily="18" charset="0"/>
                <a:cs typeface="Times New Roman" panose="02020603050405020304" pitchFamily="18" charset="0"/>
              </a:rPr>
              <a:t> Block Diagram</a:t>
            </a:r>
          </a:p>
          <a:p>
            <a:endParaRPr lang="en-IN" sz="2400" dirty="0"/>
          </a:p>
        </p:txBody>
      </p:sp>
      <p:sp>
        <p:nvSpPr>
          <p:cNvPr id="2" name="Date Placeholder 1"/>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3" name="Footer Placeholder 2"/>
          <p:cNvSpPr>
            <a:spLocks noGrp="1"/>
          </p:cNvSpPr>
          <p:nvPr>
            <p:ph type="ftr" sz="quarter" idx="5"/>
          </p:nvPr>
        </p:nvSpPr>
        <p:spPr>
          <a:xfrm>
            <a:off x="4572000" y="6464680"/>
            <a:ext cx="449579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4" name="Slide Number Placeholder 3"/>
          <p:cNvSpPr>
            <a:spLocks noGrp="1"/>
          </p:cNvSpPr>
          <p:nvPr>
            <p:ph type="sldNum" sz="quarter" idx="7"/>
          </p:nvPr>
        </p:nvSpPr>
        <p:spPr>
          <a:xfrm>
            <a:off x="11068811" y="6464680"/>
            <a:ext cx="361189" cy="178434"/>
          </a:xfrm>
        </p:spPr>
        <p:txBody>
          <a:bodyPr/>
          <a:lstStyle/>
          <a:p>
            <a:pPr marL="115570">
              <a:lnSpc>
                <a:spcPts val="1240"/>
              </a:lnSpc>
            </a:pPr>
            <a:fld id="{81D60167-4931-47E6-BA6A-407CBD079E47}" type="slidenum">
              <a:rPr lang="en-IN" spc="-50" smtClean="0"/>
              <a:t>25</a:t>
            </a:fld>
            <a:endParaRPr lang="en-IN" spc="-50" dirty="0"/>
          </a:p>
        </p:txBody>
      </p:sp>
      <p:sp>
        <p:nvSpPr>
          <p:cNvPr id="11" name="TextBox 10">
            <a:extLst>
              <a:ext uri="{FF2B5EF4-FFF2-40B4-BE49-F238E27FC236}">
                <a16:creationId xmlns:a16="http://schemas.microsoft.com/office/drawing/2014/main" id="{16FDC072-C759-C76B-8CD5-B3403A957914}"/>
              </a:ext>
            </a:extLst>
          </p:cNvPr>
          <p:cNvSpPr txBox="1"/>
          <p:nvPr/>
        </p:nvSpPr>
        <p:spPr>
          <a:xfrm>
            <a:off x="4876800" y="0"/>
            <a:ext cx="4114799" cy="843821"/>
          </a:xfrm>
          <a:prstGeom prst="rect">
            <a:avLst/>
          </a:prstGeom>
        </p:spPr>
        <p:txBody>
          <a:bodyPr vert="horz" wrap="square" lIns="0" tIns="12700" rIns="0" bIns="0" rtlCol="0">
            <a:spAutoFit/>
          </a:bodyPr>
          <a:lstStyle/>
          <a:p>
            <a:pPr marL="12700" algn="just">
              <a:lnSpc>
                <a:spcPct val="150000"/>
              </a:lnSpc>
            </a:pPr>
            <a:r>
              <a:rPr lang="en-US" sz="3600" b="1" spc="-10" dirty="0">
                <a:solidFill>
                  <a:srgbClr val="00B0F0"/>
                </a:solidFill>
                <a:latin typeface="Times New Roman" panose="02020603050405020304" pitchFamily="18" charset="0"/>
                <a:cs typeface="Times New Roman" panose="02020603050405020304" pitchFamily="18" charset="0"/>
              </a:rPr>
              <a:t>10.Design</a:t>
            </a:r>
            <a:endParaRPr lang="en-IN" sz="3600" b="1" spc="-10" dirty="0">
              <a:solidFill>
                <a:srgbClr val="00B0F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EDD902E-3BB4-07CB-9416-8F90092AA5EF}"/>
              </a:ext>
            </a:extLst>
          </p:cNvPr>
          <p:cNvPicPr>
            <a:picLocks noChangeAspect="1"/>
          </p:cNvPicPr>
          <p:nvPr/>
        </p:nvPicPr>
        <p:blipFill>
          <a:blip r:embed="rId2">
            <a:extLst>
              <a:ext uri="{28A0092B-C50C-407E-A947-70E740481C1C}">
                <a14:useLocalDpi xmlns:a14="http://schemas.microsoft.com/office/drawing/2010/main" val="0"/>
              </a:ext>
            </a:extLst>
          </a:blip>
          <a:srcRect l="11313" t="5555" r="10596" b="7778"/>
          <a:stretch/>
        </p:blipFill>
        <p:spPr>
          <a:xfrm>
            <a:off x="1431344" y="931335"/>
            <a:ext cx="9961334" cy="541083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1682114" y="3903845"/>
            <a:ext cx="9448800" cy="48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6" name="TextBox 55"/>
          <p:cNvSpPr txBox="1"/>
          <p:nvPr/>
        </p:nvSpPr>
        <p:spPr>
          <a:xfrm>
            <a:off x="387075" y="176013"/>
            <a:ext cx="6096000" cy="461665"/>
          </a:xfrm>
          <a:prstGeom prst="rect">
            <a:avLst/>
          </a:prstGeom>
          <a:noFill/>
        </p:spPr>
        <p:txBody>
          <a:bodyPr wrap="square">
            <a:spAutoFit/>
          </a:bodyPr>
          <a:lstStyle/>
          <a:p>
            <a:r>
              <a:rPr lang="en-US" sz="2400" b="1" dirty="0">
                <a:solidFill>
                  <a:schemeClr val="tx1"/>
                </a:solidFill>
                <a:latin typeface="Times New Roman" panose="02020603050405020304" pitchFamily="18" charset="0"/>
                <a:cs typeface="Times New Roman" panose="02020603050405020304" pitchFamily="18" charset="0"/>
                <a:sym typeface="+mn-ea"/>
              </a:rPr>
              <a:t>10.2 Context Diagram</a:t>
            </a:r>
            <a:endParaRPr lang="en-IN" sz="24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5" name="Footer Placeholder 4"/>
          <p:cNvSpPr>
            <a:spLocks noGrp="1"/>
          </p:cNvSpPr>
          <p:nvPr>
            <p:ph type="ftr" sz="quarter" idx="5"/>
          </p:nvPr>
        </p:nvSpPr>
        <p:spPr>
          <a:xfrm>
            <a:off x="5097271" y="6447704"/>
            <a:ext cx="381812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6" name="Slide Number Placeholder 5"/>
          <p:cNvSpPr>
            <a:spLocks noGrp="1"/>
          </p:cNvSpPr>
          <p:nvPr>
            <p:ph type="sldNum" sz="quarter" idx="7"/>
          </p:nvPr>
        </p:nvSpPr>
        <p:spPr>
          <a:xfrm>
            <a:off x="11068811" y="6464680"/>
            <a:ext cx="437389" cy="178434"/>
          </a:xfrm>
        </p:spPr>
        <p:txBody>
          <a:bodyPr/>
          <a:lstStyle/>
          <a:p>
            <a:pPr marL="115570">
              <a:lnSpc>
                <a:spcPts val="1240"/>
              </a:lnSpc>
            </a:pPr>
            <a:fld id="{81D60167-4931-47E6-BA6A-407CBD079E47}" type="slidenum">
              <a:rPr lang="en-IN" spc="-50" smtClean="0"/>
              <a:t>26</a:t>
            </a:fld>
            <a:endParaRPr lang="en-IN" spc="-50" dirty="0"/>
          </a:p>
        </p:txBody>
      </p:sp>
      <p:pic>
        <p:nvPicPr>
          <p:cNvPr id="2" name="Picture 1">
            <a:extLst>
              <a:ext uri="{FF2B5EF4-FFF2-40B4-BE49-F238E27FC236}">
                <a16:creationId xmlns:a16="http://schemas.microsoft.com/office/drawing/2014/main" id="{8AC78EBD-F24E-9562-6B35-0B1344B87D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800100"/>
            <a:ext cx="10972800" cy="5257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660" y="284480"/>
            <a:ext cx="7274560" cy="368935"/>
          </a:xfrm>
        </p:spPr>
        <p:txBody>
          <a:bodyPr wrap="square"/>
          <a:lstStyle/>
          <a:p>
            <a:r>
              <a:rPr lang="en-US" altLang="en-IN" sz="2400" dirty="0">
                <a:solidFill>
                  <a:schemeClr val="tx1"/>
                </a:solidFill>
                <a:effectLst>
                  <a:outerShdw blurRad="38100" dist="19050" dir="2700000" algn="tl" rotWithShape="0">
                    <a:schemeClr val="dk1">
                      <a:alpha val="40000"/>
                    </a:schemeClr>
                  </a:outerShdw>
                </a:effectLst>
              </a:rPr>
              <a:t>10.3  </a:t>
            </a:r>
            <a:r>
              <a:rPr lang="en-IN" sz="2400" dirty="0">
                <a:solidFill>
                  <a:schemeClr val="tx1"/>
                </a:solidFill>
                <a:effectLst>
                  <a:outerShdw blurRad="38100" dist="19050" dir="2700000" algn="tl" rotWithShape="0">
                    <a:schemeClr val="dk1">
                      <a:alpha val="40000"/>
                    </a:schemeClr>
                  </a:outerShdw>
                </a:effectLst>
              </a:rPr>
              <a:t>Sequence diagram</a:t>
            </a:r>
          </a:p>
        </p:txBody>
      </p:sp>
      <p:sp>
        <p:nvSpPr>
          <p:cNvPr id="4" name="TextBox 3"/>
          <p:cNvSpPr txBox="1"/>
          <p:nvPr/>
        </p:nvSpPr>
        <p:spPr>
          <a:xfrm>
            <a:off x="11430000" y="6435076"/>
            <a:ext cx="457200" cy="255134"/>
          </a:xfrm>
          <a:prstGeom prst="rect">
            <a:avLst/>
          </a:prstGeom>
          <a:noFill/>
        </p:spPr>
        <p:txBody>
          <a:bodyPr wrap="square">
            <a:spAutoFit/>
          </a:bodyPr>
          <a:lstStyle/>
          <a:p>
            <a:pPr marL="38100">
              <a:lnSpc>
                <a:spcPts val="1240"/>
              </a:lnSpc>
            </a:pPr>
            <a:fld id="{81D60167-4931-47E6-BA6A-407CBD079E47}" type="slidenum">
              <a:rPr lang="en-IN" sz="1400" spc="-50" smtClean="0">
                <a:solidFill>
                  <a:srgbClr val="888888"/>
                </a:solidFill>
                <a:latin typeface="Calibri" panose="020F0502020204030204"/>
                <a:cs typeface="Calibri" panose="020F0502020204030204"/>
              </a:rPr>
              <a:t>27</a:t>
            </a:fld>
            <a:endParaRPr lang="en-IN" sz="1400" dirty="0">
              <a:latin typeface="Calibri" panose="020F0502020204030204"/>
              <a:cs typeface="Calibri" panose="020F0502020204030204"/>
            </a:endParaRPr>
          </a:p>
        </p:txBody>
      </p:sp>
      <p:sp>
        <p:nvSpPr>
          <p:cNvPr id="5"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dirty="0"/>
          </a:p>
        </p:txBody>
      </p:sp>
      <p:sp>
        <p:nvSpPr>
          <p:cNvPr id="3" name="Date Placeholder 2"/>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7" name="Footer Placeholder 6"/>
          <p:cNvSpPr>
            <a:spLocks noGrp="1"/>
          </p:cNvSpPr>
          <p:nvPr>
            <p:ph type="ftr" sz="quarter" idx="5"/>
          </p:nvPr>
        </p:nvSpPr>
        <p:spPr>
          <a:xfrm>
            <a:off x="4953000" y="6435077"/>
            <a:ext cx="4191000"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pic>
        <p:nvPicPr>
          <p:cNvPr id="1026" name="Picture 2" descr="PlantUML diagram">
            <a:extLst>
              <a:ext uri="{FF2B5EF4-FFF2-40B4-BE49-F238E27FC236}">
                <a16:creationId xmlns:a16="http://schemas.microsoft.com/office/drawing/2014/main" id="{E133040D-C41B-A3AB-FD58-B9682A6378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744862"/>
            <a:ext cx="10591800" cy="5579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31520" y="398780"/>
            <a:ext cx="3932555" cy="675005"/>
          </a:xfrm>
          <a:prstGeom prst="rect">
            <a:avLst/>
          </a:prstGeom>
          <a:noFill/>
        </p:spPr>
        <p:txBody>
          <a:bodyPr wrap="square">
            <a:noAutofit/>
            <a:scene3d>
              <a:camera prst="orthographicFront"/>
              <a:lightRig rig="threePt" dir="t"/>
            </a:scene3d>
          </a:bodyPr>
          <a:lstStyle/>
          <a:p>
            <a:r>
              <a:rPr lang="en-US" altLang="en-IN"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10.4 </a:t>
            </a:r>
            <a:r>
              <a:rPr lang="en-IN"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Activity Diagram</a:t>
            </a:r>
          </a:p>
        </p:txBody>
      </p:sp>
      <p:sp>
        <p:nvSpPr>
          <p:cNvPr id="2" name="Date Placeholder 1"/>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3" name="Footer Placeholder 2"/>
          <p:cNvSpPr>
            <a:spLocks noGrp="1"/>
          </p:cNvSpPr>
          <p:nvPr>
            <p:ph type="ftr" sz="quarter" idx="5"/>
          </p:nvPr>
        </p:nvSpPr>
        <p:spPr>
          <a:xfrm>
            <a:off x="3810000" y="6459221"/>
            <a:ext cx="5181600" cy="364202"/>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gn="ctr">
              <a:lnSpc>
                <a:spcPts val="1410"/>
              </a:lnSpc>
            </a:pPr>
            <a:endParaRPr lang="en-US" b="1" spc="-10" dirty="0">
              <a:latin typeface="Times New Roman" panose="02020603050405020304"/>
              <a:cs typeface="Times New Roman" panose="02020603050405020304"/>
            </a:endParaRPr>
          </a:p>
        </p:txBody>
      </p:sp>
      <p:sp>
        <p:nvSpPr>
          <p:cNvPr id="4" name="Slide Number Placeholder 3"/>
          <p:cNvSpPr>
            <a:spLocks noGrp="1"/>
          </p:cNvSpPr>
          <p:nvPr>
            <p:ph type="sldNum" sz="quarter" idx="7"/>
          </p:nvPr>
        </p:nvSpPr>
        <p:spPr>
          <a:xfrm>
            <a:off x="10972801" y="6459221"/>
            <a:ext cx="340486" cy="183893"/>
          </a:xfrm>
        </p:spPr>
        <p:txBody>
          <a:bodyPr/>
          <a:lstStyle/>
          <a:p>
            <a:pPr marL="115570">
              <a:lnSpc>
                <a:spcPts val="1240"/>
              </a:lnSpc>
            </a:pPr>
            <a:fld id="{81D60167-4931-47E6-BA6A-407CBD079E47}" type="slidenum">
              <a:rPr lang="en-IN" spc="-50" smtClean="0"/>
              <a:t>28</a:t>
            </a:fld>
            <a:endParaRPr lang="en-IN" spc="-50" dirty="0"/>
          </a:p>
        </p:txBody>
      </p:sp>
      <p:pic>
        <p:nvPicPr>
          <p:cNvPr id="2050" name="Picture 2" descr="PlantUML diagram">
            <a:extLst>
              <a:ext uri="{FF2B5EF4-FFF2-40B4-BE49-F238E27FC236}">
                <a16:creationId xmlns:a16="http://schemas.microsoft.com/office/drawing/2014/main" id="{315A4F6E-4057-6E4B-AD9B-B1EE661F1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76200"/>
            <a:ext cx="4343400" cy="6324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83160"/>
            <a:ext cx="7374890" cy="574675"/>
          </a:xfrm>
        </p:spPr>
        <p:txBody>
          <a:bodyPr wrap="square">
            <a:noAutofit/>
          </a:bodyPr>
          <a:lstStyle/>
          <a:p>
            <a:r>
              <a:rPr lang="en-US" sz="2400" dirty="0">
                <a:solidFill>
                  <a:schemeClr val="tx1"/>
                </a:solidFill>
              </a:rPr>
              <a:t>10.5  Dataflow Diagram</a:t>
            </a:r>
          </a:p>
        </p:txBody>
      </p:sp>
      <p:sp>
        <p:nvSpPr>
          <p:cNvPr id="3" name="Date Placeholder 2"/>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4" name="Footer Placeholder 3"/>
          <p:cNvSpPr>
            <a:spLocks noGrp="1"/>
          </p:cNvSpPr>
          <p:nvPr>
            <p:ph type="ftr" sz="quarter" idx="5"/>
          </p:nvPr>
        </p:nvSpPr>
        <p:spPr>
          <a:xfrm>
            <a:off x="4191000" y="6464680"/>
            <a:ext cx="3733800" cy="364202"/>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6" name="Slide Number Placeholder 5"/>
          <p:cNvSpPr>
            <a:spLocks noGrp="1"/>
          </p:cNvSpPr>
          <p:nvPr>
            <p:ph type="sldNum" sz="quarter" idx="7"/>
          </p:nvPr>
        </p:nvSpPr>
        <p:spPr>
          <a:xfrm>
            <a:off x="11068811" y="6464680"/>
            <a:ext cx="437389" cy="177969"/>
          </a:xfrm>
        </p:spPr>
        <p:txBody>
          <a:bodyPr/>
          <a:lstStyle/>
          <a:p>
            <a:pPr marL="115570">
              <a:lnSpc>
                <a:spcPts val="1240"/>
              </a:lnSpc>
            </a:pPr>
            <a:fld id="{81D60167-4931-47E6-BA6A-407CBD079E47}" type="slidenum">
              <a:rPr lang="en-IN" spc="-50" smtClean="0"/>
              <a:t>29</a:t>
            </a:fld>
            <a:endParaRPr lang="en-IN" spc="-5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10287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5" y="266700"/>
            <a:ext cx="7195185" cy="680085"/>
          </a:xfrm>
        </p:spPr>
        <p:txBody>
          <a:bodyPr wrap="square">
            <a:noAutofit/>
          </a:bodyPr>
          <a:lstStyle/>
          <a:p>
            <a:r>
              <a:rPr lang="en-US" sz="2400" dirty="0">
                <a:solidFill>
                  <a:schemeClr val="tx1"/>
                </a:solidFill>
              </a:rPr>
              <a:t>10.6 ER Diagram</a:t>
            </a:r>
          </a:p>
        </p:txBody>
      </p:sp>
      <p:sp>
        <p:nvSpPr>
          <p:cNvPr id="3" name="Date Placeholder 2"/>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4" name="Footer Placeholder 3"/>
          <p:cNvSpPr>
            <a:spLocks noGrp="1"/>
          </p:cNvSpPr>
          <p:nvPr>
            <p:ph type="ftr" sz="quarter" idx="5"/>
          </p:nvPr>
        </p:nvSpPr>
        <p:spPr>
          <a:xfrm>
            <a:off x="4343401" y="6447704"/>
            <a:ext cx="4648200"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spc="-10" dirty="0">
              <a:latin typeface="Times New Roman" panose="02020603050405020304"/>
              <a:cs typeface="Times New Roman" panose="02020603050405020304"/>
            </a:endParaRPr>
          </a:p>
        </p:txBody>
      </p:sp>
      <p:sp>
        <p:nvSpPr>
          <p:cNvPr id="6" name="Slide Number Placeholder 5"/>
          <p:cNvSpPr>
            <a:spLocks noGrp="1"/>
          </p:cNvSpPr>
          <p:nvPr>
            <p:ph type="sldNum" sz="quarter" idx="7"/>
          </p:nvPr>
        </p:nvSpPr>
        <p:spPr>
          <a:xfrm>
            <a:off x="11068811" y="6464680"/>
            <a:ext cx="347346" cy="195410"/>
          </a:xfrm>
        </p:spPr>
        <p:txBody>
          <a:bodyPr/>
          <a:lstStyle/>
          <a:p>
            <a:pPr marL="115570">
              <a:lnSpc>
                <a:spcPts val="1240"/>
              </a:lnSpc>
            </a:pPr>
            <a:fld id="{81D60167-4931-47E6-BA6A-407CBD079E47}" type="slidenum">
              <a:rPr lang="en-IN" spc="-50" smtClean="0"/>
              <a:t>30</a:t>
            </a:fld>
            <a:endParaRPr lang="en-IN" spc="-50" dirty="0"/>
          </a:p>
        </p:txBody>
      </p:sp>
      <p:sp>
        <p:nvSpPr>
          <p:cNvPr id="9" name="AutoShape 2">
            <a:extLst>
              <a:ext uri="{FF2B5EF4-FFF2-40B4-BE49-F238E27FC236}">
                <a16:creationId xmlns:a16="http://schemas.microsoft.com/office/drawing/2014/main" id="{D1164B42-9191-E080-8055-6CEBA1590AC7}"/>
              </a:ext>
            </a:extLst>
          </p:cNvPr>
          <p:cNvSpPr>
            <a:spLocks noChangeAspect="1" noChangeArrowheads="1"/>
          </p:cNvSpPr>
          <p:nvPr/>
        </p:nvSpPr>
        <p:spPr bwMode="auto">
          <a:xfrm>
            <a:off x="3505200" y="3276600"/>
            <a:ext cx="2743200" cy="274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4">
            <a:extLst>
              <a:ext uri="{FF2B5EF4-FFF2-40B4-BE49-F238E27FC236}">
                <a16:creationId xmlns:a16="http://schemas.microsoft.com/office/drawing/2014/main" id="{CAD121CA-BD0E-D5B2-92EB-2F029CE1C4F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5" name="Picture 4">
            <a:extLst>
              <a:ext uri="{FF2B5EF4-FFF2-40B4-BE49-F238E27FC236}">
                <a16:creationId xmlns:a16="http://schemas.microsoft.com/office/drawing/2014/main" id="{CBA68C89-8FAB-F6D2-B133-EE8BCED241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222" y="946785"/>
            <a:ext cx="11318578" cy="536763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3335" y="121285"/>
            <a:ext cx="7370445" cy="642620"/>
          </a:xfrm>
        </p:spPr>
        <p:txBody>
          <a:bodyPr wrap="square">
            <a:noAutofit/>
          </a:bodyPr>
          <a:lstStyle/>
          <a:p>
            <a:r>
              <a:rPr lang="en-US" dirty="0"/>
              <a:t>           </a:t>
            </a:r>
            <a:endParaRPr lang="en-US" sz="3600" dirty="0"/>
          </a:p>
        </p:txBody>
      </p:sp>
      <p:sp>
        <p:nvSpPr>
          <p:cNvPr id="4" name="Text Box 3"/>
          <p:cNvSpPr txBox="1"/>
          <p:nvPr/>
        </p:nvSpPr>
        <p:spPr>
          <a:xfrm>
            <a:off x="5943600" y="6096000"/>
            <a:ext cx="4876800" cy="286386"/>
          </a:xfrm>
          <a:prstGeom prst="rect">
            <a:avLst/>
          </a:prstGeom>
          <a:noFill/>
        </p:spPr>
        <p:txBody>
          <a:bodyPr wrap="square" rtlCol="0" anchor="t">
            <a:noAutofit/>
          </a:bodyPr>
          <a:lstStyle/>
          <a:p>
            <a:r>
              <a:rPr lang="en-US" sz="1600" dirty="0">
                <a:latin typeface="Times New Roman" panose="02020603050405020304" pitchFamily="18" charset="0"/>
                <a:cs typeface="Times New Roman" panose="02020603050405020304" pitchFamily="18" charset="0"/>
              </a:rPr>
              <a:t>11.2: Find Bus Interface with GPS Location</a:t>
            </a:r>
          </a:p>
        </p:txBody>
      </p:sp>
      <p:sp>
        <p:nvSpPr>
          <p:cNvPr id="6" name="Text Box 5"/>
          <p:cNvSpPr txBox="1"/>
          <p:nvPr/>
        </p:nvSpPr>
        <p:spPr>
          <a:xfrm>
            <a:off x="1524000" y="1524000"/>
            <a:ext cx="4797425" cy="402590"/>
          </a:xfrm>
          <a:prstGeom prst="rect">
            <a:avLst/>
          </a:prstGeom>
          <a:noFill/>
        </p:spPr>
        <p:txBody>
          <a:bodyPr wrap="square" rtlCol="0" anchor="t">
            <a:noAutofit/>
          </a:bodyPr>
          <a:lstStyle/>
          <a:p>
            <a:r>
              <a:rPr lang="en-US" altLang="en-US" dirty="0"/>
              <a:t>  </a:t>
            </a:r>
            <a:endParaRPr lang="en-US" dirty="0"/>
          </a:p>
        </p:txBody>
      </p:sp>
      <p:sp>
        <p:nvSpPr>
          <p:cNvPr id="3" name="Date Placeholder 2"/>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7" name="Footer Placeholder 6"/>
          <p:cNvSpPr>
            <a:spLocks noGrp="1"/>
          </p:cNvSpPr>
          <p:nvPr>
            <p:ph type="ftr" sz="quarter" idx="5"/>
          </p:nvPr>
        </p:nvSpPr>
        <p:spPr>
          <a:xfrm>
            <a:off x="4343400" y="6548120"/>
            <a:ext cx="4114800"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8" name="Slide Number Placeholder 7"/>
          <p:cNvSpPr>
            <a:spLocks noGrp="1"/>
          </p:cNvSpPr>
          <p:nvPr>
            <p:ph type="sldNum" sz="quarter" idx="7"/>
          </p:nvPr>
        </p:nvSpPr>
        <p:spPr>
          <a:xfrm>
            <a:off x="11068811" y="6679566"/>
            <a:ext cx="437389" cy="178434"/>
          </a:xfrm>
        </p:spPr>
        <p:txBody>
          <a:bodyPr/>
          <a:lstStyle/>
          <a:p>
            <a:pPr marL="115570">
              <a:lnSpc>
                <a:spcPts val="1240"/>
              </a:lnSpc>
            </a:pPr>
            <a:fld id="{81D60167-4931-47E6-BA6A-407CBD079E47}" type="slidenum">
              <a:rPr lang="en-IN" spc="-50" smtClean="0"/>
              <a:t>31</a:t>
            </a:fld>
            <a:endParaRPr lang="en-IN" spc="-50" dirty="0"/>
          </a:p>
        </p:txBody>
      </p:sp>
      <p:sp>
        <p:nvSpPr>
          <p:cNvPr id="5" name="AutoShape 2" descr="blob:https://web.whatsapp.com/7474daee-774a-4f59-9105-b4094e2e28e6"/>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 name="AutoShape 4" descr="blob:https://web.whatsapp.com/7474daee-774a-4f59-9105-b4094e2e28e6"/>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1" y="914400"/>
            <a:ext cx="3505200" cy="510540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00" y="914400"/>
            <a:ext cx="3581400" cy="5105400"/>
          </a:xfrm>
          <a:prstGeom prst="rect">
            <a:avLst/>
          </a:prstGeom>
        </p:spPr>
      </p:pic>
      <p:sp>
        <p:nvSpPr>
          <p:cNvPr id="11" name="TextBox 10">
            <a:extLst>
              <a:ext uri="{FF2B5EF4-FFF2-40B4-BE49-F238E27FC236}">
                <a16:creationId xmlns:a16="http://schemas.microsoft.com/office/drawing/2014/main" id="{70C8761F-DCBC-4A37-50E0-8BF22FA8E1E5}"/>
              </a:ext>
            </a:extLst>
          </p:cNvPr>
          <p:cNvSpPr txBox="1"/>
          <p:nvPr/>
        </p:nvSpPr>
        <p:spPr>
          <a:xfrm>
            <a:off x="4191000" y="416147"/>
            <a:ext cx="2971800" cy="236411"/>
          </a:xfrm>
          <a:prstGeom prst="rect">
            <a:avLst/>
          </a:prstGeom>
        </p:spPr>
        <p:txBody>
          <a:bodyPr vert="horz" wrap="square" lIns="0" tIns="12700" rIns="0" bIns="0" rtlCol="0">
            <a:spAutoFit/>
          </a:bodyPr>
          <a:lstStyle/>
          <a:p>
            <a:pPr marL="12700" algn="l">
              <a:lnSpc>
                <a:spcPts val="1240"/>
              </a:lnSpc>
            </a:pPr>
            <a:r>
              <a:rPr lang="en-IN" sz="3600" b="1" spc="-10" dirty="0">
                <a:solidFill>
                  <a:srgbClr val="00B0F0"/>
                </a:solidFill>
                <a:latin typeface="Times New Roman" panose="02020603050405020304" pitchFamily="18" charset="0"/>
                <a:cs typeface="Times New Roman" panose="02020603050405020304" pitchFamily="18" charset="0"/>
              </a:rPr>
              <a:t>11. Results</a:t>
            </a:r>
          </a:p>
        </p:txBody>
      </p:sp>
      <p:sp>
        <p:nvSpPr>
          <p:cNvPr id="13" name="TextBox 12">
            <a:extLst>
              <a:ext uri="{FF2B5EF4-FFF2-40B4-BE49-F238E27FC236}">
                <a16:creationId xmlns:a16="http://schemas.microsoft.com/office/drawing/2014/main" id="{A79301E7-65E7-0ED6-2526-BFCFA3AC5723}"/>
              </a:ext>
            </a:extLst>
          </p:cNvPr>
          <p:cNvSpPr txBox="1"/>
          <p:nvPr/>
        </p:nvSpPr>
        <p:spPr>
          <a:xfrm>
            <a:off x="1472046" y="6168086"/>
            <a:ext cx="3505200" cy="176330"/>
          </a:xfrm>
          <a:prstGeom prst="rect">
            <a:avLst/>
          </a:prstGeom>
        </p:spPr>
        <p:txBody>
          <a:bodyPr vert="horz" wrap="square" lIns="0" tIns="12700" rIns="0" bIns="0" rtlCol="0">
            <a:spAutoFit/>
          </a:bodyPr>
          <a:lstStyle/>
          <a:p>
            <a:pPr marL="12700" algn="l">
              <a:lnSpc>
                <a:spcPts val="1240"/>
              </a:lnSpc>
            </a:pPr>
            <a:r>
              <a:rPr lang="en-IN" sz="1600" spc="-10" dirty="0">
                <a:latin typeface="Times New Roman" panose="02020603050405020304" pitchFamily="18" charset="0"/>
                <a:cs typeface="Times New Roman" panose="02020603050405020304" pitchFamily="18" charset="0"/>
              </a:rPr>
              <a:t>Figure No 11.1: Homepage Interface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5"/>
          </p:nvPr>
        </p:nvSpPr>
        <p:spPr>
          <a:xfrm>
            <a:off x="5097271" y="6447704"/>
            <a:ext cx="4275329" cy="359073"/>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p:txBody>
      </p:sp>
      <p:sp>
        <p:nvSpPr>
          <p:cNvPr id="4" name="Date Placeholder 3"/>
          <p:cNvSpPr>
            <a:spLocks noGrp="1"/>
          </p:cNvSpPr>
          <p:nvPr>
            <p:ph type="dt" sz="half" idx="6"/>
          </p:nvPr>
        </p:nvSpPr>
        <p:spPr>
          <a:xfrm>
            <a:off x="916939" y="6464680"/>
            <a:ext cx="765175" cy="463845"/>
          </a:xfrm>
        </p:spPr>
        <p:txBody>
          <a:bodyPr/>
          <a:lstStyle/>
          <a:p>
            <a:pPr marL="12700">
              <a:lnSpc>
                <a:spcPts val="1240"/>
              </a:lnSpc>
            </a:pPr>
            <a:r>
              <a:rPr lang="en-US" spc="-10" dirty="0"/>
              <a:t>13/01/2026</a:t>
            </a:r>
          </a:p>
          <a:p>
            <a:pPr marL="12700">
              <a:lnSpc>
                <a:spcPts val="1240"/>
              </a:lnSpc>
            </a:pPr>
            <a:endParaRPr lang="en-US" spc="-10" dirty="0"/>
          </a:p>
          <a:p>
            <a:pPr marL="12700">
              <a:lnSpc>
                <a:spcPts val="1240"/>
              </a:lnSpc>
            </a:pPr>
            <a:endParaRPr lang="en-US" spc="-10" dirty="0"/>
          </a:p>
        </p:txBody>
      </p:sp>
      <p:sp>
        <p:nvSpPr>
          <p:cNvPr id="5" name="Slide Number Placeholder 4"/>
          <p:cNvSpPr>
            <a:spLocks noGrp="1"/>
          </p:cNvSpPr>
          <p:nvPr>
            <p:ph type="sldNum" sz="quarter" idx="7"/>
          </p:nvPr>
        </p:nvSpPr>
        <p:spPr>
          <a:xfrm>
            <a:off x="11068811" y="6400800"/>
            <a:ext cx="742189" cy="242314"/>
          </a:xfrm>
        </p:spPr>
        <p:txBody>
          <a:bodyPr/>
          <a:lstStyle/>
          <a:p>
            <a:pPr marL="115570">
              <a:lnSpc>
                <a:spcPts val="1240"/>
              </a:lnSpc>
            </a:pPr>
            <a:fld id="{81D60167-4931-47E6-BA6A-407CBD079E47}" type="slidenum">
              <a:rPr lang="en-IN" spc="-50" smtClean="0"/>
              <a:t>32</a:t>
            </a:fld>
            <a:endParaRPr lang="en-IN" spc="-5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671" y="381000"/>
            <a:ext cx="3657600" cy="52578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381000"/>
            <a:ext cx="3657600" cy="5257800"/>
          </a:xfrm>
          <a:prstGeom prst="rect">
            <a:avLst/>
          </a:prstGeom>
        </p:spPr>
      </p:pic>
      <p:sp>
        <p:nvSpPr>
          <p:cNvPr id="9" name="TextBox 8">
            <a:extLst>
              <a:ext uri="{FF2B5EF4-FFF2-40B4-BE49-F238E27FC236}">
                <a16:creationId xmlns:a16="http://schemas.microsoft.com/office/drawing/2014/main" id="{75EFD38B-652F-9B69-2E8D-1DCC7C5A5340}"/>
              </a:ext>
            </a:extLst>
          </p:cNvPr>
          <p:cNvSpPr txBox="1"/>
          <p:nvPr/>
        </p:nvSpPr>
        <p:spPr>
          <a:xfrm>
            <a:off x="2209800" y="5784044"/>
            <a:ext cx="2743200" cy="174920"/>
          </a:xfrm>
          <a:prstGeom prst="rect">
            <a:avLst/>
          </a:prstGeom>
        </p:spPr>
        <p:txBody>
          <a:bodyPr vert="horz" wrap="square" lIns="0" tIns="12700" rIns="0" bIns="0" rtlCol="0">
            <a:spAutoFit/>
          </a:bodyPr>
          <a:lstStyle/>
          <a:p>
            <a:pPr marL="12700" algn="l">
              <a:lnSpc>
                <a:spcPts val="1240"/>
              </a:lnSpc>
            </a:pPr>
            <a:r>
              <a:rPr lang="en-IN" sz="1600" spc="-10" dirty="0">
                <a:latin typeface="Times New Roman" panose="02020603050405020304" pitchFamily="18" charset="0"/>
                <a:cs typeface="Times New Roman" panose="02020603050405020304" pitchFamily="18" charset="0"/>
              </a:rPr>
              <a:t>Figure No 11.3: Live Tracking</a:t>
            </a:r>
          </a:p>
        </p:txBody>
      </p:sp>
      <p:sp>
        <p:nvSpPr>
          <p:cNvPr id="10" name="TextBox 9">
            <a:extLst>
              <a:ext uri="{FF2B5EF4-FFF2-40B4-BE49-F238E27FC236}">
                <a16:creationId xmlns:a16="http://schemas.microsoft.com/office/drawing/2014/main" id="{F40378BE-DC12-A667-7354-DD5BB222B369}"/>
              </a:ext>
            </a:extLst>
          </p:cNvPr>
          <p:cNvSpPr txBox="1"/>
          <p:nvPr/>
        </p:nvSpPr>
        <p:spPr>
          <a:xfrm>
            <a:off x="5867400" y="5784044"/>
            <a:ext cx="5410200" cy="176330"/>
          </a:xfrm>
          <a:prstGeom prst="rect">
            <a:avLst/>
          </a:prstGeom>
        </p:spPr>
        <p:txBody>
          <a:bodyPr vert="horz" wrap="square" lIns="0" tIns="12700" rIns="0" bIns="0" rtlCol="0">
            <a:spAutoFit/>
          </a:bodyPr>
          <a:lstStyle/>
          <a:p>
            <a:pPr marL="12700" algn="l">
              <a:lnSpc>
                <a:spcPts val="1240"/>
              </a:lnSpc>
            </a:pPr>
            <a:r>
              <a:rPr lang="en-IN" sz="1600" spc="-10" dirty="0">
                <a:latin typeface="Times New Roman" panose="02020603050405020304" pitchFamily="18" charset="0"/>
                <a:cs typeface="Times New Roman" panose="02020603050405020304" pitchFamily="18" charset="0"/>
              </a:rPr>
              <a:t>Figure no 11.4: Driver Dashboard Interface with Trip Control</a:t>
            </a:r>
          </a:p>
        </p:txBody>
      </p:sp>
    </p:spTree>
    <p:extLst>
      <p:ext uri="{BB962C8B-B14F-4D97-AF65-F5344CB8AC3E}">
        <p14:creationId xmlns:p14="http://schemas.microsoft.com/office/powerpoint/2010/main" val="678504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5"/>
          </p:nvPr>
        </p:nvSpPr>
        <p:spPr>
          <a:xfrm>
            <a:off x="3810001" y="6447704"/>
            <a:ext cx="4419600" cy="538609"/>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spc="-10" dirty="0">
              <a:latin typeface="Times New Roman" panose="02020603050405020304"/>
              <a:cs typeface="Times New Roman" panose="02020603050405020304"/>
            </a:endParaRPr>
          </a:p>
        </p:txBody>
      </p:sp>
      <p:sp>
        <p:nvSpPr>
          <p:cNvPr id="4" name="Date Placeholder 3"/>
          <p:cNvSpPr>
            <a:spLocks noGrp="1"/>
          </p:cNvSpPr>
          <p:nvPr>
            <p:ph type="dt" sz="half" idx="6"/>
          </p:nvPr>
        </p:nvSpPr>
        <p:spPr>
          <a:xfrm>
            <a:off x="987425" y="6464680"/>
            <a:ext cx="765175" cy="463845"/>
          </a:xfrm>
        </p:spPr>
        <p:txBody>
          <a:bodyPr/>
          <a:lstStyle/>
          <a:p>
            <a:pPr marL="12700">
              <a:lnSpc>
                <a:spcPts val="1240"/>
              </a:lnSpc>
            </a:pPr>
            <a:r>
              <a:rPr lang="en-US" spc="-10" dirty="0"/>
              <a:t>13/01/2026</a:t>
            </a:r>
          </a:p>
          <a:p>
            <a:pPr marL="12700">
              <a:lnSpc>
                <a:spcPts val="1240"/>
              </a:lnSpc>
            </a:pPr>
            <a:endParaRPr lang="en-US" spc="-10" dirty="0"/>
          </a:p>
          <a:p>
            <a:pPr marL="12700">
              <a:lnSpc>
                <a:spcPts val="1240"/>
              </a:lnSpc>
            </a:pPr>
            <a:endParaRPr lang="en-US" spc="-1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 y="381000"/>
            <a:ext cx="11201400" cy="5257800"/>
          </a:xfrm>
          <a:prstGeom prst="rect">
            <a:avLst/>
          </a:prstGeom>
        </p:spPr>
      </p:pic>
      <p:sp>
        <p:nvSpPr>
          <p:cNvPr id="6" name="TextBox 5">
            <a:extLst>
              <a:ext uri="{FF2B5EF4-FFF2-40B4-BE49-F238E27FC236}">
                <a16:creationId xmlns:a16="http://schemas.microsoft.com/office/drawing/2014/main" id="{B8AFFDFC-1FF8-E2A6-B8D5-F8016D8AFFCE}"/>
              </a:ext>
            </a:extLst>
          </p:cNvPr>
          <p:cNvSpPr txBox="1"/>
          <p:nvPr/>
        </p:nvSpPr>
        <p:spPr>
          <a:xfrm>
            <a:off x="4191000" y="5791200"/>
            <a:ext cx="3276600" cy="174920"/>
          </a:xfrm>
          <a:prstGeom prst="rect">
            <a:avLst/>
          </a:prstGeom>
        </p:spPr>
        <p:txBody>
          <a:bodyPr vert="horz" wrap="square" lIns="0" tIns="12700" rIns="0" bIns="0" rtlCol="0">
            <a:spAutoFit/>
          </a:bodyPr>
          <a:lstStyle/>
          <a:p>
            <a:pPr marL="12700" algn="l">
              <a:lnSpc>
                <a:spcPts val="1240"/>
              </a:lnSpc>
            </a:pPr>
            <a:r>
              <a:rPr lang="en-IN" sz="1600" spc="-10" dirty="0">
                <a:latin typeface="Times New Roman" panose="02020603050405020304" pitchFamily="18" charset="0"/>
                <a:cs typeface="Times New Roman" panose="02020603050405020304" pitchFamily="18" charset="0"/>
              </a:rPr>
              <a:t>Figure No 11.5: Admin Dashboard </a:t>
            </a:r>
          </a:p>
        </p:txBody>
      </p:sp>
      <p:sp>
        <p:nvSpPr>
          <p:cNvPr id="8" name="TextBox 7">
            <a:extLst>
              <a:ext uri="{FF2B5EF4-FFF2-40B4-BE49-F238E27FC236}">
                <a16:creationId xmlns:a16="http://schemas.microsoft.com/office/drawing/2014/main" id="{1D6F3102-5B94-D2EB-24B5-27B1D7FC5141}"/>
              </a:ext>
            </a:extLst>
          </p:cNvPr>
          <p:cNvSpPr txBox="1"/>
          <p:nvPr/>
        </p:nvSpPr>
        <p:spPr>
          <a:xfrm>
            <a:off x="11353800" y="6447704"/>
            <a:ext cx="457200" cy="166712"/>
          </a:xfrm>
          <a:prstGeom prst="rect">
            <a:avLst/>
          </a:prstGeom>
        </p:spPr>
        <p:txBody>
          <a:bodyPr vert="horz" wrap="square" lIns="0" tIns="12700" rIns="0" bIns="0" rtlCol="0">
            <a:spAutoFit/>
          </a:bodyPr>
          <a:lstStyle/>
          <a:p>
            <a:pPr marL="12700" algn="l">
              <a:lnSpc>
                <a:spcPts val="1240"/>
              </a:lnSpc>
            </a:pPr>
            <a:r>
              <a:rPr lang="en-IN" sz="1000" spc="-10" dirty="0">
                <a:latin typeface="Times New Roman" panose="02020603050405020304" pitchFamily="18" charset="0"/>
                <a:cs typeface="Times New Roman" panose="02020603050405020304" pitchFamily="18" charset="0"/>
              </a:rPr>
              <a:t>33</a:t>
            </a:r>
          </a:p>
        </p:txBody>
      </p:sp>
    </p:spTree>
    <p:extLst>
      <p:ext uri="{BB962C8B-B14F-4D97-AF65-F5344CB8AC3E}">
        <p14:creationId xmlns:p14="http://schemas.microsoft.com/office/powerpoint/2010/main" val="95618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5"/>
          </p:nvPr>
        </p:nvSpPr>
        <p:spPr>
          <a:xfrm>
            <a:off x="4953000" y="6400800"/>
            <a:ext cx="3962400" cy="359073"/>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p:txBody>
      </p:sp>
      <p:sp>
        <p:nvSpPr>
          <p:cNvPr id="4" name="Date Placeholder 3"/>
          <p:cNvSpPr>
            <a:spLocks noGrp="1"/>
          </p:cNvSpPr>
          <p:nvPr>
            <p:ph type="dt" sz="half" idx="6"/>
          </p:nvPr>
        </p:nvSpPr>
        <p:spPr>
          <a:xfrm>
            <a:off x="916939" y="6464680"/>
            <a:ext cx="765175" cy="156068"/>
          </a:xfrm>
        </p:spPr>
        <p:txBody>
          <a:bodyPr/>
          <a:lstStyle/>
          <a:p>
            <a:pPr marL="12700">
              <a:lnSpc>
                <a:spcPts val="1240"/>
              </a:lnSpc>
            </a:pPr>
            <a:r>
              <a:rPr lang="en-US" spc="-10" dirty="0"/>
              <a:t>13/01/202</a:t>
            </a:r>
          </a:p>
        </p:txBody>
      </p:sp>
      <p:sp>
        <p:nvSpPr>
          <p:cNvPr id="5" name="Slide Number Placeholder 4"/>
          <p:cNvSpPr>
            <a:spLocks noGrp="1"/>
          </p:cNvSpPr>
          <p:nvPr>
            <p:ph type="sldNum" sz="quarter" idx="7"/>
          </p:nvPr>
        </p:nvSpPr>
        <p:spPr>
          <a:xfrm>
            <a:off x="11068811" y="6400800"/>
            <a:ext cx="742189" cy="242314"/>
          </a:xfrm>
        </p:spPr>
        <p:txBody>
          <a:bodyPr/>
          <a:lstStyle/>
          <a:p>
            <a:pPr marL="115570">
              <a:lnSpc>
                <a:spcPts val="1240"/>
              </a:lnSpc>
            </a:pPr>
            <a:fld id="{81D60167-4931-47E6-BA6A-407CBD079E47}" type="slidenum">
              <a:rPr lang="en-IN" spc="-50" smtClean="0"/>
              <a:t>34</a:t>
            </a:fld>
            <a:endParaRPr lang="en-IN" spc="-5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914400"/>
            <a:ext cx="10363200" cy="4619626"/>
          </a:xfrm>
          <a:prstGeom prst="rect">
            <a:avLst/>
          </a:prstGeom>
        </p:spPr>
      </p:pic>
      <p:sp>
        <p:nvSpPr>
          <p:cNvPr id="2" name="TextBox 1">
            <a:extLst>
              <a:ext uri="{FF2B5EF4-FFF2-40B4-BE49-F238E27FC236}">
                <a16:creationId xmlns:a16="http://schemas.microsoft.com/office/drawing/2014/main" id="{21D26432-9BEA-880A-5049-6E1BDB4B3CCA}"/>
              </a:ext>
            </a:extLst>
          </p:cNvPr>
          <p:cNvSpPr txBox="1"/>
          <p:nvPr/>
        </p:nvSpPr>
        <p:spPr>
          <a:xfrm>
            <a:off x="3670484" y="5855435"/>
            <a:ext cx="5486400" cy="176330"/>
          </a:xfrm>
          <a:prstGeom prst="rect">
            <a:avLst/>
          </a:prstGeom>
        </p:spPr>
        <p:txBody>
          <a:bodyPr vert="horz" wrap="square" lIns="0" tIns="12700" rIns="0" bIns="0" rtlCol="0">
            <a:spAutoFit/>
          </a:bodyPr>
          <a:lstStyle/>
          <a:p>
            <a:pPr marL="12700" algn="l">
              <a:lnSpc>
                <a:spcPts val="1240"/>
              </a:lnSpc>
            </a:pPr>
            <a:r>
              <a:rPr lang="en-IN" sz="1600" spc="-10" dirty="0">
                <a:latin typeface="Times New Roman" panose="02020603050405020304" pitchFamily="18" charset="0"/>
                <a:cs typeface="Times New Roman" panose="02020603050405020304" pitchFamily="18" charset="0"/>
              </a:rPr>
              <a:t>Figure No 11.6: admin Login Interface with Validation Message</a:t>
            </a:r>
          </a:p>
        </p:txBody>
      </p:sp>
    </p:spTree>
    <p:extLst>
      <p:ext uri="{BB962C8B-B14F-4D97-AF65-F5344CB8AC3E}">
        <p14:creationId xmlns:p14="http://schemas.microsoft.com/office/powerpoint/2010/main" val="2052867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1353800" y="6443340"/>
            <a:ext cx="456507" cy="255134"/>
          </a:xfrm>
          <a:prstGeom prst="rect">
            <a:avLst/>
          </a:prstGeom>
          <a:noFill/>
        </p:spPr>
        <p:txBody>
          <a:bodyPr wrap="square">
            <a:spAutoFit/>
          </a:bodyPr>
          <a:lstStyle/>
          <a:p>
            <a:pPr marL="38100">
              <a:lnSpc>
                <a:spcPts val="1240"/>
              </a:lnSpc>
            </a:pPr>
            <a:fld id="{81D60167-4931-47E6-BA6A-407CBD079E47}" type="slidenum">
              <a:rPr lang="en-IN" sz="1200" spc="-50" smtClean="0">
                <a:solidFill>
                  <a:srgbClr val="888888"/>
                </a:solidFill>
                <a:latin typeface="Calibri" panose="020F0502020204030204"/>
                <a:cs typeface="Calibri" panose="020F0502020204030204"/>
              </a:rPr>
              <a:t>35</a:t>
            </a:fld>
            <a:endParaRPr lang="en-IN" sz="1200" dirty="0">
              <a:latin typeface="Calibri" panose="020F0502020204030204"/>
              <a:cs typeface="Calibri" panose="020F0502020204030204"/>
            </a:endParaRPr>
          </a:p>
        </p:txBody>
      </p:sp>
      <p:sp>
        <p:nvSpPr>
          <p:cNvPr id="2" name="Text Box 1"/>
          <p:cNvSpPr txBox="1"/>
          <p:nvPr/>
        </p:nvSpPr>
        <p:spPr>
          <a:xfrm>
            <a:off x="2895600" y="152400"/>
            <a:ext cx="5796280" cy="711200"/>
          </a:xfrm>
          <a:prstGeom prst="rect">
            <a:avLst/>
          </a:prstGeom>
          <a:noFill/>
        </p:spPr>
        <p:txBody>
          <a:bodyPr wrap="square" rtlCol="0">
            <a:noAutofit/>
          </a:bodyPr>
          <a:lstStyle/>
          <a:p>
            <a:r>
              <a:rPr lang="en-US" sz="3600" b="1" spc="-10" dirty="0">
                <a:solidFill>
                  <a:schemeClr val="tx2">
                    <a:lumMod val="60000"/>
                    <a:lumOff val="40000"/>
                  </a:schemeClr>
                </a:solidFill>
                <a:latin typeface="Times New Roman" panose="02020603050405020304" pitchFamily="18" charset="0"/>
                <a:cs typeface="Times New Roman" panose="02020603050405020304" pitchFamily="18" charset="0"/>
                <a:sym typeface="+mn-ea"/>
              </a:rPr>
              <a:t>       </a:t>
            </a:r>
            <a:r>
              <a:rPr lang="en-US" sz="3600" b="1" spc="-10" dirty="0">
                <a:solidFill>
                  <a:srgbClr val="00B0F0"/>
                </a:solidFill>
                <a:latin typeface="Times New Roman" panose="02020603050405020304" pitchFamily="18" charset="0"/>
                <a:cs typeface="Times New Roman" panose="02020603050405020304" pitchFamily="18" charset="0"/>
                <a:sym typeface="+mn-ea"/>
              </a:rPr>
              <a:t>12.Designing Test Cases</a:t>
            </a:r>
            <a:endParaRPr lang="en-US" sz="3600" b="1" spc="-10" dirty="0">
              <a:solidFill>
                <a:srgbClr val="00B0F0"/>
              </a:solidFill>
              <a:latin typeface="Times New Roman" panose="02020603050405020304" pitchFamily="18" charset="0"/>
              <a:cs typeface="Times New Roman" panose="02020603050405020304" pitchFamily="18" charset="0"/>
            </a:endParaRPr>
          </a:p>
          <a:p>
            <a:endParaRPr lang="en-US" sz="3600" b="1" spc="-10"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70212" y="863600"/>
            <a:ext cx="11456670" cy="5416550"/>
          </a:xfrm>
          <a:prstGeom prst="rect">
            <a:avLst/>
          </a:prstGeom>
          <a:noFill/>
        </p:spPr>
        <p:txBody>
          <a:bodyPr wrap="square" rtlCol="0">
            <a:noAutofit/>
          </a:bodyPr>
          <a:lstStyle/>
          <a:p>
            <a:endParaRPr lang="en-US" sz="2400" dirty="0"/>
          </a:p>
        </p:txBody>
      </p:sp>
      <p:graphicFrame>
        <p:nvGraphicFramePr>
          <p:cNvPr id="4" name="Table 3"/>
          <p:cNvGraphicFramePr/>
          <p:nvPr>
            <p:custDataLst>
              <p:tags r:id="rId1"/>
            </p:custDataLst>
            <p:extLst>
              <p:ext uri="{D42A27DB-BD31-4B8C-83A1-F6EECF244321}">
                <p14:modId xmlns:p14="http://schemas.microsoft.com/office/powerpoint/2010/main" val="3658868881"/>
              </p:ext>
            </p:extLst>
          </p:nvPr>
        </p:nvGraphicFramePr>
        <p:xfrm>
          <a:off x="736600" y="1376434"/>
          <a:ext cx="10880725" cy="4948166"/>
        </p:xfrm>
        <a:graphic>
          <a:graphicData uri="http://schemas.openxmlformats.org/drawingml/2006/table">
            <a:tbl>
              <a:tblPr/>
              <a:tblGrid>
                <a:gridCol w="2176145">
                  <a:extLst>
                    <a:ext uri="{9D8B030D-6E8A-4147-A177-3AD203B41FA5}">
                      <a16:colId xmlns:a16="http://schemas.microsoft.com/office/drawing/2014/main" val="20000"/>
                    </a:ext>
                  </a:extLst>
                </a:gridCol>
                <a:gridCol w="2176145">
                  <a:extLst>
                    <a:ext uri="{9D8B030D-6E8A-4147-A177-3AD203B41FA5}">
                      <a16:colId xmlns:a16="http://schemas.microsoft.com/office/drawing/2014/main" val="20001"/>
                    </a:ext>
                  </a:extLst>
                </a:gridCol>
                <a:gridCol w="2176145">
                  <a:extLst>
                    <a:ext uri="{9D8B030D-6E8A-4147-A177-3AD203B41FA5}">
                      <a16:colId xmlns:a16="http://schemas.microsoft.com/office/drawing/2014/main" val="20002"/>
                    </a:ext>
                  </a:extLst>
                </a:gridCol>
                <a:gridCol w="2176145">
                  <a:extLst>
                    <a:ext uri="{9D8B030D-6E8A-4147-A177-3AD203B41FA5}">
                      <a16:colId xmlns:a16="http://schemas.microsoft.com/office/drawing/2014/main" val="20003"/>
                    </a:ext>
                  </a:extLst>
                </a:gridCol>
                <a:gridCol w="2176145">
                  <a:extLst>
                    <a:ext uri="{9D8B030D-6E8A-4147-A177-3AD203B41FA5}">
                      <a16:colId xmlns:a16="http://schemas.microsoft.com/office/drawing/2014/main" val="20004"/>
                    </a:ext>
                  </a:extLst>
                </a:gridCol>
              </a:tblGrid>
              <a:tr h="395853">
                <a:tc>
                  <a:txBody>
                    <a:bodyPr/>
                    <a:lstStyle/>
                    <a:p>
                      <a:pPr>
                        <a:lnSpc>
                          <a:spcPct val="114000"/>
                        </a:lnSpc>
                        <a:spcBef>
                          <a:spcPct val="0"/>
                        </a:spcBef>
                        <a:spcAft>
                          <a:spcPts val="1000"/>
                        </a:spcAft>
                      </a:pPr>
                      <a:endParaRPr lang="en-US" altLang="zh-CN" sz="1100" dirty="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extLst>
                  <a:ext uri="{0D108BD9-81ED-4DB2-BD59-A6C34878D82A}">
                    <a16:rowId xmlns:a16="http://schemas.microsoft.com/office/drawing/2014/main" val="10000"/>
                  </a:ext>
                </a:extLst>
              </a:tr>
              <a:tr h="1187560">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extLst>
                  <a:ext uri="{0D108BD9-81ED-4DB2-BD59-A6C34878D82A}">
                    <a16:rowId xmlns:a16="http://schemas.microsoft.com/office/drawing/2014/main" val="10001"/>
                  </a:ext>
                </a:extLst>
              </a:tr>
              <a:tr h="1187560">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extLst>
                  <a:ext uri="{0D108BD9-81ED-4DB2-BD59-A6C34878D82A}">
                    <a16:rowId xmlns:a16="http://schemas.microsoft.com/office/drawing/2014/main" val="10002"/>
                  </a:ext>
                </a:extLst>
              </a:tr>
              <a:tr h="792306">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extLst>
                  <a:ext uri="{0D108BD9-81ED-4DB2-BD59-A6C34878D82A}">
                    <a16:rowId xmlns:a16="http://schemas.microsoft.com/office/drawing/2014/main" val="10003"/>
                  </a:ext>
                </a:extLst>
              </a:tr>
              <a:tr h="1384887">
                <a:tc>
                  <a:txBody>
                    <a:bodyPr/>
                    <a:lstStyle/>
                    <a:p>
                      <a:pPr>
                        <a:lnSpc>
                          <a:spcPct val="114000"/>
                        </a:lnSpc>
                        <a:spcBef>
                          <a:spcPct val="0"/>
                        </a:spcBef>
                        <a:spcAft>
                          <a:spcPts val="1000"/>
                        </a:spcAft>
                      </a:pPr>
                      <a:endParaRPr lang="en-US" altLang="zh-CN" sz="1100" dirty="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dirty="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lnSpc>
                          <a:spcPct val="114000"/>
                        </a:lnSpc>
                        <a:spcBef>
                          <a:spcPct val="0"/>
                        </a:spcBef>
                        <a:spcAft>
                          <a:spcPts val="1000"/>
                        </a:spcAft>
                      </a:pPr>
                      <a:endParaRPr lang="en-US" altLang="zh-CN" sz="1100">
                        <a:latin typeface="Cambria" panose="02040503050406030204"/>
                        <a:ea typeface="ＭＳ 明朝"/>
                      </a:endParaRPr>
                    </a:p>
                  </a:txBody>
                  <a:tcPr marL="68580" marR="68580" marT="0" marB="0">
                    <a:lnL>
                      <a:noFill/>
                    </a:lnL>
                    <a:lnR>
                      <a:noFill/>
                    </a:lnR>
                    <a:lnT>
                      <a:noFill/>
                    </a:lnT>
                    <a:lnB>
                      <a:noFill/>
                    </a:lnB>
                    <a:noFill/>
                  </a:tcPr>
                </a:tc>
                <a:tc>
                  <a:txBody>
                    <a:bodyPr/>
                    <a:lstStyle/>
                    <a:p>
                      <a:pPr>
                        <a:spcBef>
                          <a:spcPct val="0"/>
                        </a:spcBef>
                        <a:spcAft>
                          <a:spcPct val="0"/>
                        </a:spcAft>
                      </a:pPr>
                      <a:endParaRPr sz="1100" dirty="0">
                        <a:latin typeface="Cambria" panose="02040503050406030204"/>
                        <a:ea typeface="ＭＳ 明朝"/>
                      </a:endParaRPr>
                    </a:p>
                  </a:txBody>
                  <a:tcPr marL="68580" marR="68580" marT="0" marB="0">
                    <a:lnL>
                      <a:noFill/>
                    </a:lnL>
                    <a:lnR>
                      <a:noFill/>
                    </a:lnR>
                    <a:lnT>
                      <a:noFill/>
                    </a:lnT>
                    <a:lnB>
                      <a:noFill/>
                    </a:lnB>
                    <a:noFill/>
                  </a:tcPr>
                </a:tc>
                <a:extLst>
                  <a:ext uri="{0D108BD9-81ED-4DB2-BD59-A6C34878D82A}">
                    <a16:rowId xmlns:a16="http://schemas.microsoft.com/office/drawing/2014/main" val="10004"/>
                  </a:ext>
                </a:extLst>
              </a:tr>
            </a:tbl>
          </a:graphicData>
        </a:graphic>
      </p:graphicFrame>
      <p:graphicFrame>
        <p:nvGraphicFramePr>
          <p:cNvPr id="5" name="Table 4"/>
          <p:cNvGraphicFramePr/>
          <p:nvPr>
            <p:custDataLst>
              <p:tags r:id="rId2"/>
            </p:custDataLst>
            <p:extLst>
              <p:ext uri="{D42A27DB-BD31-4B8C-83A1-F6EECF244321}">
                <p14:modId xmlns:p14="http://schemas.microsoft.com/office/powerpoint/2010/main" val="4171147192"/>
              </p:ext>
            </p:extLst>
          </p:nvPr>
        </p:nvGraphicFramePr>
        <p:xfrm>
          <a:off x="715347" y="1026790"/>
          <a:ext cx="11011535" cy="4613148"/>
        </p:xfrm>
        <a:graphic>
          <a:graphicData uri="http://schemas.openxmlformats.org/drawingml/2006/table">
            <a:tbl>
              <a:tblPr firstRow="1" bandRow="1">
                <a:tableStyleId>{5C22544A-7EE6-4342-B048-85BDC9FD1C3A}</a:tableStyleId>
              </a:tblPr>
              <a:tblGrid>
                <a:gridCol w="2186940">
                  <a:extLst>
                    <a:ext uri="{9D8B030D-6E8A-4147-A177-3AD203B41FA5}">
                      <a16:colId xmlns:a16="http://schemas.microsoft.com/office/drawing/2014/main" val="20000"/>
                    </a:ext>
                  </a:extLst>
                </a:gridCol>
                <a:gridCol w="2205990">
                  <a:extLst>
                    <a:ext uri="{9D8B030D-6E8A-4147-A177-3AD203B41FA5}">
                      <a16:colId xmlns:a16="http://schemas.microsoft.com/office/drawing/2014/main" val="20001"/>
                    </a:ext>
                  </a:extLst>
                </a:gridCol>
                <a:gridCol w="2206625">
                  <a:extLst>
                    <a:ext uri="{9D8B030D-6E8A-4147-A177-3AD203B41FA5}">
                      <a16:colId xmlns:a16="http://schemas.microsoft.com/office/drawing/2014/main" val="20002"/>
                    </a:ext>
                  </a:extLst>
                </a:gridCol>
                <a:gridCol w="2315845">
                  <a:extLst>
                    <a:ext uri="{9D8B030D-6E8A-4147-A177-3AD203B41FA5}">
                      <a16:colId xmlns:a16="http://schemas.microsoft.com/office/drawing/2014/main" val="20003"/>
                    </a:ext>
                  </a:extLst>
                </a:gridCol>
                <a:gridCol w="2096135">
                  <a:extLst>
                    <a:ext uri="{9D8B030D-6E8A-4147-A177-3AD203B41FA5}">
                      <a16:colId xmlns:a16="http://schemas.microsoft.com/office/drawing/2014/main" val="20004"/>
                    </a:ext>
                  </a:extLst>
                </a:gridCol>
              </a:tblGrid>
              <a:tr h="663575">
                <a:tc>
                  <a:txBody>
                    <a:bodyPr/>
                    <a:lstStyle/>
                    <a:p>
                      <a:pPr>
                        <a:lnSpc>
                          <a:spcPct val="114000"/>
                        </a:lnSpc>
                        <a:spcBef>
                          <a:spcPct val="0"/>
                        </a:spcBef>
                        <a:spcAft>
                          <a:spcPts val="1000"/>
                        </a:spcAft>
                      </a:pPr>
                      <a:r>
                        <a:rPr lang="en-US" altLang="zh-CN" sz="1600" dirty="0">
                          <a:latin typeface="Times New Roman" panose="02020603050405020304" pitchFamily="18" charset="0"/>
                          <a:ea typeface="ＭＳ 明朝"/>
                          <a:cs typeface="Times New Roman" panose="02020603050405020304" pitchFamily="18" charset="0"/>
                        </a:rPr>
                        <a:t>       Test Case ID</a:t>
                      </a:r>
                    </a:p>
                  </a:txBody>
                  <a:tcPr marL="68580" marR="68580" marT="0" marB="0"/>
                </a:tc>
                <a:tc>
                  <a:txBody>
                    <a:bodyPr/>
                    <a:lstStyle/>
                    <a:p>
                      <a:pPr>
                        <a:lnSpc>
                          <a:spcPct val="114000"/>
                        </a:lnSpc>
                        <a:spcBef>
                          <a:spcPct val="0"/>
                        </a:spcBef>
                        <a:spcAft>
                          <a:spcPts val="1000"/>
                        </a:spcAft>
                      </a:pPr>
                      <a:r>
                        <a:rPr lang="en-US" altLang="zh-CN" sz="1600" dirty="0">
                          <a:latin typeface="Cambria" panose="02040503050406030204"/>
                          <a:ea typeface="ＭＳ 明朝"/>
                        </a:rPr>
                        <a:t>        Input</a:t>
                      </a:r>
                    </a:p>
                  </a:txBody>
                  <a:tcPr marL="68580" marR="68580" marT="0" marB="0"/>
                </a:tc>
                <a:tc>
                  <a:txBody>
                    <a:bodyPr/>
                    <a:lstStyle/>
                    <a:p>
                      <a:pPr>
                        <a:lnSpc>
                          <a:spcPct val="114000"/>
                        </a:lnSpc>
                        <a:spcBef>
                          <a:spcPct val="0"/>
                        </a:spcBef>
                        <a:spcAft>
                          <a:spcPts val="1000"/>
                        </a:spcAft>
                      </a:pPr>
                      <a:r>
                        <a:rPr lang="en-US" altLang="zh-CN" sz="1600" dirty="0">
                          <a:latin typeface="Cambria" panose="02040503050406030204"/>
                          <a:ea typeface="ＭＳ 明朝"/>
                        </a:rPr>
                        <a:t>    Description</a:t>
                      </a:r>
                    </a:p>
                  </a:txBody>
                  <a:tcPr marL="68580" marR="68580" marT="0" marB="0"/>
                </a:tc>
                <a:tc>
                  <a:txBody>
                    <a:bodyPr/>
                    <a:lstStyle/>
                    <a:p>
                      <a:pPr>
                        <a:lnSpc>
                          <a:spcPct val="114000"/>
                        </a:lnSpc>
                        <a:spcBef>
                          <a:spcPct val="0"/>
                        </a:spcBef>
                        <a:spcAft>
                          <a:spcPts val="1000"/>
                        </a:spcAft>
                      </a:pPr>
                      <a:r>
                        <a:rPr lang="en-US" altLang="zh-CN" sz="1600" dirty="0">
                          <a:latin typeface="Cambria" panose="02040503050406030204"/>
                          <a:ea typeface="ＭＳ 明朝"/>
                        </a:rPr>
                        <a:t>    Expected Result</a:t>
                      </a:r>
                    </a:p>
                  </a:txBody>
                  <a:tcPr marL="68580" marR="68580" marT="0" marB="0"/>
                </a:tc>
                <a:tc>
                  <a:txBody>
                    <a:bodyPr/>
                    <a:lstStyle/>
                    <a:p>
                      <a:pPr>
                        <a:lnSpc>
                          <a:spcPct val="114000"/>
                        </a:lnSpc>
                        <a:spcBef>
                          <a:spcPct val="0"/>
                        </a:spcBef>
                        <a:spcAft>
                          <a:spcPts val="1000"/>
                        </a:spcAft>
                      </a:pPr>
                      <a:r>
                        <a:rPr lang="en-US" altLang="zh-CN" sz="1600" dirty="0">
                          <a:latin typeface="Cambria" panose="02040503050406030204"/>
                          <a:ea typeface="ＭＳ 明朝"/>
                        </a:rPr>
                        <a:t>    Pass/Fail</a:t>
                      </a:r>
                    </a:p>
                  </a:txBody>
                  <a:tcPr marL="68580" marR="68580" marT="0" marB="0"/>
                </a:tc>
                <a:extLst>
                  <a:ext uri="{0D108BD9-81ED-4DB2-BD59-A6C34878D82A}">
                    <a16:rowId xmlns:a16="http://schemas.microsoft.com/office/drawing/2014/main" val="10000"/>
                  </a:ext>
                </a:extLst>
              </a:tr>
              <a:tr h="953135">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TC_01</a:t>
                      </a:r>
                    </a:p>
                  </a:txBody>
                  <a:tcPr marL="68580" marR="68580" marT="0" marB="0"/>
                </a:tc>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Empty email field</a:t>
                      </a:r>
                    </a:p>
                  </a:txBody>
                  <a:tcPr marL="68580" marR="68580" marT="0" marB="0"/>
                </a:tc>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User leaves the email field empty and clicks “Login.”</a:t>
                      </a:r>
                    </a:p>
                  </a:txBody>
                  <a:tcPr marL="68580" marR="68580" marT="0" marB="0"/>
                </a:tc>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Validation message displayed: “Email is required.”</a:t>
                      </a:r>
                    </a:p>
                  </a:txBody>
                  <a:tcPr marL="68580" marR="68580" marT="0" marB="0"/>
                </a:tc>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Pass</a:t>
                      </a:r>
                    </a:p>
                  </a:txBody>
                  <a:tcPr marL="68580" marR="68580" marT="0" marB="0"/>
                </a:tc>
                <a:extLst>
                  <a:ext uri="{0D108BD9-81ED-4DB2-BD59-A6C34878D82A}">
                    <a16:rowId xmlns:a16="http://schemas.microsoft.com/office/drawing/2014/main" val="10001"/>
                  </a:ext>
                </a:extLst>
              </a:tr>
              <a:tr h="953135">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TC_02</a:t>
                      </a:r>
                    </a:p>
                  </a:txBody>
                  <a:tcPr marL="68580" marR="68580" marT="0" marB="0"/>
                </a:tc>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Empty password field</a:t>
                      </a:r>
                    </a:p>
                  </a:txBody>
                  <a:tcPr marL="68580" marR="68580" marT="0" marB="0"/>
                </a:tc>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User leaves the password field empty and clicks “Login.”</a:t>
                      </a:r>
                    </a:p>
                  </a:txBody>
                  <a:tcPr marL="68580" marR="68580" marT="0" marB="0"/>
                </a:tc>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Validation message displayed: “Password is required.”</a:t>
                      </a:r>
                    </a:p>
                  </a:txBody>
                  <a:tcPr marL="68580" marR="68580" marT="0" marB="0"/>
                </a:tc>
                <a:tc>
                  <a:txBody>
                    <a:bodyPr/>
                    <a:lstStyle/>
                    <a:p>
                      <a:pPr>
                        <a:buNone/>
                      </a:pPr>
                      <a:r>
                        <a:rPr lang="en-US" sz="1600">
                          <a:solidFill>
                            <a:schemeClr val="tx1"/>
                          </a:solidFill>
                          <a:uFillTx/>
                          <a:latin typeface="Times New Roman" panose="02020603050405020304" pitchFamily="18" charset="0"/>
                        </a:rPr>
                        <a:t>Pass</a:t>
                      </a:r>
                    </a:p>
                  </a:txBody>
                  <a:tcPr/>
                </a:tc>
                <a:extLst>
                  <a:ext uri="{0D108BD9-81ED-4DB2-BD59-A6C34878D82A}">
                    <a16:rowId xmlns:a16="http://schemas.microsoft.com/office/drawing/2014/main" val="10002"/>
                  </a:ext>
                </a:extLst>
              </a:tr>
              <a:tr h="953135">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TC_03</a:t>
                      </a:r>
                    </a:p>
                  </a:txBody>
                  <a:tcPr marL="68580" marR="68580" marT="0" marB="0"/>
                </a:tc>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Invalid credentials</a:t>
                      </a:r>
                    </a:p>
                  </a:txBody>
                  <a:tcPr marL="68580" marR="68580" marT="0" marB="0"/>
                </a:tc>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User enters incorrect email or password.</a:t>
                      </a:r>
                    </a:p>
                  </a:txBody>
                  <a:tcPr marL="68580" marR="68580" marT="0" marB="0"/>
                </a:tc>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Error message displayed: “Invalid email or password.”</a:t>
                      </a:r>
                    </a:p>
                  </a:txBody>
                  <a:tcPr marL="68580" marR="68580" marT="0" marB="0"/>
                </a:tc>
                <a:tc>
                  <a:txBody>
                    <a:bodyPr/>
                    <a:lstStyle/>
                    <a:p>
                      <a:pPr>
                        <a:buNone/>
                      </a:pPr>
                      <a:r>
                        <a:rPr lang="en-US" sz="1600" dirty="0">
                          <a:solidFill>
                            <a:schemeClr val="tx1"/>
                          </a:solidFill>
                          <a:uFillTx/>
                          <a:latin typeface="Times New Roman" panose="02020603050405020304" pitchFamily="18" charset="0"/>
                        </a:rPr>
                        <a:t>Pass</a:t>
                      </a:r>
                    </a:p>
                  </a:txBody>
                  <a:tcPr/>
                </a:tc>
                <a:extLst>
                  <a:ext uri="{0D108BD9-81ED-4DB2-BD59-A6C34878D82A}">
                    <a16:rowId xmlns:a16="http://schemas.microsoft.com/office/drawing/2014/main" val="10003"/>
                  </a:ext>
                </a:extLst>
              </a:tr>
              <a:tr h="953135">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TC_04</a:t>
                      </a:r>
                    </a:p>
                  </a:txBody>
                  <a:tcPr marL="68580" marR="68580" marT="0" marB="0"/>
                </a:tc>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Valid credentials</a:t>
                      </a:r>
                    </a:p>
                  </a:txBody>
                  <a:tcPr marL="68580" marR="68580" marT="0" marB="0"/>
                </a:tc>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User enters valid email and password and clicks “Login.”</a:t>
                      </a:r>
                    </a:p>
                  </a:txBody>
                  <a:tcPr marL="68580" marR="68580" marT="0" marB="0"/>
                </a:tc>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Login successful; user redirected to their respective dashboard (Donor/NGO/Volunteer).</a:t>
                      </a:r>
                    </a:p>
                  </a:txBody>
                  <a:tcPr marL="68580" marR="68580" marT="0" marB="0"/>
                </a:tc>
                <a:tc>
                  <a:txBody>
                    <a:bodyPr/>
                    <a:lstStyle/>
                    <a:p>
                      <a:pPr>
                        <a:buNone/>
                      </a:pPr>
                      <a:r>
                        <a:rPr lang="en-US" sz="1600" dirty="0">
                          <a:solidFill>
                            <a:schemeClr val="tx1"/>
                          </a:solidFill>
                          <a:uFillTx/>
                          <a:latin typeface="Times New Roman" panose="02020603050405020304" pitchFamily="18" charset="0"/>
                        </a:rPr>
                        <a:t>Pass</a:t>
                      </a:r>
                    </a:p>
                  </a:txBody>
                  <a:tcPr/>
                </a:tc>
                <a:extLst>
                  <a:ext uri="{0D108BD9-81ED-4DB2-BD59-A6C34878D82A}">
                    <a16:rowId xmlns:a16="http://schemas.microsoft.com/office/drawing/2014/main" val="10004"/>
                  </a:ext>
                </a:extLst>
              </a:tr>
            </a:tbl>
          </a:graphicData>
        </a:graphic>
      </p:graphicFrame>
      <p:sp>
        <p:nvSpPr>
          <p:cNvPr id="6" name="Date Placeholder 5"/>
          <p:cNvSpPr>
            <a:spLocks noGrp="1"/>
          </p:cNvSpPr>
          <p:nvPr>
            <p:ph type="dt" sz="half" idx="6"/>
          </p:nvPr>
        </p:nvSpPr>
        <p:spPr>
          <a:xfrm>
            <a:off x="916939" y="6464680"/>
            <a:ext cx="765175" cy="156068"/>
          </a:xfrm>
        </p:spPr>
        <p:txBody>
          <a:bodyPr/>
          <a:lstStyle/>
          <a:p>
            <a:pPr marL="12700">
              <a:lnSpc>
                <a:spcPts val="1240"/>
              </a:lnSpc>
            </a:pPr>
            <a:r>
              <a:rPr lang="en-US" spc="-10" dirty="0"/>
              <a:t>13/01/2026</a:t>
            </a:r>
          </a:p>
        </p:txBody>
      </p:sp>
      <p:sp>
        <p:nvSpPr>
          <p:cNvPr id="7" name="Footer Placeholder 6"/>
          <p:cNvSpPr>
            <a:spLocks noGrp="1"/>
          </p:cNvSpPr>
          <p:nvPr>
            <p:ph type="ftr" sz="quarter" idx="5"/>
          </p:nvPr>
        </p:nvSpPr>
        <p:spPr>
          <a:xfrm>
            <a:off x="5097271" y="6447704"/>
            <a:ext cx="374192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r>
              <a:rPr lang="en-US" b="1" spc="-10" dirty="0">
                <a:latin typeface="Times New Roman" panose="02020603050405020304"/>
                <a:cs typeface="Times New Roman" panose="02020603050405020304"/>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custDataLst>
              <p:tags r:id="rId1"/>
            </p:custDataLst>
            <p:extLst>
              <p:ext uri="{D42A27DB-BD31-4B8C-83A1-F6EECF244321}">
                <p14:modId xmlns:p14="http://schemas.microsoft.com/office/powerpoint/2010/main" val="3926146342"/>
              </p:ext>
            </p:extLst>
          </p:nvPr>
        </p:nvGraphicFramePr>
        <p:xfrm>
          <a:off x="407987" y="652713"/>
          <a:ext cx="11376025" cy="5552573"/>
        </p:xfrm>
        <a:graphic>
          <a:graphicData uri="http://schemas.openxmlformats.org/drawingml/2006/table">
            <a:tbl>
              <a:tblPr firstRow="1" bandRow="1">
                <a:tableStyleId>{5C22544A-7EE6-4342-B048-85BDC9FD1C3A}</a:tableStyleId>
              </a:tblPr>
              <a:tblGrid>
                <a:gridCol w="1386473">
                  <a:extLst>
                    <a:ext uri="{9D8B030D-6E8A-4147-A177-3AD203B41FA5}">
                      <a16:colId xmlns:a16="http://schemas.microsoft.com/office/drawing/2014/main" val="20000"/>
                    </a:ext>
                  </a:extLst>
                </a:gridCol>
                <a:gridCol w="2728730">
                  <a:extLst>
                    <a:ext uri="{9D8B030D-6E8A-4147-A177-3AD203B41FA5}">
                      <a16:colId xmlns:a16="http://schemas.microsoft.com/office/drawing/2014/main" val="20001"/>
                    </a:ext>
                  </a:extLst>
                </a:gridCol>
                <a:gridCol w="2841222">
                  <a:extLst>
                    <a:ext uri="{9D8B030D-6E8A-4147-A177-3AD203B41FA5}">
                      <a16:colId xmlns:a16="http://schemas.microsoft.com/office/drawing/2014/main" val="20002"/>
                    </a:ext>
                  </a:extLst>
                </a:gridCol>
                <a:gridCol w="2767834">
                  <a:extLst>
                    <a:ext uri="{9D8B030D-6E8A-4147-A177-3AD203B41FA5}">
                      <a16:colId xmlns:a16="http://schemas.microsoft.com/office/drawing/2014/main" val="20003"/>
                    </a:ext>
                  </a:extLst>
                </a:gridCol>
                <a:gridCol w="1651766">
                  <a:extLst>
                    <a:ext uri="{9D8B030D-6E8A-4147-A177-3AD203B41FA5}">
                      <a16:colId xmlns:a16="http://schemas.microsoft.com/office/drawing/2014/main" val="20004"/>
                    </a:ext>
                  </a:extLst>
                </a:gridCol>
              </a:tblGrid>
              <a:tr h="746624">
                <a:tc>
                  <a:txBody>
                    <a:bodyPr/>
                    <a:lstStyle/>
                    <a:p>
                      <a:pPr>
                        <a:lnSpc>
                          <a:spcPct val="114000"/>
                        </a:lnSpc>
                        <a:spcBef>
                          <a:spcPct val="0"/>
                        </a:spcBef>
                        <a:spcAft>
                          <a:spcPts val="1000"/>
                        </a:spcAft>
                      </a:pPr>
                      <a:r>
                        <a:rPr lang="en-US" altLang="zh-CN" sz="1600" dirty="0">
                          <a:solidFill>
                            <a:schemeClr val="bg1"/>
                          </a:solidFill>
                          <a:uFillTx/>
                          <a:latin typeface="Times New Roman" panose="02020603050405020304" pitchFamily="18" charset="0"/>
                          <a:ea typeface="ＭＳ 明朝"/>
                        </a:rPr>
                        <a:t>Test Case ID</a:t>
                      </a:r>
                    </a:p>
                  </a:txBody>
                  <a:tcPr marL="68580" marR="68580" marT="0" marB="0"/>
                </a:tc>
                <a:tc>
                  <a:txBody>
                    <a:bodyPr/>
                    <a:lstStyle/>
                    <a:p>
                      <a:pPr>
                        <a:lnSpc>
                          <a:spcPct val="114000"/>
                        </a:lnSpc>
                        <a:spcBef>
                          <a:spcPct val="0"/>
                        </a:spcBef>
                        <a:spcAft>
                          <a:spcPts val="1000"/>
                        </a:spcAft>
                      </a:pPr>
                      <a:r>
                        <a:rPr lang="en-US" altLang="zh-CN" sz="1600" dirty="0">
                          <a:solidFill>
                            <a:schemeClr val="bg1"/>
                          </a:solidFill>
                          <a:uFillTx/>
                          <a:latin typeface="Times New Roman" panose="02020603050405020304" pitchFamily="18" charset="0"/>
                          <a:ea typeface="ＭＳ 明朝"/>
                        </a:rPr>
                        <a:t>Input</a:t>
                      </a:r>
                    </a:p>
                  </a:txBody>
                  <a:tcPr marL="68580" marR="68580" marT="0" marB="0"/>
                </a:tc>
                <a:tc>
                  <a:txBody>
                    <a:bodyPr/>
                    <a:lstStyle/>
                    <a:p>
                      <a:pPr>
                        <a:lnSpc>
                          <a:spcPct val="114000"/>
                        </a:lnSpc>
                        <a:spcBef>
                          <a:spcPct val="0"/>
                        </a:spcBef>
                        <a:spcAft>
                          <a:spcPts val="1000"/>
                        </a:spcAft>
                      </a:pPr>
                      <a:r>
                        <a:rPr lang="en-US" altLang="zh-CN" sz="1600">
                          <a:solidFill>
                            <a:schemeClr val="bg1"/>
                          </a:solidFill>
                          <a:uFillTx/>
                          <a:latin typeface="Times New Roman" panose="02020603050405020304" pitchFamily="18" charset="0"/>
                          <a:ea typeface="ＭＳ 明朝"/>
                        </a:rPr>
                        <a:t>Description</a:t>
                      </a:r>
                    </a:p>
                  </a:txBody>
                  <a:tcPr marL="68580" marR="68580" marT="0" marB="0"/>
                </a:tc>
                <a:tc>
                  <a:txBody>
                    <a:bodyPr/>
                    <a:lstStyle/>
                    <a:p>
                      <a:pPr>
                        <a:lnSpc>
                          <a:spcPct val="114000"/>
                        </a:lnSpc>
                        <a:spcBef>
                          <a:spcPct val="0"/>
                        </a:spcBef>
                        <a:spcAft>
                          <a:spcPts val="1000"/>
                        </a:spcAft>
                      </a:pPr>
                      <a:r>
                        <a:rPr lang="en-US" altLang="zh-CN" sz="1600">
                          <a:solidFill>
                            <a:schemeClr val="bg1"/>
                          </a:solidFill>
                          <a:uFillTx/>
                          <a:latin typeface="Times New Roman" panose="02020603050405020304" pitchFamily="18" charset="0"/>
                          <a:ea typeface="ＭＳ 明朝"/>
                        </a:rPr>
                        <a:t>Expected Result</a:t>
                      </a:r>
                    </a:p>
                  </a:txBody>
                  <a:tcPr marL="68580" marR="68580" marT="0" marB="0"/>
                </a:tc>
                <a:tc>
                  <a:txBody>
                    <a:bodyPr/>
                    <a:lstStyle/>
                    <a:p>
                      <a:pPr>
                        <a:lnSpc>
                          <a:spcPct val="114000"/>
                        </a:lnSpc>
                        <a:spcBef>
                          <a:spcPct val="0"/>
                        </a:spcBef>
                        <a:spcAft>
                          <a:spcPts val="1000"/>
                        </a:spcAft>
                      </a:pPr>
                      <a:r>
                        <a:rPr lang="en-US" altLang="zh-CN" sz="1600" dirty="0">
                          <a:solidFill>
                            <a:schemeClr val="bg1"/>
                          </a:solidFill>
                          <a:uFillTx/>
                          <a:latin typeface="Times New Roman" panose="02020603050405020304" pitchFamily="18" charset="0"/>
                          <a:ea typeface="ＭＳ 明朝"/>
                        </a:rPr>
                        <a:t>Pass/Fail</a:t>
                      </a:r>
                    </a:p>
                  </a:txBody>
                  <a:tcPr marL="68580" marR="68580" marT="0" marB="0"/>
                </a:tc>
                <a:extLst>
                  <a:ext uri="{0D108BD9-81ED-4DB2-BD59-A6C34878D82A}">
                    <a16:rowId xmlns:a16="http://schemas.microsoft.com/office/drawing/2014/main" val="10000"/>
                  </a:ext>
                </a:extLst>
              </a:tr>
              <a:tr h="1158375">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rPr>
                        <a:t>TC_05</a:t>
                      </a:r>
                    </a:p>
                  </a:txBody>
                  <a:tcPr marL="68580" marR="68580" marT="0" marB="0"/>
                </a:tc>
                <a:tc>
                  <a:txBody>
                    <a:bodyPr/>
                    <a:lstStyle/>
                    <a:p>
                      <a:pPr>
                        <a:lnSpc>
                          <a:spcPct val="114000"/>
                        </a:lnSpc>
                        <a:spcBef>
                          <a:spcPct val="0"/>
                        </a:spcBef>
                        <a:spcAft>
                          <a:spcPts val="1000"/>
                        </a:spcAft>
                      </a:pPr>
                      <a:r>
                        <a:rPr lang="en-US" sz="1600" dirty="0">
                          <a:latin typeface="Times New Roman" pitchFamily="18" charset="0"/>
                          <a:cs typeface="Times New Roman" pitchFamily="18" charset="0"/>
                        </a:rPr>
                        <a:t>Admin login with valid credentials</a:t>
                      </a:r>
                      <a:endParaRPr lang="en-US" altLang="zh-CN" sz="1600" dirty="0">
                        <a:solidFill>
                          <a:schemeClr val="tx1"/>
                        </a:solidFill>
                        <a:uFillTx/>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Valid admin data</a:t>
                      </a:r>
                    </a:p>
                    <a:p>
                      <a:pPr>
                        <a:lnSpc>
                          <a:spcPct val="114000"/>
                        </a:lnSpc>
                        <a:spcBef>
                          <a:spcPct val="0"/>
                        </a:spcBef>
                        <a:spcAft>
                          <a:spcPts val="1000"/>
                        </a:spcAft>
                      </a:pPr>
                      <a:r>
                        <a:rPr lang="en-IN" sz="1600" dirty="0">
                          <a:latin typeface="Times New Roman" pitchFamily="18" charset="0"/>
                          <a:cs typeface="Times New Roman" pitchFamily="18" charset="0"/>
                        </a:rPr>
                        <a:t> admin@nammabus.com</a:t>
                      </a:r>
                      <a:br>
                        <a:rPr lang="en-IN" sz="1600" dirty="0">
                          <a:latin typeface="Times New Roman" pitchFamily="18" charset="0"/>
                          <a:cs typeface="Times New Roman" pitchFamily="18" charset="0"/>
                        </a:rPr>
                      </a:br>
                      <a:r>
                        <a:rPr lang="en-IN" sz="1600" dirty="0">
                          <a:latin typeface="Times New Roman" pitchFamily="18" charset="0"/>
                          <a:cs typeface="Times New Roman" pitchFamily="18" charset="0"/>
                        </a:rPr>
                        <a:t>Password: Admin@123</a:t>
                      </a:r>
                      <a:endParaRPr lang="en-US" altLang="zh-CN" sz="1600" dirty="0">
                        <a:solidFill>
                          <a:schemeClr val="tx1"/>
                        </a:solidFill>
                        <a:uFillTx/>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Admin dashboard displayed</a:t>
                      </a:r>
                      <a:r>
                        <a:rPr lang="en-US" altLang="zh-CN" sz="1600" dirty="0">
                          <a:solidFill>
                            <a:schemeClr val="tx1"/>
                          </a:solidFill>
                          <a:uFillTx/>
                          <a:latin typeface="Times New Roman" panose="02020603050405020304" pitchFamily="18" charset="0"/>
                          <a:ea typeface="ＭＳ 明朝"/>
                          <a:cs typeface="Times New Roman" pitchFamily="18" charset="0"/>
                        </a:rPr>
                        <a:t>.</a:t>
                      </a:r>
                    </a:p>
                  </a:txBody>
                  <a:tcPr marL="68580" marR="68580" marT="0" marB="0"/>
                </a:tc>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 Pass</a:t>
                      </a:r>
                    </a:p>
                  </a:txBody>
                  <a:tcPr marL="68580" marR="68580" marT="0" marB="0"/>
                </a:tc>
                <a:extLst>
                  <a:ext uri="{0D108BD9-81ED-4DB2-BD59-A6C34878D82A}">
                    <a16:rowId xmlns:a16="http://schemas.microsoft.com/office/drawing/2014/main" val="10001"/>
                  </a:ext>
                </a:extLst>
              </a:tr>
              <a:tr h="1016003">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TC_06</a:t>
                      </a:r>
                    </a:p>
                  </a:txBody>
                  <a:tcPr marL="68580" marR="68580" marT="0" marB="0"/>
                </a:tc>
                <a:tc>
                  <a:txBody>
                    <a:bodyPr/>
                    <a:lstStyle/>
                    <a:p>
                      <a:pPr>
                        <a:lnSpc>
                          <a:spcPct val="114000"/>
                        </a:lnSpc>
                        <a:spcBef>
                          <a:spcPct val="0"/>
                        </a:spcBef>
                        <a:spcAft>
                          <a:spcPts val="1000"/>
                        </a:spcAft>
                      </a:pPr>
                      <a:r>
                        <a:rPr lang="en-US" sz="1600" dirty="0">
                          <a:latin typeface="Times New Roman" pitchFamily="18" charset="0"/>
                          <a:cs typeface="Times New Roman" pitchFamily="18" charset="0"/>
                        </a:rPr>
                        <a:t>Admin login with invalid credentials</a:t>
                      </a:r>
                      <a:endParaRPr lang="en-US" altLang="en-US" sz="1600" dirty="0">
                        <a:solidFill>
                          <a:schemeClr val="tx1"/>
                        </a:solidFill>
                        <a:uFillTx/>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IN" sz="1600" dirty="0"/>
                        <a:t>Incorrect password</a:t>
                      </a:r>
                      <a:r>
                        <a:rPr lang="en-IN" sz="1600" baseline="0" dirty="0"/>
                        <a:t> </a:t>
                      </a:r>
                    </a:p>
                    <a:p>
                      <a:pPr>
                        <a:lnSpc>
                          <a:spcPct val="114000"/>
                        </a:lnSpc>
                        <a:spcBef>
                          <a:spcPct val="0"/>
                        </a:spcBef>
                        <a:spcAft>
                          <a:spcPts val="1000"/>
                        </a:spcAft>
                      </a:pPr>
                      <a:r>
                        <a:rPr lang="en-IN" sz="1600" baseline="0" dirty="0"/>
                        <a:t>eg </a:t>
                      </a:r>
                      <a:r>
                        <a:rPr lang="en-IN" sz="1600" dirty="0"/>
                        <a:t>Password: Admin@321</a:t>
                      </a:r>
                      <a:endParaRPr lang="en-US" altLang="zh-CN" sz="1600" dirty="0">
                        <a:solidFill>
                          <a:schemeClr val="tx1"/>
                        </a:solidFill>
                        <a:uFillTx/>
                        <a:latin typeface="Times New Roman" panose="02020603050405020304" pitchFamily="18" charset="0"/>
                        <a:ea typeface="ＭＳ 明朝"/>
                      </a:endParaRPr>
                    </a:p>
                  </a:txBody>
                  <a:tcPr marL="68580" marR="68580" marT="0" marB="0"/>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IN" sz="1600" b="0" dirty="0"/>
                        <a:t>Access denied</a:t>
                      </a:r>
                    </a:p>
                    <a:p>
                      <a:endParaRPr lang="en-IN" dirty="0"/>
                    </a:p>
                  </a:txBody>
                  <a:tcPr anchor="ctr"/>
                </a:tc>
                <a:tc>
                  <a:txBody>
                    <a:bodyPr/>
                    <a:lstStyle/>
                    <a:p>
                      <a:pPr>
                        <a:buNone/>
                      </a:pPr>
                      <a:r>
                        <a:rPr lang="en-US" sz="1600">
                          <a:solidFill>
                            <a:schemeClr val="tx1"/>
                          </a:solidFill>
                          <a:uFillTx/>
                          <a:latin typeface="Times New Roman" panose="02020603050405020304" pitchFamily="18" charset="0"/>
                        </a:rPr>
                        <a:t>Pass</a:t>
                      </a:r>
                    </a:p>
                  </a:txBody>
                  <a:tcPr/>
                </a:tc>
                <a:extLst>
                  <a:ext uri="{0D108BD9-81ED-4DB2-BD59-A6C34878D82A}">
                    <a16:rowId xmlns:a16="http://schemas.microsoft.com/office/drawing/2014/main" val="10002"/>
                  </a:ext>
                </a:extLst>
              </a:tr>
              <a:tr h="807784">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TC_07</a:t>
                      </a:r>
                    </a:p>
                  </a:txBody>
                  <a:tcPr marL="68580" marR="68580" marT="0" marB="0"/>
                </a:tc>
                <a:tc>
                  <a:txBody>
                    <a:bodyPr/>
                    <a:lstStyle/>
                    <a:p>
                      <a:pPr>
                        <a:lnSpc>
                          <a:spcPct val="114000"/>
                        </a:lnSpc>
                        <a:spcBef>
                          <a:spcPct val="0"/>
                        </a:spcBef>
                        <a:spcAft>
                          <a:spcPts val="1000"/>
                        </a:spcAft>
                      </a:pPr>
                      <a:r>
                        <a:rPr lang="en-US" sz="1600" dirty="0">
                          <a:latin typeface="Times New Roman" pitchFamily="18" charset="0"/>
                          <a:cs typeface="Times New Roman" pitchFamily="18" charset="0"/>
                        </a:rPr>
                        <a:t>Driver login with valid credentials</a:t>
                      </a:r>
                      <a:endParaRPr lang="en-US" altLang="zh-CN" sz="1600" dirty="0">
                        <a:solidFill>
                          <a:schemeClr val="tx1"/>
                        </a:solidFill>
                        <a:uFillTx/>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cs typeface="Times New Roman" pitchFamily="18" charset="0"/>
                        </a:rPr>
                        <a:t>Driver enters an valid email such a</a:t>
                      </a:r>
                      <a:r>
                        <a:rPr lang="en-US" altLang="zh-CN" sz="1600" baseline="0" dirty="0">
                          <a:solidFill>
                            <a:schemeClr val="tx1"/>
                          </a:solidFill>
                          <a:uFillTx/>
                          <a:latin typeface="Times New Roman" panose="02020603050405020304" pitchFamily="18" charset="0"/>
                          <a:ea typeface="ＭＳ 明朝"/>
                          <a:cs typeface="Times New Roman" pitchFamily="18" charset="0"/>
                        </a:rPr>
                        <a:t> eg </a:t>
                      </a:r>
                      <a:r>
                        <a:rPr lang="en-IN" sz="1600" dirty="0">
                          <a:latin typeface="Times New Roman" pitchFamily="18" charset="0"/>
                          <a:cs typeface="Times New Roman" pitchFamily="18" charset="0"/>
                          <a:hlinkClick r:id="rId3"/>
                        </a:rPr>
                        <a:t>driver01@nammabus.com</a:t>
                      </a:r>
                      <a:endParaRPr lang="en-US" altLang="zh-CN" sz="1600" dirty="0">
                        <a:solidFill>
                          <a:schemeClr val="tx1"/>
                        </a:solidFill>
                        <a:uFillTx/>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Driver dashboard displayed</a:t>
                      </a:r>
                      <a:endParaRPr lang="en-US" altLang="zh-CN" sz="1600" dirty="0">
                        <a:solidFill>
                          <a:schemeClr val="tx1"/>
                        </a:solidFill>
                        <a:uFillTx/>
                        <a:latin typeface="Times New Roman" panose="02020603050405020304" pitchFamily="18" charset="0"/>
                        <a:ea typeface="ＭＳ 明朝"/>
                        <a:cs typeface="Times New Roman" pitchFamily="18" charset="0"/>
                      </a:endParaRPr>
                    </a:p>
                  </a:txBody>
                  <a:tcPr marL="68580" marR="68580" marT="0" marB="0"/>
                </a:tc>
                <a:tc>
                  <a:txBody>
                    <a:bodyPr/>
                    <a:lstStyle/>
                    <a:p>
                      <a:pPr>
                        <a:buNone/>
                      </a:pPr>
                      <a:r>
                        <a:rPr lang="en-US" sz="1600">
                          <a:solidFill>
                            <a:schemeClr val="tx1"/>
                          </a:solidFill>
                          <a:uFillTx/>
                          <a:latin typeface="Times New Roman" panose="02020603050405020304" pitchFamily="18" charset="0"/>
                        </a:rPr>
                        <a:t>Pass</a:t>
                      </a:r>
                    </a:p>
                  </a:txBody>
                  <a:tcPr/>
                </a:tc>
                <a:extLst>
                  <a:ext uri="{0D108BD9-81ED-4DB2-BD59-A6C34878D82A}">
                    <a16:rowId xmlns:a16="http://schemas.microsoft.com/office/drawing/2014/main" val="10003"/>
                  </a:ext>
                </a:extLst>
              </a:tr>
              <a:tr h="807784">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TC_08</a:t>
                      </a:r>
                    </a:p>
                  </a:txBody>
                  <a:tcPr marL="68580" marR="68580" marT="0" marB="0"/>
                </a:tc>
                <a:tc>
                  <a:txBody>
                    <a:bodyPr/>
                    <a:lstStyle/>
                    <a:p>
                      <a:r>
                        <a:rPr lang="en-US" sz="1600" dirty="0">
                          <a:latin typeface="Times New Roman" pitchFamily="18" charset="0"/>
                          <a:cs typeface="Times New Roman" pitchFamily="18" charset="0"/>
                        </a:rPr>
                        <a:t>Driver login with invalid credentials</a:t>
                      </a:r>
                      <a:endParaRPr lang="en-IN" sz="1600" dirty="0">
                        <a:latin typeface="Times New Roman" pitchFamily="18" charset="0"/>
                        <a:cs typeface="Times New Roman" pitchFamily="18" charset="0"/>
                      </a:endParaRPr>
                    </a:p>
                  </a:txBody>
                  <a:tcPr anchor="ctr"/>
                </a:tc>
                <a:tc>
                  <a:txBody>
                    <a:bodyPr/>
                    <a:lstStyle/>
                    <a:p>
                      <a:pPr>
                        <a:lnSpc>
                          <a:spcPct val="114000"/>
                        </a:lnSpc>
                        <a:spcBef>
                          <a:spcPct val="0"/>
                        </a:spcBef>
                        <a:spcAft>
                          <a:spcPts val="1000"/>
                        </a:spcAft>
                      </a:pPr>
                      <a:r>
                        <a:rPr lang="en-US" altLang="zh-CN" sz="1600" dirty="0">
                          <a:solidFill>
                            <a:schemeClr val="tx1"/>
                          </a:solidFill>
                          <a:uFillTx/>
                          <a:latin typeface="Times New Roman" panose="02020603050405020304" pitchFamily="18" charset="0"/>
                          <a:ea typeface="ＭＳ 明朝"/>
                          <a:cs typeface="Times New Roman" pitchFamily="18" charset="0"/>
                        </a:rPr>
                        <a:t>Driver enters an  invalid email eg </a:t>
                      </a:r>
                      <a:r>
                        <a:rPr lang="en-IN" sz="1600" dirty="0">
                          <a:latin typeface="Times New Roman" pitchFamily="18" charset="0"/>
                          <a:cs typeface="Times New Roman" pitchFamily="18" charset="0"/>
                        </a:rPr>
                        <a:t>driver.com</a:t>
                      </a:r>
                      <a:endParaRPr lang="en-US" altLang="zh-CN" sz="1600" dirty="0">
                        <a:solidFill>
                          <a:schemeClr val="tx1"/>
                        </a:solidFill>
                        <a:uFillTx/>
                        <a:latin typeface="Times New Roman" panose="02020603050405020304" pitchFamily="18" charset="0"/>
                        <a:ea typeface="ＭＳ 明朝"/>
                        <a:cs typeface="Times New Roman" pitchFamily="18" charset="0"/>
                      </a:endParaRPr>
                    </a:p>
                  </a:txBody>
                  <a:tcPr marL="68580" marR="68580" marT="0" marB="0"/>
                </a:tc>
                <a:tc>
                  <a:txBody>
                    <a:bodyPr/>
                    <a:lstStyle/>
                    <a:p>
                      <a:r>
                        <a:rPr lang="en-US" sz="1600" dirty="0">
                          <a:latin typeface="Times New Roman" pitchFamily="18" charset="0"/>
                          <a:cs typeface="Times New Roman" pitchFamily="18" charset="0"/>
                        </a:rPr>
                        <a:t>Login failed</a:t>
                      </a:r>
                      <a:endParaRPr lang="en-IN" sz="1600" dirty="0">
                        <a:latin typeface="Times New Roman" pitchFamily="18" charset="0"/>
                        <a:cs typeface="Times New Roman" pitchFamily="18" charset="0"/>
                      </a:endParaRPr>
                    </a:p>
                  </a:txBody>
                  <a:tcPr anchor="ctr"/>
                </a:tc>
                <a:tc>
                  <a:txBody>
                    <a:bodyPr/>
                    <a:lstStyle/>
                    <a:p>
                      <a:pPr>
                        <a:buNone/>
                      </a:pPr>
                      <a:r>
                        <a:rPr lang="en-US" sz="1600" dirty="0">
                          <a:solidFill>
                            <a:schemeClr val="tx1"/>
                          </a:solidFill>
                          <a:uFillTx/>
                          <a:latin typeface="Times New Roman" panose="02020603050405020304" pitchFamily="18" charset="0"/>
                        </a:rPr>
                        <a:t>Pass</a:t>
                      </a:r>
                    </a:p>
                  </a:txBody>
                  <a:tcPr/>
                </a:tc>
                <a:extLst>
                  <a:ext uri="{0D108BD9-81ED-4DB2-BD59-A6C34878D82A}">
                    <a16:rowId xmlns:a16="http://schemas.microsoft.com/office/drawing/2014/main" val="10004"/>
                  </a:ext>
                </a:extLst>
              </a:tr>
              <a:tr h="1016003">
                <a:tc>
                  <a:txBody>
                    <a:bodyPr/>
                    <a:lstStyle/>
                    <a:p>
                      <a:pPr>
                        <a:lnSpc>
                          <a:spcPct val="114000"/>
                        </a:lnSpc>
                        <a:spcBef>
                          <a:spcPct val="0"/>
                        </a:spcBef>
                        <a:spcAft>
                          <a:spcPts val="1000"/>
                        </a:spcAft>
                      </a:pPr>
                      <a:r>
                        <a:rPr lang="en-US" altLang="zh-CN" sz="1600">
                          <a:solidFill>
                            <a:schemeClr val="tx1"/>
                          </a:solidFill>
                          <a:uFillTx/>
                          <a:latin typeface="Times New Roman" panose="02020603050405020304" pitchFamily="18" charset="0"/>
                          <a:ea typeface="ＭＳ 明朝"/>
                        </a:rPr>
                        <a:t>TC_09</a:t>
                      </a:r>
                    </a:p>
                  </a:txBody>
                  <a:tcPr marL="68580" marR="68580" marT="0" marB="0"/>
                </a:tc>
                <a:tc>
                  <a:txBody>
                    <a:bodyPr/>
                    <a:lstStyle/>
                    <a:p>
                      <a:pPr>
                        <a:lnSpc>
                          <a:spcPct val="114000"/>
                        </a:lnSpc>
                        <a:spcBef>
                          <a:spcPct val="0"/>
                        </a:spcBef>
                        <a:spcAft>
                          <a:spcPts val="1000"/>
                        </a:spcAft>
                      </a:pPr>
                      <a:r>
                        <a:rPr lang="en-IN" sz="1600" dirty="0"/>
                        <a:t>Real-time bus location tracking</a:t>
                      </a:r>
                      <a:endParaRPr lang="en-US" altLang="zh-CN" sz="1600" dirty="0">
                        <a:solidFill>
                          <a:schemeClr val="tx1"/>
                        </a:solidFill>
                        <a:uFillTx/>
                        <a:latin typeface="Times New Roman" panose="02020603050405020304" pitchFamily="18" charset="0"/>
                        <a:ea typeface="ＭＳ 明朝"/>
                      </a:endParaRPr>
                    </a:p>
                  </a:txBody>
                  <a:tcPr marL="68580" marR="68580" marT="0" marB="0"/>
                </a:tc>
                <a:tc>
                  <a:txBody>
                    <a:bodyPr/>
                    <a:lstStyle/>
                    <a:p>
                      <a:pPr>
                        <a:lnSpc>
                          <a:spcPct val="114000"/>
                        </a:lnSpc>
                        <a:spcBef>
                          <a:spcPct val="0"/>
                        </a:spcBef>
                        <a:spcAft>
                          <a:spcPts val="1000"/>
                        </a:spcAft>
                      </a:pPr>
                      <a:r>
                        <a:rPr lang="en-IN" sz="1600" dirty="0"/>
                        <a:t>GPS: 15.1394, 76.9214</a:t>
                      </a:r>
                      <a:r>
                        <a:rPr lang="en-US" altLang="zh-CN" sz="1600" dirty="0">
                          <a:solidFill>
                            <a:schemeClr val="tx1"/>
                          </a:solidFill>
                          <a:uFillTx/>
                          <a:latin typeface="Times New Roman" panose="02020603050405020304" pitchFamily="18" charset="0"/>
                          <a:ea typeface="ＭＳ 明朝"/>
                        </a:rPr>
                        <a:t>.</a:t>
                      </a:r>
                    </a:p>
                  </a:txBody>
                  <a:tcPr marL="68580" marR="68580" marT="0" marB="0"/>
                </a:tc>
                <a:tc>
                  <a:txBody>
                    <a:bodyPr/>
                    <a:lstStyle/>
                    <a:p>
                      <a:pPr>
                        <a:lnSpc>
                          <a:spcPct val="114000"/>
                        </a:lnSpc>
                        <a:spcBef>
                          <a:spcPct val="0"/>
                        </a:spcBef>
                        <a:spcAft>
                          <a:spcPts val="1000"/>
                        </a:spcAft>
                      </a:pPr>
                      <a:r>
                        <a:rPr lang="en-US" sz="1600" dirty="0">
                          <a:latin typeface="Times New Roman" pitchFamily="18" charset="0"/>
                          <a:cs typeface="Times New Roman" pitchFamily="18" charset="0"/>
                        </a:rPr>
                        <a:t>Bus location shown on map</a:t>
                      </a:r>
                      <a:endParaRPr lang="en-US" altLang="zh-CN" sz="1600" dirty="0">
                        <a:solidFill>
                          <a:schemeClr val="tx1"/>
                        </a:solidFill>
                        <a:uFillTx/>
                        <a:latin typeface="Times New Roman" panose="02020603050405020304" pitchFamily="18" charset="0"/>
                        <a:ea typeface="ＭＳ 明朝"/>
                        <a:cs typeface="Times New Roman" pitchFamily="18" charset="0"/>
                      </a:endParaRPr>
                    </a:p>
                  </a:txBody>
                  <a:tcPr marL="68580" marR="68580" marT="0" marB="0"/>
                </a:tc>
                <a:tc>
                  <a:txBody>
                    <a:bodyPr/>
                    <a:lstStyle/>
                    <a:p>
                      <a:pPr>
                        <a:buNone/>
                      </a:pPr>
                      <a:r>
                        <a:rPr lang="en-US" sz="1600" dirty="0">
                          <a:solidFill>
                            <a:schemeClr val="tx1"/>
                          </a:solidFill>
                          <a:uFillTx/>
                          <a:latin typeface="Times New Roman" panose="02020603050405020304" pitchFamily="18" charset="0"/>
                        </a:rPr>
                        <a:t>Pass</a:t>
                      </a:r>
                    </a:p>
                  </a:txBody>
                  <a:tcPr/>
                </a:tc>
                <a:extLst>
                  <a:ext uri="{0D108BD9-81ED-4DB2-BD59-A6C34878D82A}">
                    <a16:rowId xmlns:a16="http://schemas.microsoft.com/office/drawing/2014/main" val="10005"/>
                  </a:ext>
                </a:extLst>
              </a:tr>
            </a:tbl>
          </a:graphicData>
        </a:graphic>
      </p:graphicFrame>
      <p:sp>
        <p:nvSpPr>
          <p:cNvPr id="7" name="Date Placeholder 6"/>
          <p:cNvSpPr>
            <a:spLocks noGrp="1"/>
          </p:cNvSpPr>
          <p:nvPr>
            <p:ph type="dt" sz="half" idx="6"/>
          </p:nvPr>
        </p:nvSpPr>
        <p:spPr>
          <a:xfrm>
            <a:off x="533401" y="6597394"/>
            <a:ext cx="1148714" cy="309957"/>
          </a:xfrm>
        </p:spPr>
        <p:txBody>
          <a:bodyPr/>
          <a:lstStyle/>
          <a:p>
            <a:pPr marL="12700">
              <a:lnSpc>
                <a:spcPts val="1240"/>
              </a:lnSpc>
            </a:pPr>
            <a:r>
              <a:rPr lang="en-US" spc="-10" dirty="0"/>
              <a:t>13/01/2026</a:t>
            </a:r>
          </a:p>
          <a:p>
            <a:pPr marL="12700">
              <a:lnSpc>
                <a:spcPts val="1240"/>
              </a:lnSpc>
            </a:pPr>
            <a:endParaRPr lang="en-US" spc="-10" dirty="0"/>
          </a:p>
        </p:txBody>
      </p:sp>
      <p:sp>
        <p:nvSpPr>
          <p:cNvPr id="8" name="Footer Placeholder 7"/>
          <p:cNvSpPr>
            <a:spLocks noGrp="1"/>
          </p:cNvSpPr>
          <p:nvPr>
            <p:ph type="ftr" sz="quarter" idx="5"/>
          </p:nvPr>
        </p:nvSpPr>
        <p:spPr>
          <a:xfrm>
            <a:off x="4800600" y="6613990"/>
            <a:ext cx="3124199" cy="178434"/>
          </a:xfrm>
        </p:spPr>
        <p:txBody>
          <a:bodyPr/>
          <a:lstStyle/>
          <a:p>
            <a:pPr marL="12700">
              <a:lnSpc>
                <a:spcPts val="1410"/>
              </a:lnSpc>
            </a:pPr>
            <a:r>
              <a:rPr lang="en-US" b="1" spc="-10" dirty="0">
                <a:latin typeface="Times New Roman" panose="02020603050405020304"/>
                <a:cs typeface="Times New Roman" panose="02020603050405020304"/>
              </a:rPr>
              <a:t>AI-Powered Residual Food Distribution System </a:t>
            </a:r>
          </a:p>
        </p:txBody>
      </p:sp>
      <p:sp>
        <p:nvSpPr>
          <p:cNvPr id="9" name="Slide Number Placeholder 8"/>
          <p:cNvSpPr>
            <a:spLocks noGrp="1"/>
          </p:cNvSpPr>
          <p:nvPr>
            <p:ph type="sldNum" sz="quarter" idx="7"/>
          </p:nvPr>
        </p:nvSpPr>
        <p:spPr>
          <a:xfrm>
            <a:off x="11068811" y="6597394"/>
            <a:ext cx="665989" cy="178434"/>
          </a:xfrm>
        </p:spPr>
        <p:txBody>
          <a:bodyPr/>
          <a:lstStyle/>
          <a:p>
            <a:pPr marL="115570">
              <a:lnSpc>
                <a:spcPts val="1240"/>
              </a:lnSpc>
            </a:pPr>
            <a:fld id="{81D60167-4931-47E6-BA6A-407CBD079E47}" type="slidenum">
              <a:rPr lang="en-IN" spc="-50" smtClean="0"/>
              <a:t>36</a:t>
            </a:fld>
            <a:endParaRPr lang="en-IN" spc="-50" dirty="0"/>
          </a:p>
        </p:txBody>
      </p:sp>
    </p:spTree>
    <p:extLst>
      <p:ext uri="{BB962C8B-B14F-4D97-AF65-F5344CB8AC3E}">
        <p14:creationId xmlns:p14="http://schemas.microsoft.com/office/powerpoint/2010/main" val="938584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custDataLst>
              <p:tags r:id="rId1"/>
            </p:custDataLst>
            <p:extLst>
              <p:ext uri="{D42A27DB-BD31-4B8C-83A1-F6EECF244321}">
                <p14:modId xmlns:p14="http://schemas.microsoft.com/office/powerpoint/2010/main" val="538182786"/>
              </p:ext>
            </p:extLst>
          </p:nvPr>
        </p:nvGraphicFramePr>
        <p:xfrm>
          <a:off x="282575" y="609600"/>
          <a:ext cx="11626850" cy="5638800"/>
        </p:xfrm>
        <a:graphic>
          <a:graphicData uri="http://schemas.openxmlformats.org/drawingml/2006/table">
            <a:tbl>
              <a:tblPr firstRow="1" bandRow="1">
                <a:tableStyleId>{5C22544A-7EE6-4342-B048-85BDC9FD1C3A}</a:tableStyleId>
              </a:tblPr>
              <a:tblGrid>
                <a:gridCol w="1393823">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839087">
                  <a:extLst>
                    <a:ext uri="{9D8B030D-6E8A-4147-A177-3AD203B41FA5}">
                      <a16:colId xmlns:a16="http://schemas.microsoft.com/office/drawing/2014/main" val="20002"/>
                    </a:ext>
                  </a:extLst>
                </a:gridCol>
                <a:gridCol w="3028313">
                  <a:extLst>
                    <a:ext uri="{9D8B030D-6E8A-4147-A177-3AD203B41FA5}">
                      <a16:colId xmlns:a16="http://schemas.microsoft.com/office/drawing/2014/main" val="20003"/>
                    </a:ext>
                  </a:extLst>
                </a:gridCol>
                <a:gridCol w="1622427">
                  <a:extLst>
                    <a:ext uri="{9D8B030D-6E8A-4147-A177-3AD203B41FA5}">
                      <a16:colId xmlns:a16="http://schemas.microsoft.com/office/drawing/2014/main" val="20004"/>
                    </a:ext>
                  </a:extLst>
                </a:gridCol>
              </a:tblGrid>
              <a:tr h="598661">
                <a:tc>
                  <a:txBody>
                    <a:bodyPr/>
                    <a:lstStyle/>
                    <a:p>
                      <a:pPr>
                        <a:lnSpc>
                          <a:spcPct val="114000"/>
                        </a:lnSpc>
                        <a:spcBef>
                          <a:spcPct val="0"/>
                        </a:spcBef>
                        <a:spcAft>
                          <a:spcPts val="1000"/>
                        </a:spcAft>
                      </a:pPr>
                      <a:r>
                        <a:rPr lang="en-US" altLang="zh-CN" sz="1600" dirty="0">
                          <a:solidFill>
                            <a:schemeClr val="bg1"/>
                          </a:solidFill>
                          <a:uFillTx/>
                          <a:latin typeface="Times New Roman" panose="02020603050405020304" pitchFamily="18" charset="0"/>
                          <a:ea typeface="ＭＳ 明朝"/>
                        </a:rPr>
                        <a:t>Test Case ID</a:t>
                      </a:r>
                    </a:p>
                  </a:txBody>
                  <a:tcPr marL="68580" marR="68580" marT="0" marB="0"/>
                </a:tc>
                <a:tc>
                  <a:txBody>
                    <a:bodyPr/>
                    <a:lstStyle/>
                    <a:p>
                      <a:pPr>
                        <a:lnSpc>
                          <a:spcPct val="114000"/>
                        </a:lnSpc>
                        <a:spcBef>
                          <a:spcPct val="0"/>
                        </a:spcBef>
                        <a:spcAft>
                          <a:spcPts val="1000"/>
                        </a:spcAft>
                      </a:pPr>
                      <a:r>
                        <a:rPr lang="en-US" altLang="zh-CN" sz="1600">
                          <a:solidFill>
                            <a:schemeClr val="bg1"/>
                          </a:solidFill>
                          <a:uFillTx/>
                          <a:latin typeface="Times New Roman" panose="02020603050405020304" pitchFamily="18" charset="0"/>
                          <a:ea typeface="ＭＳ 明朝"/>
                        </a:rPr>
                        <a:t>Input</a:t>
                      </a:r>
                    </a:p>
                  </a:txBody>
                  <a:tcPr marL="68580" marR="68580" marT="0" marB="0"/>
                </a:tc>
                <a:tc>
                  <a:txBody>
                    <a:bodyPr/>
                    <a:lstStyle/>
                    <a:p>
                      <a:pPr>
                        <a:lnSpc>
                          <a:spcPct val="114000"/>
                        </a:lnSpc>
                        <a:spcBef>
                          <a:spcPct val="0"/>
                        </a:spcBef>
                        <a:spcAft>
                          <a:spcPts val="1000"/>
                        </a:spcAft>
                      </a:pPr>
                      <a:r>
                        <a:rPr lang="en-US" altLang="zh-CN" sz="1600">
                          <a:solidFill>
                            <a:schemeClr val="bg1"/>
                          </a:solidFill>
                          <a:uFillTx/>
                          <a:latin typeface="Times New Roman" panose="02020603050405020304" pitchFamily="18" charset="0"/>
                          <a:ea typeface="ＭＳ 明朝"/>
                        </a:rPr>
                        <a:t>Description</a:t>
                      </a:r>
                    </a:p>
                  </a:txBody>
                  <a:tcPr marL="68580" marR="68580" marT="0" marB="0"/>
                </a:tc>
                <a:tc>
                  <a:txBody>
                    <a:bodyPr/>
                    <a:lstStyle/>
                    <a:p>
                      <a:pPr>
                        <a:lnSpc>
                          <a:spcPct val="114000"/>
                        </a:lnSpc>
                        <a:spcBef>
                          <a:spcPct val="0"/>
                        </a:spcBef>
                        <a:spcAft>
                          <a:spcPts val="1000"/>
                        </a:spcAft>
                      </a:pPr>
                      <a:r>
                        <a:rPr lang="en-US" altLang="zh-CN" sz="1600">
                          <a:solidFill>
                            <a:schemeClr val="bg1"/>
                          </a:solidFill>
                          <a:uFillTx/>
                          <a:latin typeface="Times New Roman" panose="02020603050405020304" pitchFamily="18" charset="0"/>
                          <a:ea typeface="ＭＳ 明朝"/>
                        </a:rPr>
                        <a:t>Expected Result</a:t>
                      </a:r>
                    </a:p>
                  </a:txBody>
                  <a:tcPr marL="68580" marR="68580" marT="0" marB="0"/>
                </a:tc>
                <a:tc>
                  <a:txBody>
                    <a:bodyPr/>
                    <a:lstStyle/>
                    <a:p>
                      <a:pPr>
                        <a:lnSpc>
                          <a:spcPct val="114000"/>
                        </a:lnSpc>
                        <a:spcBef>
                          <a:spcPct val="0"/>
                        </a:spcBef>
                        <a:spcAft>
                          <a:spcPts val="1000"/>
                        </a:spcAft>
                      </a:pPr>
                      <a:r>
                        <a:rPr lang="en-US" altLang="zh-CN" sz="1600">
                          <a:solidFill>
                            <a:schemeClr val="bg1"/>
                          </a:solidFill>
                          <a:uFillTx/>
                          <a:latin typeface="Times New Roman" panose="02020603050405020304" pitchFamily="18" charset="0"/>
                          <a:ea typeface="ＭＳ 明朝"/>
                        </a:rPr>
                        <a:t>Pass/Fail</a:t>
                      </a:r>
                    </a:p>
                  </a:txBody>
                  <a:tcPr marL="68580" marR="68580" marT="0" marB="0"/>
                </a:tc>
                <a:extLst>
                  <a:ext uri="{0D108BD9-81ED-4DB2-BD59-A6C34878D82A}">
                    <a16:rowId xmlns:a16="http://schemas.microsoft.com/office/drawing/2014/main" val="10000"/>
                  </a:ext>
                </a:extLst>
              </a:tr>
              <a:tr h="920425">
                <a:tc>
                  <a:txBody>
                    <a:bodyPr/>
                    <a:lstStyle/>
                    <a:p>
                      <a:pPr>
                        <a:lnSpc>
                          <a:spcPct val="114000"/>
                        </a:lnSpc>
                        <a:spcBef>
                          <a:spcPct val="0"/>
                        </a:spcBef>
                        <a:spcAft>
                          <a:spcPts val="1000"/>
                        </a:spcAft>
                      </a:pPr>
                      <a:r>
                        <a:rPr lang="en-US" altLang="zh-CN" sz="1600" dirty="0">
                          <a:latin typeface="Times New Roman" panose="02020603050405020304" pitchFamily="18" charset="0"/>
                          <a:ea typeface="ＭＳ 明朝"/>
                        </a:rPr>
                        <a:t>TC_10</a:t>
                      </a: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Driver location update</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Driver sends GPS coordinates</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Location updated in backend</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buNone/>
                      </a:pPr>
                      <a:r>
                        <a:rPr lang="en-US" sz="1600">
                          <a:latin typeface="Times New Roman" panose="02020603050405020304" pitchFamily="18" charset="0"/>
                        </a:rPr>
                        <a:t>Pass</a:t>
                      </a:r>
                    </a:p>
                  </a:txBody>
                  <a:tcPr/>
                </a:tc>
                <a:extLst>
                  <a:ext uri="{0D108BD9-81ED-4DB2-BD59-A6C34878D82A}">
                    <a16:rowId xmlns:a16="http://schemas.microsoft.com/office/drawing/2014/main" val="10001"/>
                  </a:ext>
                </a:extLst>
              </a:tr>
              <a:tr h="881326">
                <a:tc>
                  <a:txBody>
                    <a:bodyPr/>
                    <a:lstStyle/>
                    <a:p>
                      <a:pPr>
                        <a:lnSpc>
                          <a:spcPct val="114000"/>
                        </a:lnSpc>
                        <a:spcBef>
                          <a:spcPct val="0"/>
                        </a:spcBef>
                        <a:spcAft>
                          <a:spcPts val="1000"/>
                        </a:spcAft>
                      </a:pPr>
                      <a:r>
                        <a:rPr lang="en-US" altLang="zh-CN" sz="1600" dirty="0">
                          <a:latin typeface="Times New Roman" panose="02020603050405020304" pitchFamily="18" charset="0"/>
                          <a:ea typeface="ＭＳ 明朝"/>
                        </a:rPr>
                        <a:t>TC_11</a:t>
                      </a:r>
                    </a:p>
                  </a:txBody>
                  <a:tcPr marL="68580" marR="68580" marT="0" marB="0"/>
                </a:tc>
                <a:tc>
                  <a:txBody>
                    <a:bodyPr/>
                    <a:lstStyle/>
                    <a:p>
                      <a:pPr>
                        <a:lnSpc>
                          <a:spcPct val="114000"/>
                        </a:lnSpc>
                        <a:spcBef>
                          <a:spcPct val="0"/>
                        </a:spcBef>
                        <a:spcAft>
                          <a:spcPts val="1000"/>
                        </a:spcAft>
                      </a:pPr>
                      <a:r>
                        <a:rPr lang="en-US" sz="1600" dirty="0">
                          <a:latin typeface="Times New Roman" pitchFamily="18" charset="0"/>
                          <a:cs typeface="Times New Roman" pitchFamily="18" charset="0"/>
                        </a:rPr>
                        <a:t>Admin views live bus statu</a:t>
                      </a:r>
                      <a:r>
                        <a:rPr lang="en-US" sz="1600" dirty="0"/>
                        <a:t>s</a:t>
                      </a:r>
                      <a:endParaRPr lang="en-US" altLang="zh-CN" sz="1600" dirty="0">
                        <a:latin typeface="Times New Roman" panose="02020603050405020304" pitchFamily="18" charset="0"/>
                        <a:ea typeface="ＭＳ 明朝"/>
                      </a:endParaRP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Admin dashboard access</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All active buses displayed</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buNone/>
                      </a:pPr>
                      <a:r>
                        <a:rPr lang="en-US" sz="1600">
                          <a:latin typeface="Times New Roman" panose="02020603050405020304" pitchFamily="18" charset="0"/>
                        </a:rPr>
                        <a:t>Pass</a:t>
                      </a:r>
                    </a:p>
                  </a:txBody>
                  <a:tcPr/>
                </a:tc>
                <a:extLst>
                  <a:ext uri="{0D108BD9-81ED-4DB2-BD59-A6C34878D82A}">
                    <a16:rowId xmlns:a16="http://schemas.microsoft.com/office/drawing/2014/main" val="10002"/>
                  </a:ext>
                </a:extLst>
              </a:tr>
              <a:tr h="803128">
                <a:tc>
                  <a:txBody>
                    <a:bodyPr/>
                    <a:lstStyle/>
                    <a:p>
                      <a:pPr>
                        <a:lnSpc>
                          <a:spcPct val="114000"/>
                        </a:lnSpc>
                        <a:spcBef>
                          <a:spcPct val="0"/>
                        </a:spcBef>
                        <a:spcAft>
                          <a:spcPts val="1000"/>
                        </a:spcAft>
                      </a:pPr>
                      <a:r>
                        <a:rPr lang="en-US" altLang="zh-CN" sz="1600">
                          <a:latin typeface="Times New Roman" panose="02020603050405020304" pitchFamily="18" charset="0"/>
                          <a:ea typeface="ＭＳ 明朝"/>
                        </a:rPr>
                        <a:t>TC_12</a:t>
                      </a:r>
                    </a:p>
                  </a:txBody>
                  <a:tcPr marL="68580" marR="68580" marT="0" marB="0"/>
                </a:tc>
                <a:tc>
                  <a:txBody>
                    <a:bodyPr/>
                    <a:lstStyle/>
                    <a:p>
                      <a:pPr>
                        <a:lnSpc>
                          <a:spcPct val="114000"/>
                        </a:lnSpc>
                        <a:spcBef>
                          <a:spcPct val="0"/>
                        </a:spcBef>
                        <a:spcAft>
                          <a:spcPts val="1000"/>
                        </a:spcAft>
                      </a:pPr>
                      <a:r>
                        <a:rPr lang="en-IN" sz="1600" dirty="0"/>
                        <a:t>Display bus route information</a:t>
                      </a:r>
                      <a:endParaRPr lang="en-US" altLang="zh-CN" sz="1600" dirty="0">
                        <a:latin typeface="Times New Roman" panose="02020603050405020304" pitchFamily="18" charset="0"/>
                        <a:ea typeface="ＭＳ 明朝"/>
                      </a:endParaRP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Selected route: BITM → Ballari</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US" sz="1600" dirty="0">
                          <a:latin typeface="Times New Roman" pitchFamily="18" charset="0"/>
                          <a:cs typeface="Times New Roman" pitchFamily="18" charset="0"/>
                        </a:rPr>
                        <a:t>Route details shown to users</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buNone/>
                      </a:pPr>
                      <a:r>
                        <a:rPr lang="en-US" sz="1600">
                          <a:latin typeface="Times New Roman" panose="02020603050405020304" pitchFamily="18" charset="0"/>
                        </a:rPr>
                        <a:t>Pass</a:t>
                      </a:r>
                    </a:p>
                  </a:txBody>
                  <a:tcPr/>
                </a:tc>
                <a:extLst>
                  <a:ext uri="{0D108BD9-81ED-4DB2-BD59-A6C34878D82A}">
                    <a16:rowId xmlns:a16="http://schemas.microsoft.com/office/drawing/2014/main" val="10003"/>
                  </a:ext>
                </a:extLst>
              </a:tr>
              <a:tr h="803128">
                <a:tc>
                  <a:txBody>
                    <a:bodyPr/>
                    <a:lstStyle/>
                    <a:p>
                      <a:pPr>
                        <a:lnSpc>
                          <a:spcPct val="114000"/>
                        </a:lnSpc>
                        <a:spcBef>
                          <a:spcPct val="0"/>
                        </a:spcBef>
                        <a:spcAft>
                          <a:spcPts val="1000"/>
                        </a:spcAft>
                      </a:pPr>
                      <a:r>
                        <a:rPr lang="en-US" altLang="zh-CN" sz="1600" dirty="0">
                          <a:latin typeface="Times New Roman" panose="02020603050405020304" pitchFamily="18" charset="0"/>
                          <a:ea typeface="ＭＳ 明朝"/>
                        </a:rPr>
                        <a:t>TC_13</a:t>
                      </a:r>
                    </a:p>
                  </a:txBody>
                  <a:tcPr marL="68580" marR="68580" marT="0" marB="0"/>
                </a:tc>
                <a:tc>
                  <a:txBody>
                    <a:bodyPr/>
                    <a:lstStyle/>
                    <a:p>
                      <a:r>
                        <a:rPr lang="en-US" sz="1600" b="0" dirty="0">
                          <a:latin typeface="Times New Roman" pitchFamily="18" charset="0"/>
                          <a:cs typeface="Times New Roman" pitchFamily="18" charset="0"/>
                        </a:rPr>
                        <a:t>ETA prediction for different routes</a:t>
                      </a:r>
                      <a:endParaRPr lang="en-IN" sz="1600" b="0" dirty="0">
                        <a:latin typeface="Times New Roman" pitchFamily="18" charset="0"/>
                        <a:cs typeface="Times New Roman" pitchFamily="18" charset="0"/>
                      </a:endParaRPr>
                    </a:p>
                  </a:txBody>
                  <a:tcPr anchor="ctr"/>
                </a:tc>
                <a:tc>
                  <a:txBody>
                    <a:bodyPr/>
                    <a:lstStyle/>
                    <a:p>
                      <a:r>
                        <a:rPr lang="en-IN" sz="1600" dirty="0">
                          <a:latin typeface="Times New Roman" pitchFamily="18" charset="0"/>
                          <a:cs typeface="Times New Roman" pitchFamily="18" charset="0"/>
                        </a:rPr>
                        <a:t>Route: College → City </a:t>
                      </a:r>
                      <a:r>
                        <a:rPr lang="en-IN" sz="1600" dirty="0" err="1">
                          <a:latin typeface="Times New Roman" pitchFamily="18" charset="0"/>
                          <a:cs typeface="Times New Roman" pitchFamily="18" charset="0"/>
                        </a:rPr>
                        <a:t>Center</a:t>
                      </a:r>
                      <a:endParaRPr lang="en-IN" sz="1600" dirty="0">
                        <a:latin typeface="Times New Roman" pitchFamily="18" charset="0"/>
                        <a:cs typeface="Times New Roman" pitchFamily="18" charset="0"/>
                      </a:endParaRPr>
                    </a:p>
                  </a:txBody>
                  <a:tcPr anchor="ctr"/>
                </a:tc>
                <a:tc>
                  <a:txBody>
                    <a:bodyPr/>
                    <a:lstStyle/>
                    <a:p>
                      <a:pPr>
                        <a:lnSpc>
                          <a:spcPct val="114000"/>
                        </a:lnSpc>
                        <a:spcBef>
                          <a:spcPct val="0"/>
                        </a:spcBef>
                        <a:spcAft>
                          <a:spcPts val="1000"/>
                        </a:spcAft>
                      </a:pPr>
                      <a:r>
                        <a:rPr lang="en-US" sz="1600" dirty="0">
                          <a:latin typeface="Times New Roman" pitchFamily="18" charset="0"/>
                          <a:cs typeface="Times New Roman" pitchFamily="18" charset="0"/>
                        </a:rPr>
                        <a:t>Correct ETA displayed for selected route</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buNone/>
                      </a:pPr>
                      <a:r>
                        <a:rPr lang="en-US" sz="1600">
                          <a:latin typeface="Times New Roman" panose="02020603050405020304" pitchFamily="18" charset="0"/>
                        </a:rPr>
                        <a:t>Pass</a:t>
                      </a:r>
                    </a:p>
                  </a:txBody>
                  <a:tcPr/>
                </a:tc>
                <a:extLst>
                  <a:ext uri="{0D108BD9-81ED-4DB2-BD59-A6C34878D82A}">
                    <a16:rowId xmlns:a16="http://schemas.microsoft.com/office/drawing/2014/main" val="10004"/>
                  </a:ext>
                </a:extLst>
              </a:tr>
              <a:tr h="803128">
                <a:tc>
                  <a:txBody>
                    <a:bodyPr/>
                    <a:lstStyle/>
                    <a:p>
                      <a:pPr>
                        <a:lnSpc>
                          <a:spcPct val="114000"/>
                        </a:lnSpc>
                        <a:spcBef>
                          <a:spcPct val="0"/>
                        </a:spcBef>
                        <a:spcAft>
                          <a:spcPts val="1000"/>
                        </a:spcAft>
                      </a:pPr>
                      <a:r>
                        <a:rPr lang="en-US" altLang="zh-CN" sz="1600">
                          <a:latin typeface="Times New Roman" panose="02020603050405020304" pitchFamily="18" charset="0"/>
                          <a:ea typeface="ＭＳ 明朝"/>
                        </a:rPr>
                        <a:t>TC_14</a:t>
                      </a: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Admin notification monitoring</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Delay or emergency alert</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lnSpc>
                          <a:spcPct val="114000"/>
                        </a:lnSpc>
                        <a:spcBef>
                          <a:spcPct val="0"/>
                        </a:spcBef>
                        <a:spcAft>
                          <a:spcPts val="1000"/>
                        </a:spcAft>
                      </a:pPr>
                      <a:r>
                        <a:rPr lang="en-US" sz="1600" dirty="0">
                          <a:latin typeface="Times New Roman" pitchFamily="18" charset="0"/>
                          <a:cs typeface="Times New Roman" pitchFamily="18" charset="0"/>
                        </a:rPr>
                        <a:t>Alert visible in admin dashboard</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buNone/>
                      </a:pPr>
                      <a:r>
                        <a:rPr lang="en-US" sz="1600" dirty="0">
                          <a:latin typeface="Times New Roman" panose="02020603050405020304" pitchFamily="18" charset="0"/>
                        </a:rPr>
                        <a:t>Pass</a:t>
                      </a:r>
                    </a:p>
                  </a:txBody>
                  <a:tcPr/>
                </a:tc>
                <a:extLst>
                  <a:ext uri="{0D108BD9-81ED-4DB2-BD59-A6C34878D82A}">
                    <a16:rowId xmlns:a16="http://schemas.microsoft.com/office/drawing/2014/main" val="10005"/>
                  </a:ext>
                </a:extLst>
              </a:tr>
              <a:tr h="829004">
                <a:tc>
                  <a:txBody>
                    <a:bodyPr/>
                    <a:lstStyle/>
                    <a:p>
                      <a:pPr>
                        <a:lnSpc>
                          <a:spcPct val="114000"/>
                        </a:lnSpc>
                        <a:spcBef>
                          <a:spcPct val="0"/>
                        </a:spcBef>
                        <a:spcAft>
                          <a:spcPts val="1000"/>
                        </a:spcAft>
                      </a:pPr>
                      <a:r>
                        <a:rPr lang="en-US" altLang="zh-CN" sz="1600" dirty="0">
                          <a:latin typeface="Times New Roman" panose="02020603050405020304" pitchFamily="18" charset="0"/>
                          <a:ea typeface="ＭＳ 明朝"/>
                        </a:rPr>
                        <a:t>TC_15</a:t>
                      </a:r>
                    </a:p>
                  </a:txBody>
                  <a:tcPr marL="68580" marR="68580" marT="0" marB="0"/>
                </a:tc>
                <a:tc>
                  <a:txBody>
                    <a:bodyPr/>
                    <a:lstStyle/>
                    <a:p>
                      <a:r>
                        <a:rPr lang="en-IN" dirty="0">
                          <a:latin typeface="Times New Roman" pitchFamily="18" charset="0"/>
                          <a:cs typeface="Times New Roman" pitchFamily="18" charset="0"/>
                        </a:rPr>
                        <a:t>Driver route assignment</a:t>
                      </a:r>
                    </a:p>
                  </a:txBody>
                  <a:tcPr anchor="ctr"/>
                </a:tc>
                <a:tc>
                  <a:txBody>
                    <a:bodyPr/>
                    <a:lstStyle/>
                    <a:p>
                      <a:r>
                        <a:rPr lang="en-IN" sz="1600" dirty="0">
                          <a:latin typeface="Times New Roman" pitchFamily="18" charset="0"/>
                          <a:cs typeface="Times New Roman" pitchFamily="18" charset="0"/>
                        </a:rPr>
                        <a:t>Assigned route by admin</a:t>
                      </a:r>
                    </a:p>
                  </a:txBody>
                  <a:tcPr anchor="ctr"/>
                </a:tc>
                <a:tc>
                  <a:txBody>
                    <a:bodyPr/>
                    <a:lstStyle/>
                    <a:p>
                      <a:pPr>
                        <a:lnSpc>
                          <a:spcPct val="114000"/>
                        </a:lnSpc>
                        <a:spcBef>
                          <a:spcPct val="0"/>
                        </a:spcBef>
                        <a:spcAft>
                          <a:spcPts val="1000"/>
                        </a:spcAft>
                      </a:pPr>
                      <a:r>
                        <a:rPr lang="en-IN" sz="1600" dirty="0">
                          <a:latin typeface="Times New Roman" pitchFamily="18" charset="0"/>
                          <a:cs typeface="Times New Roman" pitchFamily="18" charset="0"/>
                        </a:rPr>
                        <a:t>Route assigned successfully</a:t>
                      </a:r>
                      <a:endParaRPr lang="en-US" altLang="zh-CN" sz="1600" dirty="0">
                        <a:latin typeface="Times New Roman" panose="02020603050405020304" pitchFamily="18" charset="0"/>
                        <a:ea typeface="ＭＳ 明朝"/>
                        <a:cs typeface="Times New Roman" pitchFamily="18" charset="0"/>
                      </a:endParaRPr>
                    </a:p>
                  </a:txBody>
                  <a:tcPr marL="68580" marR="68580" marT="0" marB="0"/>
                </a:tc>
                <a:tc>
                  <a:txBody>
                    <a:bodyPr/>
                    <a:lstStyle/>
                    <a:p>
                      <a:pPr>
                        <a:buNone/>
                      </a:pPr>
                      <a:r>
                        <a:rPr lang="en-US" sz="1600" dirty="0">
                          <a:latin typeface="Times New Roman" panose="02020603050405020304" pitchFamily="18" charset="0"/>
                        </a:rPr>
                        <a:t>Pass</a:t>
                      </a:r>
                    </a:p>
                  </a:txBody>
                  <a:tcPr/>
                </a:tc>
                <a:extLst>
                  <a:ext uri="{0D108BD9-81ED-4DB2-BD59-A6C34878D82A}">
                    <a16:rowId xmlns:a16="http://schemas.microsoft.com/office/drawing/2014/main" val="10006"/>
                  </a:ext>
                </a:extLst>
              </a:tr>
            </a:tbl>
          </a:graphicData>
        </a:graphic>
      </p:graphicFrame>
      <p:sp>
        <p:nvSpPr>
          <p:cNvPr id="7" name="Date Placeholder 6"/>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8" name="Footer Placeholder 7"/>
          <p:cNvSpPr>
            <a:spLocks noGrp="1"/>
          </p:cNvSpPr>
          <p:nvPr>
            <p:ph type="ftr" sz="quarter" idx="5"/>
          </p:nvPr>
        </p:nvSpPr>
        <p:spPr>
          <a:xfrm>
            <a:off x="4648200" y="6447704"/>
            <a:ext cx="4038599" cy="538609"/>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9" name="Slide Number Placeholder 8"/>
          <p:cNvSpPr>
            <a:spLocks noGrp="1"/>
          </p:cNvSpPr>
          <p:nvPr>
            <p:ph type="sldNum" sz="quarter" idx="7"/>
          </p:nvPr>
        </p:nvSpPr>
        <p:spPr>
          <a:xfrm>
            <a:off x="11068811" y="6464680"/>
            <a:ext cx="437389" cy="195410"/>
          </a:xfrm>
        </p:spPr>
        <p:txBody>
          <a:bodyPr/>
          <a:lstStyle/>
          <a:p>
            <a:pPr marL="115570">
              <a:lnSpc>
                <a:spcPts val="1240"/>
              </a:lnSpc>
            </a:pPr>
            <a:fld id="{81D60167-4931-47E6-BA6A-407CBD079E47}" type="slidenum">
              <a:rPr lang="en-IN" spc="-50" smtClean="0"/>
              <a:t>37</a:t>
            </a:fld>
            <a:endParaRPr lang="en-IN" spc="-50" dirty="0"/>
          </a:p>
        </p:txBody>
      </p:sp>
    </p:spTree>
    <p:extLst>
      <p:ext uri="{BB962C8B-B14F-4D97-AF65-F5344CB8AC3E}">
        <p14:creationId xmlns:p14="http://schemas.microsoft.com/office/powerpoint/2010/main" val="1904446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0" y="381000"/>
            <a:ext cx="4653915" cy="1169035"/>
          </a:xfrm>
        </p:spPr>
        <p:txBody>
          <a:bodyPr wrap="square"/>
          <a:lstStyle/>
          <a:p>
            <a:r>
              <a:rPr lang="en-US" sz="3600" spc="-10" dirty="0">
                <a:latin typeface="Times New Roman" panose="02020603050405020304"/>
                <a:cs typeface="Times New Roman" panose="02020603050405020304"/>
              </a:rPr>
              <a:t>13. Future Scope</a:t>
            </a:r>
            <a:br>
              <a:rPr lang="en-US" sz="4000" b="0" spc="-10" dirty="0">
                <a:latin typeface="Times New Roman" panose="02020603050405020304"/>
                <a:cs typeface="Times New Roman" panose="02020603050405020304"/>
              </a:rPr>
            </a:br>
            <a:endParaRPr lang="en-IN" sz="4000" dirty="0"/>
          </a:p>
        </p:txBody>
      </p:sp>
      <p:sp>
        <p:nvSpPr>
          <p:cNvPr id="3" name="Text Placeholder 2"/>
          <p:cNvSpPr>
            <a:spLocks noGrp="1"/>
          </p:cNvSpPr>
          <p:nvPr>
            <p:ph type="body" idx="1"/>
          </p:nvPr>
        </p:nvSpPr>
        <p:spPr>
          <a:xfrm>
            <a:off x="762000" y="1541354"/>
            <a:ext cx="9862376" cy="2514599"/>
          </a:xfrm>
        </p:spPr>
        <p:txBody>
          <a:bodyPr>
            <a:noAutofit/>
          </a:bodyPr>
          <a:lstStyle/>
          <a:p>
            <a:pPr marL="285750" indent="-285750">
              <a:lnSpc>
                <a:spcPct val="150000"/>
              </a:lnSpc>
              <a:buFont typeface="Arial" panose="020B0604020202020204" pitchFamily="34" charset="0"/>
              <a:buChar char="•"/>
            </a:pPr>
            <a:r>
              <a:rPr lang="en-US" sz="2400" b="0" dirty="0">
                <a:latin typeface="Times New Roman" panose="02020603050405020304" pitchFamily="18" charset="0"/>
                <a:cs typeface="Times New Roman" panose="02020603050405020304" pitchFamily="18" charset="0"/>
              </a:rPr>
              <a:t>Integration with Smart Cities and IoT.</a:t>
            </a:r>
          </a:p>
          <a:p>
            <a:pPr marL="285750" indent="-285750">
              <a:lnSpc>
                <a:spcPct val="150000"/>
              </a:lnSpc>
              <a:buFont typeface="Arial" panose="020B0604020202020204" pitchFamily="34" charset="0"/>
              <a:buChar char="•"/>
            </a:pPr>
            <a:r>
              <a:rPr lang="en-US" sz="2400" b="0" dirty="0">
                <a:latin typeface="Times New Roman" panose="02020603050405020304" pitchFamily="18" charset="0"/>
                <a:cs typeface="Times New Roman" panose="02020603050405020304" pitchFamily="18" charset="0"/>
              </a:rPr>
              <a:t>Voice and Vision Integration.</a:t>
            </a:r>
          </a:p>
          <a:p>
            <a:pPr marL="285750" indent="-285750">
              <a:lnSpc>
                <a:spcPct val="150000"/>
              </a:lnSpc>
              <a:buFont typeface="Arial" panose="020B0604020202020204" pitchFamily="34" charset="0"/>
              <a:buChar char="•"/>
            </a:pPr>
            <a:r>
              <a:rPr lang="en-US" sz="2400" b="0" dirty="0">
                <a:latin typeface="Times New Roman" panose="02020603050405020304" pitchFamily="18" charset="0"/>
                <a:cs typeface="Times New Roman" panose="02020603050405020304" pitchFamily="18" charset="0"/>
              </a:rPr>
              <a:t>Collaboration with Public Policy and Governance.</a:t>
            </a:r>
          </a:p>
          <a:p>
            <a:pPr marL="285750" indent="-285750">
              <a:lnSpc>
                <a:spcPct val="150000"/>
              </a:lnSpc>
              <a:buFont typeface="Arial" panose="020B0604020202020204" pitchFamily="34" charset="0"/>
              <a:buChar char="•"/>
            </a:pPr>
            <a:r>
              <a:rPr lang="en-US" sz="2400" b="0" dirty="0">
                <a:latin typeface="Times New Roman" panose="02020603050405020304" pitchFamily="18" charset="0"/>
                <a:cs typeface="Times New Roman" panose="02020603050405020304" pitchFamily="18" charset="0"/>
              </a:rPr>
              <a:t>Multi-modal Transport Integration.</a:t>
            </a:r>
            <a:endParaRPr lang="en-IN" sz="2400" b="0" dirty="0">
              <a:latin typeface="Times New Roman" panose="02020603050405020304" pitchFamily="18" charset="0"/>
              <a:cs typeface="Times New Roman" panose="02020603050405020304" pitchFamily="18" charset="0"/>
            </a:endParaRPr>
          </a:p>
          <a:p>
            <a:pPr algn="l">
              <a:lnSpc>
                <a:spcPct val="150000"/>
              </a:lnSpc>
            </a:pPr>
            <a:br>
              <a:rPr lang="en-US" sz="2000" b="0" dirty="0">
                <a:latin typeface="Times New Roman" panose="02020603050405020304" pitchFamily="18" charset="0"/>
                <a:cs typeface="Times New Roman" panose="02020603050405020304" pitchFamily="18" charset="0"/>
              </a:rPr>
            </a:br>
            <a:br>
              <a:rPr lang="en-US" sz="2000" b="0" dirty="0">
                <a:latin typeface="Times New Roman" panose="02020603050405020304" pitchFamily="18" charset="0"/>
                <a:cs typeface="Times New Roman" panose="02020603050405020304" pitchFamily="18" charset="0"/>
              </a:rPr>
            </a:br>
            <a:endParaRPr lang="en-US" altLang="en-US" sz="2000" b="0" dirty="0">
              <a:latin typeface="Times New Roman" panose="02020603050405020304" pitchFamily="18" charset="0"/>
              <a:cs typeface="Times New Roman" panose="02020603050405020304" pitchFamily="18" charset="0"/>
            </a:endParaRPr>
          </a:p>
          <a:p>
            <a:pPr algn="l">
              <a:lnSpc>
                <a:spcPct val="150000"/>
              </a:lnSpc>
            </a:pPr>
            <a:endParaRPr lang="en-IN" sz="2800" b="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7" name="Footer Placeholder 6"/>
          <p:cNvSpPr>
            <a:spLocks noGrp="1"/>
          </p:cNvSpPr>
          <p:nvPr>
            <p:ph type="ftr" sz="quarter" idx="5"/>
          </p:nvPr>
        </p:nvSpPr>
        <p:spPr>
          <a:xfrm>
            <a:off x="4876800" y="6447704"/>
            <a:ext cx="396239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8" name="Slide Number Placeholder 7"/>
          <p:cNvSpPr>
            <a:spLocks noGrp="1"/>
          </p:cNvSpPr>
          <p:nvPr>
            <p:ph type="sldNum" sz="quarter" idx="7"/>
          </p:nvPr>
        </p:nvSpPr>
        <p:spPr>
          <a:xfrm>
            <a:off x="11068811" y="6464680"/>
            <a:ext cx="347346" cy="195410"/>
          </a:xfrm>
        </p:spPr>
        <p:txBody>
          <a:bodyPr/>
          <a:lstStyle/>
          <a:p>
            <a:pPr marL="115570">
              <a:lnSpc>
                <a:spcPts val="1240"/>
              </a:lnSpc>
            </a:pPr>
            <a:fld id="{81D60167-4931-47E6-BA6A-407CBD079E47}" type="slidenum">
              <a:rPr lang="en-IN" spc="-50" smtClean="0"/>
              <a:t>38</a:t>
            </a:fld>
            <a:endParaRPr lang="en-IN" spc="-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0" y="381000"/>
            <a:ext cx="3515360" cy="553998"/>
          </a:xfrm>
        </p:spPr>
        <p:txBody>
          <a:bodyPr wrap="square"/>
          <a:lstStyle/>
          <a:p>
            <a:r>
              <a:rPr lang="en-US" sz="3600" dirty="0"/>
              <a:t>14.Timeline</a:t>
            </a:r>
            <a:endParaRPr lang="en-IN" sz="3600" dirty="0"/>
          </a:p>
        </p:txBody>
      </p:sp>
      <p:graphicFrame>
        <p:nvGraphicFramePr>
          <p:cNvPr id="4" name="Table 3"/>
          <p:cNvGraphicFramePr>
            <a:graphicFrameLocks noGrp="1"/>
          </p:cNvGraphicFramePr>
          <p:nvPr>
            <p:custDataLst>
              <p:tags r:id="rId1"/>
            </p:custDataLst>
            <p:extLst>
              <p:ext uri="{D42A27DB-BD31-4B8C-83A1-F6EECF244321}">
                <p14:modId xmlns:p14="http://schemas.microsoft.com/office/powerpoint/2010/main" val="1335593611"/>
              </p:ext>
            </p:extLst>
          </p:nvPr>
        </p:nvGraphicFramePr>
        <p:xfrm>
          <a:off x="504190" y="1186815"/>
          <a:ext cx="10984865" cy="4355465"/>
        </p:xfrm>
        <a:graphic>
          <a:graphicData uri="http://schemas.openxmlformats.org/drawingml/2006/table">
            <a:tbl>
              <a:tblPr firstRow="1" bandRow="1">
                <a:tableStyleId>{5C22544A-7EE6-4342-B048-85BDC9FD1C3A}</a:tableStyleId>
              </a:tblPr>
              <a:tblGrid>
                <a:gridCol w="1627505">
                  <a:extLst>
                    <a:ext uri="{9D8B030D-6E8A-4147-A177-3AD203B41FA5}">
                      <a16:colId xmlns:a16="http://schemas.microsoft.com/office/drawing/2014/main" val="20000"/>
                    </a:ext>
                  </a:extLst>
                </a:gridCol>
                <a:gridCol w="7826375">
                  <a:extLst>
                    <a:ext uri="{9D8B030D-6E8A-4147-A177-3AD203B41FA5}">
                      <a16:colId xmlns:a16="http://schemas.microsoft.com/office/drawing/2014/main" val="20001"/>
                    </a:ext>
                  </a:extLst>
                </a:gridCol>
                <a:gridCol w="1530985">
                  <a:extLst>
                    <a:ext uri="{9D8B030D-6E8A-4147-A177-3AD203B41FA5}">
                      <a16:colId xmlns:a16="http://schemas.microsoft.com/office/drawing/2014/main" val="20002"/>
                    </a:ext>
                  </a:extLst>
                </a:gridCol>
              </a:tblGrid>
              <a:tr h="761365">
                <a:tc>
                  <a:txBody>
                    <a:bodyPr/>
                    <a:lstStyle/>
                    <a:p>
                      <a:r>
                        <a:rPr lang="en-IN" sz="2400" b="1" i="0" u="none" strike="noStrike" baseline="0" dirty="0">
                          <a:solidFill>
                            <a:srgbClr val="000000"/>
                          </a:solidFill>
                          <a:latin typeface="Times New Roman" panose="02020603050405020304" pitchFamily="18" charset="0"/>
                        </a:rPr>
                        <a:t>Phase </a:t>
                      </a:r>
                      <a:endParaRPr lang="en-IN" sz="2400" dirty="0"/>
                    </a:p>
                  </a:txBody>
                  <a:tcPr/>
                </a:tc>
                <a:tc>
                  <a:txBody>
                    <a:bodyPr/>
                    <a:lstStyle/>
                    <a:p>
                      <a:r>
                        <a:rPr lang="en-IN" sz="2400" b="1" i="0" u="none" strike="noStrike" baseline="0" dirty="0">
                          <a:solidFill>
                            <a:srgbClr val="000000"/>
                          </a:solidFill>
                          <a:latin typeface="Times New Roman" panose="02020603050405020304" pitchFamily="18" charset="0"/>
                        </a:rPr>
                        <a:t>Description</a:t>
                      </a:r>
                      <a:endParaRPr lang="en-IN" sz="2400" dirty="0"/>
                    </a:p>
                  </a:txBody>
                  <a:tcPr/>
                </a:tc>
                <a:tc>
                  <a:txBody>
                    <a:bodyPr/>
                    <a:lstStyle/>
                    <a:p>
                      <a:r>
                        <a:rPr lang="en-IN" sz="2400" b="1" i="0" u="none" strike="noStrike" baseline="0" dirty="0">
                          <a:solidFill>
                            <a:srgbClr val="000000"/>
                          </a:solidFill>
                          <a:latin typeface="Times New Roman" panose="02020603050405020304" pitchFamily="18" charset="0"/>
                        </a:rPr>
                        <a:t>Duration </a:t>
                      </a:r>
                      <a:endParaRPr lang="en-IN" sz="2400" dirty="0"/>
                    </a:p>
                  </a:txBody>
                  <a:tcPr/>
                </a:tc>
                <a:extLst>
                  <a:ext uri="{0D108BD9-81ED-4DB2-BD59-A6C34878D82A}">
                    <a16:rowId xmlns:a16="http://schemas.microsoft.com/office/drawing/2014/main" val="10000"/>
                  </a:ext>
                </a:extLst>
              </a:tr>
              <a:tr h="899795">
                <a:tc>
                  <a:txBody>
                    <a:bodyPr/>
                    <a:lstStyle/>
                    <a:p>
                      <a:r>
                        <a:rPr lang="en-US" sz="2400" dirty="0"/>
                        <a:t>1</a:t>
                      </a:r>
                    </a:p>
                  </a:txBody>
                  <a:tcPr/>
                </a:tc>
                <a:tc>
                  <a:txBody>
                    <a:bodyPr/>
                    <a:lstStyle/>
                    <a:p>
                      <a:r>
                        <a:rPr lang="en-US" sz="2400" b="1" i="0" u="none" strike="noStrike" baseline="0" dirty="0">
                          <a:solidFill>
                            <a:srgbClr val="000000"/>
                          </a:solidFill>
                          <a:latin typeface="Times New Roman" panose="02020603050405020304" pitchFamily="18" charset="0"/>
                        </a:rPr>
                        <a:t>Synopsis + Literature Survey + Problem Statement </a:t>
                      </a:r>
                      <a:endParaRPr lang="en-IN" sz="2400" dirty="0"/>
                    </a:p>
                  </a:txBody>
                  <a:tcPr/>
                </a:tc>
                <a:tc>
                  <a:txBody>
                    <a:bodyPr/>
                    <a:lstStyle/>
                    <a:p>
                      <a:r>
                        <a:rPr lang="en-US" sz="2400" b="0" i="0" u="none" strike="noStrike" baseline="0" dirty="0">
                          <a:solidFill>
                            <a:srgbClr val="000000"/>
                          </a:solidFill>
                          <a:latin typeface="Times New Roman" panose="02020603050405020304" pitchFamily="18" charset="0"/>
                        </a:rPr>
                        <a:t> 6-8 weeks</a:t>
                      </a:r>
                      <a:endParaRPr lang="en-IN" sz="2400" dirty="0"/>
                    </a:p>
                  </a:txBody>
                  <a:tcPr/>
                </a:tc>
                <a:extLst>
                  <a:ext uri="{0D108BD9-81ED-4DB2-BD59-A6C34878D82A}">
                    <a16:rowId xmlns:a16="http://schemas.microsoft.com/office/drawing/2014/main" val="10001"/>
                  </a:ext>
                </a:extLst>
              </a:tr>
              <a:tr h="898525">
                <a:tc>
                  <a:txBody>
                    <a:bodyPr/>
                    <a:lstStyle/>
                    <a:p>
                      <a:r>
                        <a:rPr lang="en-US" sz="2400" dirty="0"/>
                        <a:t>2</a:t>
                      </a:r>
                      <a:endParaRPr lang="en-IN" sz="2400" dirty="0"/>
                    </a:p>
                  </a:txBody>
                  <a:tcPr/>
                </a:tc>
                <a:tc>
                  <a:txBody>
                    <a:bodyPr/>
                    <a:lstStyle/>
                    <a:p>
                      <a:r>
                        <a:rPr lang="en-IN" sz="2400" b="1" i="0" u="none" strike="noStrike" baseline="0" dirty="0">
                          <a:solidFill>
                            <a:srgbClr val="000000"/>
                          </a:solidFill>
                          <a:latin typeface="Times New Roman" panose="02020603050405020304" pitchFamily="18" charset="0"/>
                        </a:rPr>
                        <a:t>Design </a:t>
                      </a:r>
                      <a:endParaRPr lang="en-IN" sz="2400" dirty="0"/>
                    </a:p>
                  </a:txBody>
                  <a:tcPr/>
                </a:tc>
                <a:tc>
                  <a:txBody>
                    <a:bodyPr/>
                    <a:lstStyle/>
                    <a:p>
                      <a:r>
                        <a:rPr lang="en-IN" sz="2400" b="0" i="0" u="none" strike="noStrike" baseline="0" dirty="0">
                          <a:solidFill>
                            <a:srgbClr val="000000"/>
                          </a:solidFill>
                          <a:latin typeface="Times New Roman" panose="02020603050405020304" pitchFamily="18" charset="0"/>
                        </a:rPr>
                        <a:t> </a:t>
                      </a:r>
                      <a:r>
                        <a:rPr lang="en-US" altLang="en-IN" sz="2400" b="0" i="0" u="none" strike="noStrike" baseline="0" dirty="0">
                          <a:solidFill>
                            <a:srgbClr val="000000"/>
                          </a:solidFill>
                          <a:latin typeface="Times New Roman" panose="02020603050405020304" pitchFamily="18" charset="0"/>
                        </a:rPr>
                        <a:t>8 weeks</a:t>
                      </a:r>
                    </a:p>
                  </a:txBody>
                  <a:tcPr/>
                </a:tc>
                <a:extLst>
                  <a:ext uri="{0D108BD9-81ED-4DB2-BD59-A6C34878D82A}">
                    <a16:rowId xmlns:a16="http://schemas.microsoft.com/office/drawing/2014/main" val="10002"/>
                  </a:ext>
                </a:extLst>
              </a:tr>
              <a:tr h="896620">
                <a:tc>
                  <a:txBody>
                    <a:bodyPr/>
                    <a:lstStyle/>
                    <a:p>
                      <a:r>
                        <a:rPr lang="en-US" sz="2400" dirty="0"/>
                        <a:t>3</a:t>
                      </a:r>
                      <a:endParaRPr lang="en-IN" sz="2400" dirty="0"/>
                    </a:p>
                  </a:txBody>
                  <a:tcPr/>
                </a:tc>
                <a:tc>
                  <a:txBody>
                    <a:bodyPr/>
                    <a:lstStyle/>
                    <a:p>
                      <a:r>
                        <a:rPr lang="en-US" sz="2400" b="1" i="0" u="none" strike="noStrike" baseline="0" dirty="0">
                          <a:solidFill>
                            <a:srgbClr val="000000"/>
                          </a:solidFill>
                          <a:latin typeface="Times New Roman" panose="02020603050405020304" pitchFamily="18" charset="0"/>
                        </a:rPr>
                        <a:t>Module Development </a:t>
                      </a:r>
                      <a:endParaRPr lang="en-IN" sz="2400" dirty="0"/>
                    </a:p>
                  </a:txBody>
                  <a:tcPr/>
                </a:tc>
                <a:tc>
                  <a:txBody>
                    <a:bodyPr/>
                    <a:lstStyle/>
                    <a:p>
                      <a:r>
                        <a:rPr lang="en-IN" sz="2400" b="0" i="0" u="none" strike="noStrike" baseline="0" dirty="0">
                          <a:solidFill>
                            <a:srgbClr val="000000"/>
                          </a:solidFill>
                          <a:latin typeface="Times New Roman" panose="02020603050405020304" pitchFamily="18" charset="0"/>
                        </a:rPr>
                        <a:t> </a:t>
                      </a:r>
                      <a:r>
                        <a:rPr lang="en-US" altLang="en-IN" sz="2400" b="0" i="0" u="none" strike="noStrike" baseline="0" dirty="0">
                          <a:solidFill>
                            <a:srgbClr val="000000"/>
                          </a:solidFill>
                          <a:latin typeface="Times New Roman" panose="02020603050405020304" pitchFamily="18" charset="0"/>
                        </a:rPr>
                        <a:t>4 weeks</a:t>
                      </a:r>
                    </a:p>
                  </a:txBody>
                  <a:tcPr/>
                </a:tc>
                <a:extLst>
                  <a:ext uri="{0D108BD9-81ED-4DB2-BD59-A6C34878D82A}">
                    <a16:rowId xmlns:a16="http://schemas.microsoft.com/office/drawing/2014/main" val="10003"/>
                  </a:ext>
                </a:extLst>
              </a:tr>
              <a:tr h="899160">
                <a:tc>
                  <a:txBody>
                    <a:bodyPr/>
                    <a:lstStyle/>
                    <a:p>
                      <a:r>
                        <a:rPr lang="en-US" sz="2400" dirty="0"/>
                        <a:t>4</a:t>
                      </a:r>
                      <a:endParaRPr lang="en-IN" sz="2400" dirty="0"/>
                    </a:p>
                  </a:txBody>
                  <a:tcPr/>
                </a:tc>
                <a:tc>
                  <a:txBody>
                    <a:bodyPr/>
                    <a:lstStyle/>
                    <a:p>
                      <a:r>
                        <a:rPr lang="en-US" sz="2400" b="1" i="0" u="none" strike="noStrike" baseline="0" dirty="0">
                          <a:solidFill>
                            <a:srgbClr val="000000"/>
                          </a:solidFill>
                          <a:latin typeface="Times New Roman" panose="02020603050405020304" pitchFamily="18" charset="0"/>
                        </a:rPr>
                        <a:t>Integration + Testing + Final Report </a:t>
                      </a:r>
                      <a:endParaRPr lang="en-IN" sz="2400" dirty="0"/>
                    </a:p>
                  </a:txBody>
                  <a:tcPr/>
                </a:tc>
                <a:tc>
                  <a:txBody>
                    <a:bodyPr/>
                    <a:lstStyle/>
                    <a:p>
                      <a:r>
                        <a:rPr lang="en-IN" sz="2400" b="0" i="0" u="none" strike="noStrike" baseline="0" dirty="0">
                          <a:solidFill>
                            <a:srgbClr val="000000"/>
                          </a:solidFill>
                          <a:latin typeface="Times New Roman" panose="02020603050405020304" pitchFamily="18" charset="0"/>
                        </a:rPr>
                        <a:t> </a:t>
                      </a:r>
                      <a:r>
                        <a:rPr lang="en-US" altLang="en-IN" sz="2400" b="0" i="0" u="none" strike="noStrike" baseline="0" dirty="0">
                          <a:solidFill>
                            <a:srgbClr val="000000"/>
                          </a:solidFill>
                          <a:latin typeface="Times New Roman" panose="02020603050405020304" pitchFamily="18" charset="0"/>
                        </a:rPr>
                        <a:t>4 weeks</a:t>
                      </a:r>
                    </a:p>
                  </a:txBody>
                  <a:tcPr/>
                </a:tc>
                <a:extLst>
                  <a:ext uri="{0D108BD9-81ED-4DB2-BD59-A6C34878D82A}">
                    <a16:rowId xmlns:a16="http://schemas.microsoft.com/office/drawing/2014/main" val="10004"/>
                  </a:ext>
                </a:extLst>
              </a:tr>
            </a:tbl>
          </a:graphicData>
        </a:graphic>
      </p:graphicFrame>
      <p:sp>
        <p:nvSpPr>
          <p:cNvPr id="3" name="Date Placeholder 2"/>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7" name="Footer Placeholder 6"/>
          <p:cNvSpPr>
            <a:spLocks noGrp="1"/>
          </p:cNvSpPr>
          <p:nvPr>
            <p:ph type="ftr" sz="quarter" idx="5"/>
          </p:nvPr>
        </p:nvSpPr>
        <p:spPr>
          <a:xfrm>
            <a:off x="4648200" y="6447704"/>
            <a:ext cx="396239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8" name="Slide Number Placeholder 7"/>
          <p:cNvSpPr>
            <a:spLocks noGrp="1"/>
          </p:cNvSpPr>
          <p:nvPr>
            <p:ph type="sldNum" sz="quarter" idx="7"/>
          </p:nvPr>
        </p:nvSpPr>
        <p:spPr>
          <a:xfrm>
            <a:off x="11008741" y="6464679"/>
            <a:ext cx="304546" cy="178435"/>
          </a:xfrm>
        </p:spPr>
        <p:txBody>
          <a:bodyPr/>
          <a:lstStyle/>
          <a:p>
            <a:pPr marL="115570">
              <a:lnSpc>
                <a:spcPts val="1240"/>
              </a:lnSpc>
            </a:pPr>
            <a:fld id="{81D60167-4931-47E6-BA6A-407CBD079E47}" type="slidenum">
              <a:rPr lang="en-IN" spc="-50" smtClean="0"/>
              <a:t>39</a:t>
            </a:fld>
            <a:endParaRPr lang="en-IN" spc="-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0" y="685800"/>
            <a:ext cx="3919220" cy="553720"/>
          </a:xfrm>
        </p:spPr>
        <p:txBody>
          <a:bodyPr/>
          <a:lstStyle/>
          <a:p>
            <a:pPr algn="ctr"/>
            <a:r>
              <a:rPr lang="en-US" sz="3600" dirty="0"/>
              <a:t>15. Conclusion</a:t>
            </a:r>
            <a:endParaRPr lang="en-IN" sz="3600" dirty="0"/>
          </a:p>
        </p:txBody>
      </p:sp>
      <p:sp>
        <p:nvSpPr>
          <p:cNvPr id="3" name="Text Placeholder 2"/>
          <p:cNvSpPr>
            <a:spLocks noGrp="1"/>
          </p:cNvSpPr>
          <p:nvPr>
            <p:ph type="body" idx="1"/>
          </p:nvPr>
        </p:nvSpPr>
        <p:spPr>
          <a:xfrm>
            <a:off x="458675" y="1447800"/>
            <a:ext cx="10896600" cy="2149627"/>
          </a:xfrm>
        </p:spPr>
        <p:txBody>
          <a:bodyPr/>
          <a:lstStyle/>
          <a:p>
            <a:pPr algn="just">
              <a:lnSpc>
                <a:spcPct val="150000"/>
              </a:lnSpc>
            </a:pPr>
            <a:r>
              <a:rPr lang="en-US" sz="2400" b="0" dirty="0">
                <a:solidFill>
                  <a:srgbClr val="000000"/>
                </a:solidFill>
                <a:latin typeface="Times New Roman" panose="02020603050405020304" pitchFamily="18" charset="0"/>
                <a:ea typeface="Now"/>
                <a:cs typeface="Times New Roman" panose="02020603050405020304" pitchFamily="18" charset="0"/>
                <a:sym typeface="Now"/>
              </a:rPr>
              <a:t>The Intelligent College Bus Tracking System offers a smart solution to improve campus transportation through real-time tracking, deep learning-based ETA predictions, and instant notifications. It enhances student convenience, ensures safety, and streamlines transport management, making college commutes more reliable and efficient.</a:t>
            </a:r>
          </a:p>
        </p:txBody>
      </p:sp>
      <p:sp>
        <p:nvSpPr>
          <p:cNvPr id="4" name="Date Placeholder 3"/>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6" name="Footer Placeholder 5"/>
          <p:cNvSpPr>
            <a:spLocks noGrp="1"/>
          </p:cNvSpPr>
          <p:nvPr>
            <p:ph type="ftr" sz="quarter" idx="5"/>
          </p:nvPr>
        </p:nvSpPr>
        <p:spPr>
          <a:xfrm>
            <a:off x="5097271" y="6447704"/>
            <a:ext cx="381812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r>
              <a:rPr lang="en-US" b="1" spc="-10" dirty="0">
                <a:latin typeface="Times New Roman" panose="02020603050405020304"/>
                <a:cs typeface="Times New Roman" panose="02020603050405020304"/>
              </a:rPr>
              <a:t> </a:t>
            </a:r>
          </a:p>
        </p:txBody>
      </p:sp>
      <p:sp>
        <p:nvSpPr>
          <p:cNvPr id="8" name="Slide Number Placeholder 7"/>
          <p:cNvSpPr>
            <a:spLocks noGrp="1"/>
          </p:cNvSpPr>
          <p:nvPr>
            <p:ph type="sldNum" sz="quarter" idx="7"/>
          </p:nvPr>
        </p:nvSpPr>
        <p:spPr>
          <a:xfrm>
            <a:off x="10856821" y="6447704"/>
            <a:ext cx="456466" cy="195410"/>
          </a:xfrm>
        </p:spPr>
        <p:txBody>
          <a:bodyPr/>
          <a:lstStyle/>
          <a:p>
            <a:pPr marL="115570">
              <a:lnSpc>
                <a:spcPts val="1240"/>
              </a:lnSpc>
            </a:pPr>
            <a:fld id="{81D60167-4931-47E6-BA6A-407CBD079E47}" type="slidenum">
              <a:rPr lang="en-IN" spc="-50" smtClean="0"/>
              <a:t>40</a:t>
            </a:fld>
            <a:endParaRPr lang="en-IN" spc="-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916939" y="6464680"/>
            <a:ext cx="765175" cy="309957"/>
          </a:xfrm>
          <a:prstGeom prst="rect">
            <a:avLst/>
          </a:prstGeom>
        </p:spPr>
        <p:txBody>
          <a:bodyPr vert="horz" wrap="square" lIns="0" tIns="0" rIns="0" bIns="0" rtlCol="0">
            <a:spAutoFit/>
          </a:bodyPr>
          <a:lstStyle/>
          <a:p>
            <a:pPr marL="12700">
              <a:lnSpc>
                <a:spcPts val="1240"/>
              </a:lnSpc>
            </a:pPr>
            <a:r>
              <a:rPr lang="en-US" spc="-10" dirty="0"/>
              <a:t>13/01/2026</a:t>
            </a:r>
          </a:p>
          <a:p>
            <a:pPr marL="12700">
              <a:lnSpc>
                <a:spcPts val="1240"/>
              </a:lnSpc>
            </a:pPr>
            <a:endParaRPr spc="-10" dirty="0"/>
          </a:p>
        </p:txBody>
      </p:sp>
      <p:sp>
        <p:nvSpPr>
          <p:cNvPr id="5" name="object 5"/>
          <p:cNvSpPr txBox="1">
            <a:spLocks noGrp="1"/>
          </p:cNvSpPr>
          <p:nvPr>
            <p:ph type="ftr" sz="quarter" idx="5"/>
          </p:nvPr>
        </p:nvSpPr>
        <p:spPr>
          <a:xfrm>
            <a:off x="3352800" y="6447704"/>
            <a:ext cx="5410199" cy="369332"/>
          </a:xfrm>
          <a:prstGeom prst="rect">
            <a:avLst/>
          </a:prstGeom>
        </p:spPr>
        <p:txBody>
          <a:bodyPr vert="horz" wrap="square" lIns="0" tIns="0" rIns="0" bIns="0" rtlCol="0">
            <a:spAutoFit/>
          </a:bodyPr>
          <a:lstStyle/>
          <a:p>
            <a:pPr algn="ct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algn="ctr"/>
            <a:endParaRPr lang="en-US" sz="1200" i="0" u="none" strike="noStrike" baseline="0" dirty="0">
              <a:solidFill>
                <a:srgbClr val="000000"/>
              </a:solidFill>
              <a:latin typeface="Times New Roman" panose="02020603050405020304" pitchFamily="18" charset="0"/>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41</a:t>
            </a:fld>
            <a:endParaRPr spc="-25" dirty="0"/>
          </a:p>
        </p:txBody>
      </p:sp>
      <p:sp>
        <p:nvSpPr>
          <p:cNvPr id="2" name="object 2"/>
          <p:cNvSpPr txBox="1">
            <a:spLocks noGrp="1"/>
          </p:cNvSpPr>
          <p:nvPr>
            <p:ph type="title"/>
          </p:nvPr>
        </p:nvSpPr>
        <p:spPr>
          <a:xfrm>
            <a:off x="3886200" y="82419"/>
            <a:ext cx="3766820" cy="784860"/>
          </a:xfrm>
          <a:prstGeom prst="rect">
            <a:avLst/>
          </a:prstGeom>
        </p:spPr>
        <p:txBody>
          <a:bodyPr vert="horz" wrap="square" lIns="0" tIns="231267" rIns="0" bIns="0" rtlCol="0">
            <a:spAutoFit/>
          </a:bodyPr>
          <a:lstStyle/>
          <a:p>
            <a:pPr marL="770255">
              <a:lnSpc>
                <a:spcPct val="100000"/>
              </a:lnSpc>
              <a:spcBef>
                <a:spcPts val="100"/>
              </a:spcBef>
            </a:pPr>
            <a:r>
              <a:rPr sz="3600" spc="-10" dirty="0"/>
              <a:t>References</a:t>
            </a:r>
          </a:p>
        </p:txBody>
      </p:sp>
      <p:sp>
        <p:nvSpPr>
          <p:cNvPr id="3" name="object 3"/>
          <p:cNvSpPr txBox="1"/>
          <p:nvPr/>
        </p:nvSpPr>
        <p:spPr>
          <a:xfrm>
            <a:off x="685800" y="942975"/>
            <a:ext cx="11091545" cy="5229225"/>
          </a:xfrm>
          <a:prstGeom prst="rect">
            <a:avLst/>
          </a:prstGeom>
        </p:spPr>
        <p:txBody>
          <a:bodyPr vert="horz" wrap="square" lIns="0" tIns="44450" rIns="0" bIns="0" rtlCol="0">
            <a:noAutofit/>
          </a:bodyPr>
          <a:lstStyle/>
          <a:p>
            <a:pPr algn="l">
              <a:lnSpc>
                <a:spcPct val="150000"/>
              </a:lnSpc>
            </a:pPr>
            <a:endParaRPr lang="en-IN" sz="2000" b="0" i="0" u="none" strike="noStrike" baseline="0" dirty="0">
              <a:solidFill>
                <a:srgbClr val="000000"/>
              </a:solidFill>
              <a:latin typeface="Times New Roman" panose="02020603050405020304" pitchFamily="18" charset="0"/>
            </a:endParaRPr>
          </a:p>
          <a:p>
            <a:pPr algn="l">
              <a:lnSpc>
                <a:spcPct val="150000"/>
              </a:lnSpc>
              <a:buNone/>
            </a:pPr>
            <a:r>
              <a:rPr lang="en-IN" sz="2000" dirty="0">
                <a:latin typeface="Times New Roman" panose="02020603050405020304" pitchFamily="18" charset="0"/>
                <a:cs typeface="Times New Roman" panose="02020603050405020304" pitchFamily="18" charset="0"/>
              </a:rPr>
              <a:t>[1]  A. B. P. Ashwini, P. K. R. Manasa, B. G. Jyothi and M. V. Ramesh, “A Dynamic Model for Bus Arrival Time Estimation using Machine Learning,” </a:t>
            </a:r>
            <a:r>
              <a:rPr lang="en-IN" sz="2000" i="1" dirty="0">
                <a:latin typeface="Times New Roman" panose="02020603050405020304" pitchFamily="18" charset="0"/>
                <a:cs typeface="Times New Roman" panose="02020603050405020304" pitchFamily="18" charset="0"/>
              </a:rPr>
              <a:t>International Journal of Engineering Trends and Technology (IJETT)</a:t>
            </a:r>
            <a:r>
              <a:rPr lang="en-IN" sz="2000" dirty="0">
                <a:latin typeface="Times New Roman" panose="02020603050405020304" pitchFamily="18" charset="0"/>
                <a:cs typeface="Times New Roman" panose="02020603050405020304" pitchFamily="18" charset="0"/>
              </a:rPr>
              <a:t>, vol. 70, no. 9, pp. 173–178, Sep. 2024. </a:t>
            </a:r>
            <a:r>
              <a:rPr lang="en-IN" sz="2000" dirty="0">
                <a:latin typeface="Times New Roman" panose="02020603050405020304" pitchFamily="18" charset="0"/>
                <a:cs typeface="Times New Roman" panose="02020603050405020304" pitchFamily="18" charset="0"/>
                <a:hlinkClick r:id="rId3"/>
              </a:rPr>
              <a:t>https://doi.org/10.14445/22315381/IJETT-V70I9P219</a:t>
            </a:r>
            <a:endParaRPr lang="en-IN" sz="2000" dirty="0">
              <a:latin typeface="Times New Roman" panose="02020603050405020304" pitchFamily="18" charset="0"/>
              <a:cs typeface="Times New Roman" panose="02020603050405020304" pitchFamily="18" charset="0"/>
            </a:endParaRPr>
          </a:p>
          <a:p>
            <a:pPr algn="l">
              <a:lnSpc>
                <a:spcPct val="150000"/>
              </a:lnSpc>
              <a:buNone/>
            </a:pPr>
            <a:r>
              <a:rPr lang="en-IN" sz="2000" dirty="0">
                <a:latin typeface="Times New Roman" panose="02020603050405020304" pitchFamily="18" charset="0"/>
                <a:cs typeface="Times New Roman" panose="02020603050405020304" pitchFamily="18" charset="0"/>
              </a:rPr>
              <a:t>[2]  N. Rashvand, S. S. Hosseini, M. Azarbayjani, and H. Tabkhi, “Real-Time Bus Departure Prediction Using Neural Networks for Smart IoT Public Bus Transit,” </a:t>
            </a:r>
            <a:r>
              <a:rPr lang="en-IN" sz="2000" i="1" dirty="0">
                <a:latin typeface="Times New Roman" panose="02020603050405020304" pitchFamily="18" charset="0"/>
                <a:cs typeface="Times New Roman" panose="02020603050405020304" pitchFamily="18" charset="0"/>
              </a:rPr>
              <a:t>arXiv preprint arXiv:2501.10514</a:t>
            </a:r>
            <a:r>
              <a:rPr lang="en-IN" sz="2000" dirty="0">
                <a:latin typeface="Times New Roman" panose="02020603050405020304" pitchFamily="18" charset="0"/>
                <a:cs typeface="Times New Roman" panose="02020603050405020304" pitchFamily="18" charset="0"/>
              </a:rPr>
              <a:t>, Jan. 2025. </a:t>
            </a:r>
            <a:r>
              <a:rPr lang="en-IN" sz="2000" dirty="0">
                <a:latin typeface="Times New Roman" panose="02020603050405020304" pitchFamily="18" charset="0"/>
                <a:cs typeface="Times New Roman" panose="02020603050405020304" pitchFamily="18" charset="0"/>
                <a:hlinkClick r:id="rId4"/>
              </a:rPr>
              <a:t>https://arxiv.org/abs/2501.10514</a:t>
            </a:r>
            <a:endParaRPr lang="en-IN" sz="2000" dirty="0">
              <a:latin typeface="Times New Roman" panose="02020603050405020304" pitchFamily="18" charset="0"/>
              <a:cs typeface="Times New Roman" panose="02020603050405020304" pitchFamily="18" charset="0"/>
            </a:endParaRPr>
          </a:p>
          <a:p>
            <a:pPr algn="l">
              <a:lnSpc>
                <a:spcPct val="150000"/>
              </a:lnSpc>
              <a:buNone/>
            </a:pPr>
            <a:r>
              <a:rPr lang="en-IN" sz="2000" dirty="0">
                <a:latin typeface="Times New Roman" panose="02020603050405020304" pitchFamily="18" charset="0"/>
                <a:cs typeface="Times New Roman" panose="02020603050405020304" pitchFamily="18" charset="0"/>
              </a:rPr>
              <a:t>[3]  H. Patil, S. Mali, P. Khivansara, A. Mokashi, D. Yadav, F. Sayyad, and V. Chougule, “Bus Tracking System,” </a:t>
            </a:r>
            <a:r>
              <a:rPr lang="en-IN" sz="2000" i="1" dirty="0">
                <a:latin typeface="Times New Roman" panose="02020603050405020304" pitchFamily="18" charset="0"/>
                <a:cs typeface="Times New Roman" panose="02020603050405020304" pitchFamily="18" charset="0"/>
              </a:rPr>
              <a:t>UG Research Paper, Department of CSE, Bharati Vidyapeeth’s College of Engineering, Shivaji University</a:t>
            </a:r>
            <a:r>
              <a:rPr lang="en-IN" sz="2000" dirty="0">
                <a:latin typeface="Times New Roman" panose="02020603050405020304" pitchFamily="18" charset="0"/>
                <a:cs typeface="Times New Roman" panose="02020603050405020304" pitchFamily="18" charset="0"/>
              </a:rPr>
              <a:t>, Kolhapur, India, 2025.</a:t>
            </a:r>
          </a:p>
          <a:p>
            <a:pPr algn="l"/>
            <a:endParaRPr lang="en-IN" sz="2000" dirty="0"/>
          </a:p>
          <a:p>
            <a:pPr algn="l">
              <a:lnSpc>
                <a:spcPct val="150000"/>
              </a:lnSpc>
            </a:pPr>
            <a:endParaRPr lang="en-IN" sz="2000" b="0" i="0" u="none" strike="noStrike" baseline="0" dirty="0">
              <a:solidFill>
                <a:srgbClr val="0461C1"/>
              </a:solidFill>
              <a:latin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95300" y="762000"/>
            <a:ext cx="11201400" cy="4570482"/>
          </a:xfrm>
        </p:spPr>
        <p:txBody>
          <a:bodyPr/>
          <a:lstStyle/>
          <a:p>
            <a:pPr algn="l">
              <a:lnSpc>
                <a:spcPct val="150000"/>
              </a:lnSpc>
            </a:pPr>
            <a:r>
              <a:rPr lang="en-US" sz="2400" b="0" dirty="0">
                <a:latin typeface="Times New Roman" panose="02020603050405020304" pitchFamily="18" charset="0"/>
                <a:cs typeface="Times New Roman" panose="02020603050405020304" pitchFamily="18" charset="0"/>
              </a:rPr>
              <a:t>[4] M. Pawar, K. Bisht, and A. Ojha, “GPS Enabled College Bus Tracking System,” </a:t>
            </a:r>
            <a:r>
              <a:rPr lang="en-US" sz="2400" b="0" i="1" dirty="0">
                <a:latin typeface="Times New Roman" panose="02020603050405020304" pitchFamily="18" charset="0"/>
                <a:cs typeface="Times New Roman" panose="02020603050405020304" pitchFamily="18" charset="0"/>
              </a:rPr>
              <a:t>AIJRA - Asian Indexed Journal for Research in Applied Science</a:t>
            </a:r>
            <a:r>
              <a:rPr lang="en-US" sz="2400" b="0" dirty="0">
                <a:latin typeface="Times New Roman" panose="02020603050405020304" pitchFamily="18" charset="0"/>
                <a:cs typeface="Times New Roman" panose="02020603050405020304" pitchFamily="18" charset="0"/>
              </a:rPr>
              <a:t>, vol. VIII, issue IV, pp. 16.1–16.6, 2025. </a:t>
            </a:r>
            <a:r>
              <a:rPr lang="en-US" sz="2400" b="0" dirty="0">
                <a:latin typeface="Times New Roman" panose="02020603050405020304" pitchFamily="18" charset="0"/>
                <a:cs typeface="Times New Roman" panose="02020603050405020304" pitchFamily="18" charset="0"/>
                <a:hlinkClick r:id="rId2"/>
              </a:rPr>
              <a:t>http://www.ijcms2015.co/vol-viii-issue-iv.html</a:t>
            </a:r>
            <a:endParaRPr lang="en-US" sz="2400" b="0" dirty="0">
              <a:latin typeface="Times New Roman" panose="02020603050405020304" pitchFamily="18" charset="0"/>
              <a:cs typeface="Times New Roman" panose="02020603050405020304" pitchFamily="18" charset="0"/>
            </a:endParaRPr>
          </a:p>
          <a:p>
            <a:pPr algn="l">
              <a:lnSpc>
                <a:spcPct val="150000"/>
              </a:lnSpc>
            </a:pPr>
            <a:r>
              <a:rPr lang="en-US" sz="2400" b="0" dirty="0">
                <a:latin typeface="Times New Roman" panose="02020603050405020304" pitchFamily="18" charset="0"/>
                <a:cs typeface="Times New Roman" panose="02020603050405020304" pitchFamily="18" charset="0"/>
              </a:rPr>
              <a:t>[5] lan Sommerville, Software Engineering, Pearson Education ISBN 13:    978-0-13 703515- 9th Edition 2011 </a:t>
            </a:r>
            <a:r>
              <a:rPr lang="en-US" sz="2400" b="0" dirty="0">
                <a:latin typeface="Times New Roman" panose="02020603050405020304" pitchFamily="18" charset="0"/>
                <a:cs typeface="Times New Roman" panose="02020603050405020304" pitchFamily="18" charset="0"/>
                <a:hlinkClick r:id="rId3" action="ppaction://hlinkpres?slideindex=1&amp;slidetitle="/>
              </a:rPr>
              <a:t>https://engineering.futureuniversity.com/BOOKS%20FOR%20IT/Software-Engineering-9th-Edition-by-lan-Sommerville.pdf.</a:t>
            </a:r>
            <a:endParaRPr lang="en-US" sz="2400" b="0" dirty="0">
              <a:latin typeface="Times New Roman" panose="02020603050405020304" pitchFamily="18" charset="0"/>
              <a:cs typeface="Times New Roman" panose="02020603050405020304" pitchFamily="18" charset="0"/>
            </a:endParaRPr>
          </a:p>
          <a:p>
            <a:pPr algn="l"/>
            <a:endParaRPr lang="en-IN" sz="2000" b="0" dirty="0"/>
          </a:p>
          <a:p>
            <a:endParaRPr lang="en-IN" dirty="0"/>
          </a:p>
        </p:txBody>
      </p:sp>
      <p:sp>
        <p:nvSpPr>
          <p:cNvPr id="4" name="Footer Placeholder 3"/>
          <p:cNvSpPr>
            <a:spLocks noGrp="1"/>
          </p:cNvSpPr>
          <p:nvPr>
            <p:ph type="ftr" sz="quarter" idx="5"/>
          </p:nvPr>
        </p:nvSpPr>
        <p:spPr>
          <a:xfrm>
            <a:off x="4572000" y="6447704"/>
            <a:ext cx="4190999" cy="548868"/>
          </a:xfrm>
        </p:spPr>
        <p:txBody>
          <a:bodyPr/>
          <a:lstStyle/>
          <a:p>
            <a:pPr marL="12700" algn="ctr">
              <a:lnSpc>
                <a:spcPts val="1410"/>
              </a:lnSpc>
            </a:pPr>
            <a:r>
              <a:rPr lang="en-US" b="1" dirty="0">
                <a:latin typeface="Times New Roman" panose="02020603050405020304" pitchFamily="18" charset="0"/>
                <a:cs typeface="Times New Roman" panose="02020603050405020304" pitchFamily="18" charset="0"/>
              </a:rPr>
              <a:t>Intelligent Transportation System Using Deep Learning</a:t>
            </a:r>
            <a:endParaRPr lang="en-US" dirty="0">
              <a:solidFill>
                <a:srgbClr val="000000"/>
              </a:solidFill>
              <a:latin typeface="Times New Roman" panose="02020603050405020304" pitchFamily="18" charset="0"/>
            </a:endParaRPr>
          </a:p>
          <a:p>
            <a:pPr marL="12700">
              <a:lnSpc>
                <a:spcPts val="1410"/>
              </a:lnSpc>
            </a:pPr>
            <a:endParaRPr lang="en-US" b="1" spc="-10" dirty="0">
              <a:latin typeface="Times New Roman" panose="02020603050405020304"/>
              <a:cs typeface="Times New Roman" panose="02020603050405020304"/>
            </a:endParaRPr>
          </a:p>
        </p:txBody>
      </p:sp>
      <p:sp>
        <p:nvSpPr>
          <p:cNvPr id="5" name="Date Placeholder 4"/>
          <p:cNvSpPr>
            <a:spLocks noGrp="1"/>
          </p:cNvSpPr>
          <p:nvPr>
            <p:ph type="dt" sz="half" idx="6"/>
          </p:nvPr>
        </p:nvSpPr>
        <p:spPr>
          <a:xfrm>
            <a:off x="916939" y="6464680"/>
            <a:ext cx="765175" cy="309957"/>
          </a:xfrm>
        </p:spPr>
        <p:txBody>
          <a:bodyPr/>
          <a:lstStyle/>
          <a:p>
            <a:pPr marL="12700">
              <a:lnSpc>
                <a:spcPts val="1240"/>
              </a:lnSpc>
            </a:pPr>
            <a:r>
              <a:rPr lang="en-US" spc="-10" dirty="0"/>
              <a:t>13/01/2026</a:t>
            </a:r>
          </a:p>
          <a:p>
            <a:pPr marL="12700">
              <a:lnSpc>
                <a:spcPts val="1240"/>
              </a:lnSpc>
            </a:pPr>
            <a:endParaRPr lang="en-US" spc="-10" dirty="0"/>
          </a:p>
        </p:txBody>
      </p:sp>
      <p:sp>
        <p:nvSpPr>
          <p:cNvPr id="6" name="Slide Number Placeholder 5"/>
          <p:cNvSpPr>
            <a:spLocks noGrp="1"/>
          </p:cNvSpPr>
          <p:nvPr>
            <p:ph type="sldNum" sz="quarter" idx="7"/>
          </p:nvPr>
        </p:nvSpPr>
        <p:spPr>
          <a:xfrm>
            <a:off x="11068811" y="6464680"/>
            <a:ext cx="361189" cy="195410"/>
          </a:xfrm>
        </p:spPr>
        <p:txBody>
          <a:bodyPr/>
          <a:lstStyle/>
          <a:p>
            <a:pPr marL="115570">
              <a:lnSpc>
                <a:spcPts val="1240"/>
              </a:lnSpc>
            </a:pPr>
            <a:fld id="{81D60167-4931-47E6-BA6A-407CBD079E47}" type="slidenum">
              <a:rPr lang="en-IN" spc="-50" smtClean="0"/>
              <a:t>42</a:t>
            </a:fld>
            <a:endParaRPr lang="en-IN" spc="-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43</a:t>
            </a:fld>
            <a:endParaRPr spc="-25" dirty="0"/>
          </a:p>
        </p:txBody>
      </p:sp>
      <p:sp>
        <p:nvSpPr>
          <p:cNvPr id="2" name="object 2"/>
          <p:cNvSpPr txBox="1">
            <a:spLocks noGrp="1"/>
          </p:cNvSpPr>
          <p:nvPr>
            <p:ph type="ctrTitle"/>
          </p:nvPr>
        </p:nvSpPr>
        <p:spPr>
          <a:xfrm>
            <a:off x="495935" y="1691640"/>
            <a:ext cx="10066020" cy="1536065"/>
          </a:xfrm>
          <a:prstGeom prst="rect">
            <a:avLst/>
          </a:prstGeom>
        </p:spPr>
        <p:txBody>
          <a:bodyPr vert="horz" wrap="square" lIns="0" tIns="12700" rIns="0" bIns="0" rtlCol="0">
            <a:spAutoFit/>
          </a:bodyPr>
          <a:lstStyle/>
          <a:p>
            <a:pPr marL="12700">
              <a:lnSpc>
                <a:spcPct val="100000"/>
              </a:lnSpc>
              <a:spcBef>
                <a:spcPts val="100"/>
              </a:spcBef>
              <a:tabLst>
                <a:tab pos="4326255" algn="l"/>
              </a:tabLst>
            </a:pPr>
            <a:r>
              <a:rPr lang="en-US" sz="9900" b="0" spc="-10" dirty="0">
                <a:solidFill>
                  <a:srgbClr val="000000"/>
                </a:solidFill>
                <a:latin typeface="Colonna MT" panose="04020805060202030203" pitchFamily="82" charset="0"/>
                <a:cs typeface="Comic Sans MS" panose="030F0702030302020204"/>
              </a:rPr>
              <a:t>   </a:t>
            </a:r>
            <a:r>
              <a:rPr sz="9900" b="0" spc="-10" dirty="0">
                <a:solidFill>
                  <a:srgbClr val="000000"/>
                </a:solidFill>
                <a:latin typeface="Colonna MT" panose="04020805060202030203" pitchFamily="82" charset="0"/>
                <a:cs typeface="Comic Sans MS" panose="030F0702030302020204"/>
              </a:rPr>
              <a:t>Thank</a:t>
            </a:r>
            <a:r>
              <a:rPr sz="9900" b="0" dirty="0">
                <a:solidFill>
                  <a:srgbClr val="000000"/>
                </a:solidFill>
                <a:latin typeface="Colonna MT" panose="04020805060202030203" pitchFamily="82" charset="0"/>
                <a:cs typeface="Comic Sans MS" panose="030F0702030302020204"/>
              </a:rPr>
              <a:t>	</a:t>
            </a:r>
            <a:r>
              <a:rPr lang="en-US" sz="9900" b="0" dirty="0">
                <a:solidFill>
                  <a:srgbClr val="000000"/>
                </a:solidFill>
                <a:latin typeface="Colonna MT" panose="04020805060202030203" pitchFamily="82" charset="0"/>
                <a:cs typeface="Comic Sans MS" panose="030F0702030302020204"/>
              </a:rPr>
              <a:t>  </a:t>
            </a:r>
            <a:r>
              <a:rPr sz="9900" b="0" spc="-20" dirty="0">
                <a:solidFill>
                  <a:srgbClr val="000000"/>
                </a:solidFill>
                <a:latin typeface="Colonna MT" panose="04020805060202030203" pitchFamily="82" charset="0"/>
                <a:cs typeface="Comic Sans MS" panose="030F0702030302020204"/>
              </a:rPr>
              <a:t>you…</a:t>
            </a:r>
            <a:endParaRPr sz="9900" dirty="0">
              <a:latin typeface="Colonna MT" panose="04020805060202030203" pitchFamily="82" charset="0"/>
              <a:cs typeface="Comic Sans MS" panose="030F070203030202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56*412"/>
  <p:tag name="TABLE_ENDDRAG_RECT" val="62*79*856*41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69*375"/>
  <p:tag name="TABLE_ENDDRAG_RECT" val="51*109*869*37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900*419"/>
  <p:tag name="TABLE_ENDDRAG_RECT" val="28*98*900*419"/>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911*438"/>
  <p:tag name="TABLE_ENDDRAG_RECT" val="26*72*911*438"/>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64*371"/>
  <p:tag name="TABLE_ENDDRAG_RECT" val="39*93*864*37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wrap="square" lIns="0" tIns="12700" rIns="0" bIns="0" rtlCol="0">
        <a:spAutoFit/>
      </a:bodyPr>
      <a:lstStyle>
        <a:defPPr marL="12700" algn="l">
          <a:lnSpc>
            <a:spcPts val="1240"/>
          </a:lnSpc>
          <a:defRPr sz="1000" spc="-1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690</TotalTime>
  <Words>2297</Words>
  <Application>Microsoft Office PowerPoint</Application>
  <PresentationFormat>Widescreen</PresentationFormat>
  <Paragraphs>463</Paragraphs>
  <Slides>43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Arial MT</vt:lpstr>
      <vt:lpstr>Calibri</vt:lpstr>
      <vt:lpstr>Cambria</vt:lpstr>
      <vt:lpstr>Colonna MT</vt:lpstr>
      <vt:lpstr>Times New Roman</vt:lpstr>
      <vt:lpstr>Office Theme</vt:lpstr>
      <vt:lpstr>PowerPoint Presentation</vt:lpstr>
      <vt:lpstr>PowerPoint Presentation</vt:lpstr>
      <vt:lpstr>Abstract</vt:lpstr>
      <vt:lpstr>    Contents</vt:lpstr>
      <vt:lpstr>PowerPoint Presentation</vt:lpstr>
      <vt:lpstr>1.Introduction</vt:lpstr>
      <vt:lpstr>2.Problem Statement</vt:lpstr>
      <vt:lpstr>3.Objectives</vt:lpstr>
      <vt:lpstr>  4.Scope of the Project </vt:lpstr>
      <vt:lpstr>PowerPoint Presentation</vt:lpstr>
      <vt:lpstr>PowerPoint Presentation</vt:lpstr>
      <vt:lpstr>Survey..</vt:lpstr>
      <vt:lpstr>6.Domain</vt:lpstr>
      <vt:lpstr>7.Proposed System</vt:lpstr>
      <vt:lpstr> 7.2 Modules and their functionality </vt:lpstr>
      <vt:lpstr>PowerPoint Presentation</vt:lpstr>
      <vt:lpstr>PowerPoint Presentation</vt:lpstr>
      <vt:lpstr>  8. Methodology </vt:lpstr>
      <vt:lpstr>PowerPoint Presentation</vt:lpstr>
      <vt:lpstr>PowerPoint Presentation</vt:lpstr>
      <vt:lpstr>9.Requirements</vt:lpstr>
      <vt:lpstr> 9.2  Non-Functional Requirement</vt:lpstr>
      <vt:lpstr> </vt:lpstr>
      <vt:lpstr>PowerPoint Presentation</vt:lpstr>
      <vt:lpstr>PowerPoint Presentation</vt:lpstr>
      <vt:lpstr>PowerPoint Presentation</vt:lpstr>
      <vt:lpstr>10.3  Sequence diagram</vt:lpstr>
      <vt:lpstr>PowerPoint Presentation</vt:lpstr>
      <vt:lpstr>10.5  Dataflow Diagram</vt:lpstr>
      <vt:lpstr>10.6 ER Diagram</vt:lpstr>
      <vt:lpstr>           </vt:lpstr>
      <vt:lpstr>PowerPoint Presentation</vt:lpstr>
      <vt:lpstr>PowerPoint Presentation</vt:lpstr>
      <vt:lpstr>PowerPoint Presentation</vt:lpstr>
      <vt:lpstr>PowerPoint Presentation</vt:lpstr>
      <vt:lpstr>PowerPoint Presentation</vt:lpstr>
      <vt:lpstr>PowerPoint Presentation</vt:lpstr>
      <vt:lpstr>13. Future Scope </vt:lpstr>
      <vt:lpstr>14.Timeline</vt:lpstr>
      <vt:lpstr>15. Conclusion</vt:lpstr>
      <vt:lpstr>References</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kavya,kalyani,sahana ,keerthana</dc:creator>
  <cp:lastModifiedBy>Suchitra M</cp:lastModifiedBy>
  <cp:revision>97</cp:revision>
  <dcterms:created xsi:type="dcterms:W3CDTF">2024-12-29T12:33:00Z</dcterms:created>
  <dcterms:modified xsi:type="dcterms:W3CDTF">2026-01-12T06:07:18Z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2024-12-31T07:00:00Z</vt:filetime>
  </property>
  <property fmtid="{D5CDD505-2E9C-101B-9397-08002B2CF9AE}" pid="3" name="Creator">
    <vt:lpwstr>Microsoft® PowerPoint® 2021</vt:lpwstr>
  </property>
  <property fmtid="{D5CDD505-2E9C-101B-9397-08002B2CF9AE}" pid="4" name="LastSaved">
    <vt:filetime>2024-12-31T07:00:00Z</vt:filetime>
  </property>
  <property fmtid="{D5CDD505-2E9C-101B-9397-08002B2CF9AE}" pid="5" name="Producer">
    <vt:lpwstr>Microsoft® PowerPoint® 2021</vt:lpwstr>
  </property>
  <property fmtid="{D5CDD505-2E9C-101B-9397-08002B2CF9AE}" pid="6" name="ICV">
    <vt:lpwstr>1797AAD5ADA04474885CE57B017E4500_13</vt:lpwstr>
  </property>
  <property fmtid="{D5CDD505-2E9C-101B-9397-08002B2CF9AE}" pid="7" name="KSOProductBuildVer">
    <vt:lpwstr>1033-12.2.0.23155</vt:lpwstr>
  </property>
</Properties>
</file>